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fif" ContentType="image/jpe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1551" r:id="rId2"/>
    <p:sldId id="1600" r:id="rId3"/>
    <p:sldId id="1556" r:id="rId4"/>
    <p:sldId id="1554" r:id="rId5"/>
    <p:sldId id="1615" r:id="rId6"/>
    <p:sldId id="1616" r:id="rId7"/>
    <p:sldId id="1563" r:id="rId8"/>
    <p:sldId id="1565" r:id="rId9"/>
    <p:sldId id="1605" r:id="rId10"/>
    <p:sldId id="1420" r:id="rId11"/>
    <p:sldId id="1608" r:id="rId12"/>
    <p:sldId id="1444" r:id="rId13"/>
    <p:sldId id="1606" r:id="rId14"/>
    <p:sldId id="1623" r:id="rId15"/>
    <p:sldId id="1447" r:id="rId16"/>
    <p:sldId id="1448" r:id="rId17"/>
    <p:sldId id="1522" r:id="rId18"/>
    <p:sldId id="1607" r:id="rId19"/>
    <p:sldId id="1627" r:id="rId20"/>
    <p:sldId id="1631" r:id="rId21"/>
    <p:sldId id="1620" r:id="rId22"/>
    <p:sldId id="1630" r:id="rId23"/>
    <p:sldId id="1618" r:id="rId24"/>
    <p:sldId id="1629" r:id="rId25"/>
    <p:sldId id="1628" r:id="rId26"/>
    <p:sldId id="1538" r:id="rId27"/>
    <p:sldId id="1546" r:id="rId28"/>
    <p:sldId id="1524" r:id="rId29"/>
    <p:sldId id="1547" r:id="rId30"/>
    <p:sldId id="1548" r:id="rId31"/>
    <p:sldId id="1515" r:id="rId32"/>
    <p:sldId id="1516" r:id="rId33"/>
    <p:sldId id="1514" r:id="rId34"/>
    <p:sldId id="1588" r:id="rId35"/>
    <p:sldId id="1450" r:id="rId36"/>
    <p:sldId id="1408" r:id="rId37"/>
    <p:sldId id="1529" r:id="rId38"/>
    <p:sldId id="1503" r:id="rId39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bias.schaetz@physik.uni-freiburg.de" initials="t" lastIdx="1" clrIdx="0">
    <p:extLst>
      <p:ext uri="{19B8F6BF-5375-455C-9EA6-DF929625EA0E}">
        <p15:presenceInfo xmlns:p15="http://schemas.microsoft.com/office/powerpoint/2012/main" userId="c55b331e7eda29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693"/>
    <a:srgbClr val="3333CC"/>
    <a:srgbClr val="00FF00"/>
    <a:srgbClr val="33CC33"/>
    <a:srgbClr val="FFFF99"/>
    <a:srgbClr val="6666FF"/>
    <a:srgbClr val="33CCFF"/>
    <a:srgbClr val="8DB3FF"/>
    <a:srgbClr val="7DA8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2195" autoAdjust="0"/>
    <p:restoredTop sz="99881" autoAdjust="0"/>
  </p:normalViewPr>
  <p:slideViewPr>
    <p:cSldViewPr snapToGrid="0">
      <p:cViewPr varScale="1">
        <p:scale>
          <a:sx n="114" d="100"/>
          <a:sy n="114" d="100"/>
        </p:scale>
        <p:origin x="939" y="63"/>
      </p:cViewPr>
      <p:guideLst>
        <p:guide orient="horz" pos="33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25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296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2970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2970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8EA81B7-7BEE-4A16-AF89-44E28117550A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 noProof="0" smtClean="0"/>
              <a:t>Textmasterformate durch Klicken bearbeiten</a:t>
            </a:r>
          </a:p>
          <a:p>
            <a:pPr lvl="1"/>
            <a:r>
              <a:rPr lang="en-US" altLang="de-DE" noProof="0" smtClean="0"/>
              <a:t>Zweite Ebene</a:t>
            </a:r>
          </a:p>
          <a:p>
            <a:pPr lvl="2"/>
            <a:r>
              <a:rPr lang="en-US" altLang="de-DE" noProof="0" smtClean="0"/>
              <a:t>Dritte Ebene</a:t>
            </a:r>
          </a:p>
          <a:p>
            <a:pPr lvl="3"/>
            <a:r>
              <a:rPr lang="en-US" altLang="de-DE" noProof="0" smtClean="0"/>
              <a:t>Vierte Ebene</a:t>
            </a:r>
          </a:p>
          <a:p>
            <a:pPr lvl="4"/>
            <a:r>
              <a:rPr lang="en-US" altLang="de-DE" noProof="0" smtClean="0"/>
              <a:t>Fünfte Ebene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FC7EE09-7879-4DC5-9E7F-C374C38A4471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C0532F-7FA9-49A9-BAE1-91F8008FCF31}" type="slidenum">
              <a:rPr kumimoji="0" lang="en-US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de-DE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de-DE" smtClean="0"/>
              <a:t>In this talk I will present our proposal for the simulation of quantum spin models. I have been working in this proposal with Ignacio Cirac at the Theory Division of the MPQ in Garching.</a:t>
            </a:r>
          </a:p>
        </p:txBody>
      </p:sp>
    </p:spTree>
    <p:extLst>
      <p:ext uri="{BB962C8B-B14F-4D97-AF65-F5344CB8AC3E}">
        <p14:creationId xmlns:p14="http://schemas.microsoft.com/office/powerpoint/2010/main" val="92233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124A2B-9762-4588-9955-5ACC58141A08}" type="slidenum">
              <a:rPr lang="en-US" altLang="de-DE" sz="1200">
                <a:latin typeface="Times New Roman" panose="02020603050405020304" pitchFamily="18" charset="0"/>
              </a:rPr>
              <a:pPr/>
              <a:t>5</a:t>
            </a:fld>
            <a:endParaRPr lang="en-US" altLang="de-DE" sz="1200">
              <a:latin typeface="Times New Roman" panose="02020603050405020304" pitchFamily="18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3440778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BEFBBA-6251-47F1-8E74-7B500965A686}" type="slidenum">
              <a:rPr kumimoji="0" lang="en-US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de-DE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2620429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E7B3-6DEC-4535-B6F4-F1C6DE579B96}" type="slidenum">
              <a:rPr kumimoji="0" lang="en-US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de-DE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954088"/>
            <a:ext cx="4578350" cy="3433762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2513" y="4722813"/>
            <a:ext cx="4697412" cy="3811587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4156722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E7B3-6DEC-4535-B6F4-F1C6DE579B96}" type="slidenum">
              <a:rPr kumimoji="0" lang="en-US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de-DE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954088"/>
            <a:ext cx="4578350" cy="3433762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2513" y="4722813"/>
            <a:ext cx="4697412" cy="3811587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2164999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E7B3-6DEC-4535-B6F4-F1C6DE579B96}" type="slidenum">
              <a:rPr kumimoji="0" lang="en-US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de-DE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954088"/>
            <a:ext cx="4578350" cy="3433762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2513" y="4722813"/>
            <a:ext cx="4697412" cy="3811587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1831119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E7B3-6DEC-4535-B6F4-F1C6DE579B96}" type="slidenum">
              <a:rPr kumimoji="0" lang="en-US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de-DE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954088"/>
            <a:ext cx="4578350" cy="3433762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2513" y="4722813"/>
            <a:ext cx="4697412" cy="3811587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695497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B8949E-A46E-4CD3-BAAE-2D3D01A93D0E}" type="slidenum">
              <a:rPr lang="en-US" altLang="de-DE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37</a:t>
            </a:fld>
            <a:endParaRPr lang="en-US" altLang="de-DE" sz="12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de-DE" smtClean="0"/>
              <a:t>In this talk I will present our proposal for the simulation of quantum spin models. I have been working in this proposal with Ignacio Cirac at the Theory Division of the MPQ in Garching.</a:t>
            </a:r>
          </a:p>
        </p:txBody>
      </p:sp>
    </p:spTree>
    <p:extLst>
      <p:ext uri="{BB962C8B-B14F-4D97-AF65-F5344CB8AC3E}">
        <p14:creationId xmlns:p14="http://schemas.microsoft.com/office/powerpoint/2010/main" val="3639127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C568D-9F08-4B0A-9213-E87393B5AA69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29038757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5A949-41F0-4340-B00B-A5C95D140E12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3307455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D6225-84CF-46AD-9F74-68416E914BFB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48134445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F38144-F4E4-42FB-8A3D-7EC5FD4AD695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45498418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D6181-6745-45CC-83CC-672BF450BA46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70925522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B5B7D-2CED-4C58-BF24-EA47F709D5ED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46936409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FF45A-5D23-43D2-8763-BB87EB2D3753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71219350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9603B-EDBC-453D-A861-A38A14DC1994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15133548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8B2E3-F1BE-4063-9801-5E7344C45F14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53113546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68186-FEFE-432D-986B-F10B9479C53B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77506582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2FEF9-DB0F-411F-8CEE-BA82E74A6CFB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227244895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 smtClean="0"/>
              <a:t>Click to edit Master text styles</a:t>
            </a:r>
          </a:p>
          <a:p>
            <a:pPr lvl="1"/>
            <a:r>
              <a:rPr lang="en-US" altLang="de-DE" smtClean="0"/>
              <a:t>Second level</a:t>
            </a:r>
          </a:p>
          <a:p>
            <a:pPr lvl="2"/>
            <a:r>
              <a:rPr lang="en-US" altLang="de-DE" smtClean="0"/>
              <a:t>Third level</a:t>
            </a:r>
          </a:p>
          <a:p>
            <a:pPr lvl="3"/>
            <a:r>
              <a:rPr lang="en-US" altLang="de-DE" smtClean="0"/>
              <a:t>Fourth level</a:t>
            </a:r>
          </a:p>
          <a:p>
            <a:pPr lvl="4"/>
            <a:r>
              <a:rPr lang="en-US" altLang="de-DE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fld id="{C15E6B2F-D9DE-451F-A9AB-24686912814C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11" Type="http://schemas.openxmlformats.org/officeDocument/2006/relationships/image" Target="../media/image8.wmf"/><Relationship Id="rId5" Type="http://schemas.openxmlformats.org/officeDocument/2006/relationships/image" Target="../media/image4.wmf"/><Relationship Id="rId10" Type="http://schemas.openxmlformats.org/officeDocument/2006/relationships/image" Target="../media/image2.e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4.wmf"/><Relationship Id="rId7" Type="http://schemas.openxmlformats.org/officeDocument/2006/relationships/image" Target="../media/image1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wmf"/><Relationship Id="rId7" Type="http://schemas.openxmlformats.org/officeDocument/2006/relationships/image" Target="../media/image13.jpe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4.wmf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4.wmf"/><Relationship Id="rId7" Type="http://schemas.openxmlformats.org/officeDocument/2006/relationships/image" Target="../media/image2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image" Target="../media/image26.png"/><Relationship Id="rId7" Type="http://schemas.openxmlformats.org/officeDocument/2006/relationships/image" Target="../media/image3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emf"/><Relationship Id="rId5" Type="http://schemas.openxmlformats.org/officeDocument/2006/relationships/image" Target="../media/image3.png"/><Relationship Id="rId10" Type="http://schemas.openxmlformats.org/officeDocument/2006/relationships/image" Target="../media/image28.jpeg"/><Relationship Id="rId4" Type="http://schemas.openxmlformats.org/officeDocument/2006/relationships/image" Target="../media/image4.wmf"/><Relationship Id="rId9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3.png"/><Relationship Id="rId7" Type="http://schemas.openxmlformats.org/officeDocument/2006/relationships/image" Target="../media/image3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emf"/><Relationship Id="rId5" Type="http://schemas.openxmlformats.org/officeDocument/2006/relationships/image" Target="../media/image4.wmf"/><Relationship Id="rId10" Type="http://schemas.openxmlformats.org/officeDocument/2006/relationships/image" Target="../media/image38.jpeg"/><Relationship Id="rId4" Type="http://schemas.openxmlformats.org/officeDocument/2006/relationships/image" Target="../media/image37.emf"/><Relationship Id="rId9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3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emf"/><Relationship Id="rId5" Type="http://schemas.openxmlformats.org/officeDocument/2006/relationships/image" Target="../media/image4.wmf"/><Relationship Id="rId4" Type="http://schemas.openxmlformats.org/officeDocument/2006/relationships/image" Target="../media/image3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3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emf"/><Relationship Id="rId5" Type="http://schemas.openxmlformats.org/officeDocument/2006/relationships/image" Target="../media/image4.wmf"/><Relationship Id="rId4" Type="http://schemas.openxmlformats.org/officeDocument/2006/relationships/image" Target="../media/image3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4.wmf"/><Relationship Id="rId7" Type="http://schemas.openxmlformats.org/officeDocument/2006/relationships/image" Target="../media/image4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10" Type="http://schemas.openxmlformats.org/officeDocument/2006/relationships/image" Target="../media/image42.emf"/><Relationship Id="rId4" Type="http://schemas.openxmlformats.org/officeDocument/2006/relationships/image" Target="../media/image43.emf"/><Relationship Id="rId9" Type="http://schemas.openxmlformats.org/officeDocument/2006/relationships/image" Target="../media/image48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4.wmf"/><Relationship Id="rId7" Type="http://schemas.openxmlformats.org/officeDocument/2006/relationships/image" Target="../media/image46.emf"/><Relationship Id="rId12" Type="http://schemas.openxmlformats.org/officeDocument/2006/relationships/image" Target="../media/image4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emf"/><Relationship Id="rId11" Type="http://schemas.openxmlformats.org/officeDocument/2006/relationships/image" Target="../media/image50.emf"/><Relationship Id="rId5" Type="http://schemas.openxmlformats.org/officeDocument/2006/relationships/image" Target="../media/image44.emf"/><Relationship Id="rId10" Type="http://schemas.openxmlformats.org/officeDocument/2006/relationships/image" Target="../media/image49.png"/><Relationship Id="rId4" Type="http://schemas.openxmlformats.org/officeDocument/2006/relationships/image" Target="../media/image43.emf"/><Relationship Id="rId9" Type="http://schemas.openxmlformats.org/officeDocument/2006/relationships/image" Target="../media/image4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5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1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.wmf"/><Relationship Id="rId7" Type="http://schemas.openxmlformats.org/officeDocument/2006/relationships/image" Target="../media/image5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10" Type="http://schemas.openxmlformats.org/officeDocument/2006/relationships/image" Target="../media/image55.emf"/><Relationship Id="rId4" Type="http://schemas.openxmlformats.org/officeDocument/2006/relationships/image" Target="../media/image51.emf"/><Relationship Id="rId9" Type="http://schemas.openxmlformats.org/officeDocument/2006/relationships/image" Target="../media/image50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4.wmf"/><Relationship Id="rId7" Type="http://schemas.openxmlformats.org/officeDocument/2006/relationships/image" Target="../media/image60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5" Type="http://schemas.openxmlformats.org/officeDocument/2006/relationships/image" Target="../media/image13.jpeg"/><Relationship Id="rId10" Type="http://schemas.openxmlformats.org/officeDocument/2006/relationships/image" Target="../media/image63.emf"/><Relationship Id="rId4" Type="http://schemas.openxmlformats.org/officeDocument/2006/relationships/image" Target="../media/image3.png"/><Relationship Id="rId9" Type="http://schemas.openxmlformats.org/officeDocument/2006/relationships/image" Target="../media/image6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emf"/><Relationship Id="rId5" Type="http://schemas.openxmlformats.org/officeDocument/2006/relationships/image" Target="../media/image65.emf"/><Relationship Id="rId4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3.png"/><Relationship Id="rId7" Type="http://schemas.openxmlformats.org/officeDocument/2006/relationships/image" Target="../media/image67.e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emf"/><Relationship Id="rId5" Type="http://schemas.openxmlformats.org/officeDocument/2006/relationships/image" Target="../media/image65.emf"/><Relationship Id="rId4" Type="http://schemas.openxmlformats.org/officeDocument/2006/relationships/image" Target="../media/image13.jpeg"/><Relationship Id="rId9" Type="http://schemas.openxmlformats.org/officeDocument/2006/relationships/image" Target="../media/image69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image" Target="../media/image3.png"/><Relationship Id="rId7" Type="http://schemas.openxmlformats.org/officeDocument/2006/relationships/image" Target="../media/image67.e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emf"/><Relationship Id="rId5" Type="http://schemas.openxmlformats.org/officeDocument/2006/relationships/image" Target="../media/image65.emf"/><Relationship Id="rId10" Type="http://schemas.openxmlformats.org/officeDocument/2006/relationships/image" Target="../media/image72.emf"/><Relationship Id="rId4" Type="http://schemas.openxmlformats.org/officeDocument/2006/relationships/image" Target="../media/image13.jpeg"/><Relationship Id="rId9" Type="http://schemas.openxmlformats.org/officeDocument/2006/relationships/image" Target="../media/image7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image" Target="../media/image72.emf"/><Relationship Id="rId3" Type="http://schemas.openxmlformats.org/officeDocument/2006/relationships/image" Target="../media/image3.png"/><Relationship Id="rId7" Type="http://schemas.openxmlformats.org/officeDocument/2006/relationships/image" Target="../media/image67.emf"/><Relationship Id="rId12" Type="http://schemas.openxmlformats.org/officeDocument/2006/relationships/image" Target="../media/image71.e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emf"/><Relationship Id="rId11" Type="http://schemas.openxmlformats.org/officeDocument/2006/relationships/image" Target="../media/image70.emf"/><Relationship Id="rId5" Type="http://schemas.openxmlformats.org/officeDocument/2006/relationships/image" Target="../media/image65.emf"/><Relationship Id="rId10" Type="http://schemas.openxmlformats.org/officeDocument/2006/relationships/image" Target="../media/image75.emf"/><Relationship Id="rId4" Type="http://schemas.openxmlformats.org/officeDocument/2006/relationships/image" Target="../media/image13.jpeg"/><Relationship Id="rId9" Type="http://schemas.openxmlformats.org/officeDocument/2006/relationships/image" Target="../media/image74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3.png"/><Relationship Id="rId7" Type="http://schemas.openxmlformats.org/officeDocument/2006/relationships/image" Target="../media/image71.e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79.emf"/><Relationship Id="rId4" Type="http://schemas.openxmlformats.org/officeDocument/2006/relationships/image" Target="../media/image13.jpeg"/><Relationship Id="rId9" Type="http://schemas.openxmlformats.org/officeDocument/2006/relationships/image" Target="../media/image7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64.e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2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88.jfif"/><Relationship Id="rId3" Type="http://schemas.openxmlformats.org/officeDocument/2006/relationships/image" Target="../media/image4.wmf"/><Relationship Id="rId7" Type="http://schemas.openxmlformats.org/officeDocument/2006/relationships/image" Target="../media/image12.wmf"/><Relationship Id="rId12" Type="http://schemas.openxmlformats.org/officeDocument/2006/relationships/image" Target="../media/image8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86.png"/><Relationship Id="rId5" Type="http://schemas.openxmlformats.org/officeDocument/2006/relationships/image" Target="../media/image10.jpeg"/><Relationship Id="rId10" Type="http://schemas.openxmlformats.org/officeDocument/2006/relationships/image" Target="../media/image6.png"/><Relationship Id="rId4" Type="http://schemas.openxmlformats.org/officeDocument/2006/relationships/image" Target="../media/image9.jpeg"/><Relationship Id="rId9" Type="http://schemas.openxmlformats.org/officeDocument/2006/relationships/image" Target="../media/image8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8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6.wmf"/><Relationship Id="rId5" Type="http://schemas.openxmlformats.org/officeDocument/2006/relationships/image" Target="../media/image91.png"/><Relationship Id="rId10" Type="http://schemas.openxmlformats.org/officeDocument/2006/relationships/image" Target="../media/image95.jpeg"/><Relationship Id="rId4" Type="http://schemas.openxmlformats.org/officeDocument/2006/relationships/image" Target="../media/image90.jpeg"/><Relationship Id="rId9" Type="http://schemas.openxmlformats.org/officeDocument/2006/relationships/image" Target="../media/image94.jpeg"/><Relationship Id="rId14" Type="http://schemas.openxmlformats.org/officeDocument/2006/relationships/image" Target="../media/image9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chätz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8531"/>
            <a:ext cx="9144000" cy="540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36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5943600"/>
            <a:ext cx="9144000" cy="9144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2400" dirty="0" smtClean="0">
                <a:solidFill>
                  <a:srgbClr val="FFFFFF"/>
                </a:solidFill>
                <a:latin typeface="Arial" panose="020B0604020202020204" pitchFamily="34" charset="0"/>
              </a:rPr>
              <a:t>Konstanz 2021 </a:t>
            </a:r>
            <a:r>
              <a:rPr lang="en-US" altLang="de-DE" sz="2400" dirty="0">
                <a:solidFill>
                  <a:srgbClr val="FFFFFF"/>
                </a:solidFill>
                <a:latin typeface="Arial" panose="020B0604020202020204" pitchFamily="34" charset="0"/>
              </a:rPr>
              <a:t>– Tobias </a:t>
            </a:r>
            <a:r>
              <a:rPr lang="en-US" altLang="de-DE" sz="2400" dirty="0" err="1">
                <a:solidFill>
                  <a:srgbClr val="FFFFFF"/>
                </a:solidFill>
                <a:latin typeface="Arial" panose="020B0604020202020204" pitchFamily="34" charset="0"/>
              </a:rPr>
              <a:t>Schaetz</a:t>
            </a:r>
            <a:r>
              <a:rPr lang="en-US" altLang="de-DE" sz="2400" dirty="0">
                <a:solidFill>
                  <a:srgbClr val="FFFFFF"/>
                </a:solidFill>
                <a:latin typeface="Arial" panose="020B0604020202020204" pitchFamily="34" charset="0"/>
              </a:rPr>
              <a:t>/Freiburg 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465513" y="604838"/>
            <a:ext cx="2116137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4800" dirty="0">
                <a:solidFill>
                  <a:srgbClr val="FFFFFF"/>
                </a:solidFill>
                <a:latin typeface="Arial" panose="020B0604020202020204" pitchFamily="34" charset="0"/>
              </a:rPr>
              <a:t>TIAMO</a:t>
            </a:r>
          </a:p>
        </p:txBody>
      </p:sp>
      <p:grpSp>
        <p:nvGrpSpPr>
          <p:cNvPr id="4102" name="Group 10"/>
          <p:cNvGrpSpPr>
            <a:grpSpLocks/>
          </p:cNvGrpSpPr>
          <p:nvPr/>
        </p:nvGrpSpPr>
        <p:grpSpPr bwMode="auto">
          <a:xfrm>
            <a:off x="8032750" y="5391150"/>
            <a:ext cx="954088" cy="457200"/>
            <a:chOff x="3680" y="3469"/>
            <a:chExt cx="601" cy="288"/>
          </a:xfrm>
        </p:grpSpPr>
        <p:sp>
          <p:nvSpPr>
            <p:cNvPr id="4104" name="Line 8"/>
            <p:cNvSpPr>
              <a:spLocks noChangeShapeType="1"/>
            </p:cNvSpPr>
            <p:nvPr/>
          </p:nvSpPr>
          <p:spPr bwMode="auto">
            <a:xfrm>
              <a:off x="3696" y="3474"/>
              <a:ext cx="57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05" name="Text Box 9"/>
            <p:cNvSpPr txBox="1">
              <a:spLocks noChangeArrowheads="1"/>
            </p:cNvSpPr>
            <p:nvPr/>
          </p:nvSpPr>
          <p:spPr bwMode="auto">
            <a:xfrm>
              <a:off x="3680" y="3469"/>
              <a:ext cx="6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400">
                  <a:solidFill>
                    <a:srgbClr val="FFFFFF"/>
                  </a:solidFill>
                  <a:latin typeface="Arial" panose="020B0604020202020204" pitchFamily="34" charset="0"/>
                </a:rPr>
                <a:t>10µm</a:t>
              </a:r>
            </a:p>
          </p:txBody>
        </p:sp>
      </p:grpSp>
      <p:sp>
        <p:nvSpPr>
          <p:cNvPr id="4103" name="Text Box 11"/>
          <p:cNvSpPr txBox="1">
            <a:spLocks noChangeArrowheads="1"/>
          </p:cNvSpPr>
          <p:nvPr/>
        </p:nvSpPr>
        <p:spPr bwMode="auto">
          <a:xfrm>
            <a:off x="1191795" y="201613"/>
            <a:ext cx="69353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400" dirty="0">
                <a:solidFill>
                  <a:srgbClr val="FFFFFF"/>
                </a:solidFill>
                <a:latin typeface="Arial" panose="020B0604020202020204" pitchFamily="34" charset="0"/>
              </a:rPr>
              <a:t>Trapping Ions and Atoms and Molecules </a:t>
            </a:r>
            <a:r>
              <a:rPr lang="en-US" altLang="de-DE" sz="2400" dirty="0" smtClean="0">
                <a:solidFill>
                  <a:srgbClr val="FFFFFF"/>
                </a:solidFill>
                <a:latin typeface="Arial" panose="020B0604020202020204" pitchFamily="34" charset="0"/>
              </a:rPr>
              <a:t>Optically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de-DE" sz="24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de-DE" sz="2400" dirty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889312" y="1425135"/>
            <a:ext cx="72843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Catching the wave </a:t>
            </a:r>
            <a:endParaRPr lang="en-GB" dirty="0" smtClean="0">
              <a:solidFill>
                <a:schemeClr val="bg1"/>
              </a:solidFill>
            </a:endParaRPr>
          </a:p>
          <a:p>
            <a:pPr algn="ctr"/>
            <a:r>
              <a:rPr lang="en-GB" dirty="0" smtClean="0">
                <a:solidFill>
                  <a:schemeClr val="bg1"/>
                </a:solidFill>
              </a:rPr>
              <a:t>Optical </a:t>
            </a:r>
            <a:r>
              <a:rPr lang="en-GB" dirty="0">
                <a:solidFill>
                  <a:schemeClr val="bg1"/>
                </a:solidFill>
              </a:rPr>
              <a:t>Traps for controlling Ions &amp; </a:t>
            </a:r>
            <a:r>
              <a:rPr lang="en-GB" dirty="0" err="1">
                <a:solidFill>
                  <a:schemeClr val="bg1"/>
                </a:solidFill>
              </a:rPr>
              <a:t>Ultracold</a:t>
            </a:r>
            <a:r>
              <a:rPr lang="en-GB" dirty="0">
                <a:solidFill>
                  <a:schemeClr val="bg1"/>
                </a:solidFill>
              </a:rPr>
              <a:t> Atoms in the quantum regime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582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56245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8100" y="161925"/>
            <a:ext cx="876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topics of the group in Freiburg</a:t>
            </a:r>
          </a:p>
        </p:txBody>
      </p:sp>
      <p:grpSp>
        <p:nvGrpSpPr>
          <p:cNvPr id="6149" name="Group 5"/>
          <p:cNvGrpSpPr>
            <a:grpSpLocks/>
          </p:cNvGrpSpPr>
          <p:nvPr/>
        </p:nvGrpSpPr>
        <p:grpSpPr bwMode="auto">
          <a:xfrm>
            <a:off x="2863850" y="4316413"/>
            <a:ext cx="1257300" cy="1220787"/>
            <a:chOff x="2200" y="391"/>
            <a:chExt cx="1920" cy="1927"/>
          </a:xfrm>
        </p:grpSpPr>
        <p:pic>
          <p:nvPicPr>
            <p:cNvPr id="6234" name="Picture 6" descr="example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391"/>
              <a:ext cx="1920" cy="1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235" name="Group 7"/>
            <p:cNvGrpSpPr>
              <a:grpSpLocks/>
            </p:cNvGrpSpPr>
            <p:nvPr/>
          </p:nvGrpSpPr>
          <p:grpSpPr bwMode="auto">
            <a:xfrm>
              <a:off x="3016" y="981"/>
              <a:ext cx="272" cy="272"/>
              <a:chOff x="748" y="1661"/>
              <a:chExt cx="1406" cy="1361"/>
            </a:xfrm>
          </p:grpSpPr>
          <p:sp>
            <p:nvSpPr>
              <p:cNvPr id="6244" name="Oval 8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45" name="Oval 9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46" name="Oval 10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236" name="Group 11"/>
            <p:cNvGrpSpPr>
              <a:grpSpLocks/>
            </p:cNvGrpSpPr>
            <p:nvPr/>
          </p:nvGrpSpPr>
          <p:grpSpPr bwMode="auto">
            <a:xfrm>
              <a:off x="3198" y="1278"/>
              <a:ext cx="272" cy="272"/>
              <a:chOff x="748" y="1661"/>
              <a:chExt cx="1406" cy="1361"/>
            </a:xfrm>
          </p:grpSpPr>
          <p:sp>
            <p:nvSpPr>
              <p:cNvPr id="6241" name="Oval 12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42" name="Oval 13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43" name="Oval 14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237" name="Group 15"/>
            <p:cNvGrpSpPr>
              <a:grpSpLocks/>
            </p:cNvGrpSpPr>
            <p:nvPr/>
          </p:nvGrpSpPr>
          <p:grpSpPr bwMode="auto">
            <a:xfrm>
              <a:off x="2835" y="1263"/>
              <a:ext cx="272" cy="272"/>
              <a:chOff x="748" y="1661"/>
              <a:chExt cx="1406" cy="1361"/>
            </a:xfrm>
          </p:grpSpPr>
          <p:sp>
            <p:nvSpPr>
              <p:cNvPr id="6238" name="Oval 16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39" name="Oval 17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40" name="Oval 18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150" name="Text Box 19"/>
          <p:cNvSpPr txBox="1">
            <a:spLocks noChangeArrowheads="1"/>
          </p:cNvSpPr>
          <p:nvPr/>
        </p:nvSpPr>
        <p:spPr bwMode="auto">
          <a:xfrm>
            <a:off x="479425" y="935038"/>
            <a:ext cx="7945438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Ions (and atoms) in </a:t>
            </a:r>
            <a:r>
              <a:rPr kumimoji="0" lang="en-US" altLang="de-DE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optical traps (optical lattices)</a:t>
            </a:r>
            <a:r>
              <a:rPr kumimoji="0" lang="en-US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kumimoji="0" lang="en-US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2D Coulomb crystals </a:t>
            </a:r>
            <a:r>
              <a:rPr kumimoji="0" lang="en-US" altLang="de-DE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 topological defect(s) 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	                      </a:t>
            </a:r>
            <a:r>
              <a:rPr kumimoji="0" lang="en-US" altLang="de-DE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(common </a:t>
            </a:r>
            <a:r>
              <a:rPr kumimoji="0" lang="en-US" altLang="de-DE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rf</a:t>
            </a:r>
            <a:r>
              <a:rPr kumimoji="0" lang="en-US" altLang="de-DE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-potential)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endParaRPr kumimoji="0" lang="en-US" altLang="de-DE" sz="2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endParaRPr kumimoji="0" lang="en-US" altLang="de-DE" sz="2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+ arrays of                         </a:t>
            </a:r>
            <a:r>
              <a:rPr kumimoji="0" lang="en-US" altLang="de-DE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(individual </a:t>
            </a:r>
            <a:r>
              <a:rPr kumimoji="0" lang="en-US" altLang="de-DE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rf</a:t>
            </a:r>
            <a:r>
              <a:rPr kumimoji="0" lang="en-US" altLang="de-DE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-potentials)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traps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  <a:b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1D </a:t>
            </a:r>
            <a:r>
              <a:rPr kumimoji="0" lang="en-US" altLang="de-DE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– </a:t>
            </a:r>
            <a:r>
              <a:rPr lang="en-US" altLang="de-DE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crystals</a:t>
            </a:r>
            <a:endParaRPr kumimoji="0" lang="en-US" altLang="de-DE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spin-(spin)-boson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squeezing</a:t>
            </a:r>
            <a:endParaRPr kumimoji="0" lang="en-US" altLang="de-DE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6151" name="Group 20"/>
          <p:cNvGrpSpPr>
            <a:grpSpLocks/>
          </p:cNvGrpSpPr>
          <p:nvPr/>
        </p:nvGrpSpPr>
        <p:grpSpPr bwMode="auto">
          <a:xfrm>
            <a:off x="596900" y="2913063"/>
            <a:ext cx="3471863" cy="1044575"/>
            <a:chOff x="1671" y="1301"/>
            <a:chExt cx="2115" cy="604"/>
          </a:xfrm>
        </p:grpSpPr>
        <p:pic>
          <p:nvPicPr>
            <p:cNvPr id="6229" name="Picture 7" descr="Y:\tmp\Manu\Vortrag_JvF\Kink_25_Ionen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59976">
              <a:off x="1671" y="1301"/>
              <a:ext cx="2115" cy="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30" name="Oval 22"/>
            <p:cNvSpPr>
              <a:spLocks noChangeArrowheads="1"/>
            </p:cNvSpPr>
            <p:nvPr/>
          </p:nvSpPr>
          <p:spPr bwMode="auto">
            <a:xfrm>
              <a:off x="2550" y="1500"/>
              <a:ext cx="84" cy="7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31" name="Oval 23"/>
            <p:cNvSpPr>
              <a:spLocks noChangeArrowheads="1"/>
            </p:cNvSpPr>
            <p:nvPr/>
          </p:nvSpPr>
          <p:spPr bwMode="auto">
            <a:xfrm>
              <a:off x="2669" y="1499"/>
              <a:ext cx="84" cy="7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32" name="Oval 24"/>
            <p:cNvSpPr>
              <a:spLocks noChangeArrowheads="1"/>
            </p:cNvSpPr>
            <p:nvPr/>
          </p:nvSpPr>
          <p:spPr bwMode="auto">
            <a:xfrm>
              <a:off x="2776" y="1498"/>
              <a:ext cx="84" cy="7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33" name="Oval 25"/>
            <p:cNvSpPr>
              <a:spLocks noChangeArrowheads="1"/>
            </p:cNvSpPr>
            <p:nvPr/>
          </p:nvSpPr>
          <p:spPr bwMode="auto">
            <a:xfrm>
              <a:off x="2667" y="1623"/>
              <a:ext cx="84" cy="7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6153" name="Picture 27" descr="Kopie (4_blue) von Laseraufbau_d"/>
          <p:cNvPicPr preferRelativeResize="0"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232" y="1562100"/>
            <a:ext cx="10858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2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0558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6" name="Text Box 30"/>
          <p:cNvSpPr txBox="1">
            <a:spLocks noChangeArrowheads="1"/>
          </p:cNvSpPr>
          <p:nvPr/>
        </p:nvSpPr>
        <p:spPr bwMode="auto">
          <a:xfrm>
            <a:off x="7385050" y="3124200"/>
            <a:ext cx="120808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col. Reznik,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Landa,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Retzker</a:t>
            </a:r>
          </a:p>
        </p:txBody>
      </p:sp>
      <p:sp>
        <p:nvSpPr>
          <p:cNvPr id="6157" name="Text Box 31"/>
          <p:cNvSpPr txBox="1">
            <a:spLocks noChangeArrowheads="1"/>
          </p:cNvSpPr>
          <p:nvPr/>
        </p:nvSpPr>
        <p:spPr bwMode="auto">
          <a:xfrm>
            <a:off x="6857493" y="4667250"/>
            <a:ext cx="210762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Porras, Bermudez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NIST, SNL, </a:t>
            </a:r>
            <a:r>
              <a:rPr kumimoji="0" lang="en-US" altLang="de-DE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R.Schmied</a:t>
            </a: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400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C.Ospelkaus</a:t>
            </a:r>
            <a:endParaRPr kumimoji="0" lang="en-US" altLang="de-D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58" name="Text Box 32"/>
          <p:cNvSpPr txBox="1">
            <a:spLocks noChangeArrowheads="1"/>
          </p:cNvSpPr>
          <p:nvPr/>
        </p:nvSpPr>
        <p:spPr bwMode="auto">
          <a:xfrm>
            <a:off x="6032492" y="1323975"/>
            <a:ext cx="316413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col. </a:t>
            </a:r>
            <a:r>
              <a:rPr kumimoji="0" lang="en-US" alt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Moszynski</a:t>
            </a: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de-DE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Tomza</a:t>
            </a: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de-DE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Jachymski</a:t>
            </a: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</a:t>
            </a:r>
            <a:b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de-DE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Dulieu</a:t>
            </a: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de-DE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Morigi</a:t>
            </a: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en-US" alt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Lukin</a:t>
            </a: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de-DE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Coté</a:t>
            </a: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de-D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6159" name="Group 33"/>
          <p:cNvGrpSpPr>
            <a:grpSpLocks/>
          </p:cNvGrpSpPr>
          <p:nvPr/>
        </p:nvGrpSpPr>
        <p:grpSpPr bwMode="auto">
          <a:xfrm>
            <a:off x="8382000" y="161925"/>
            <a:ext cx="638175" cy="611188"/>
            <a:chOff x="2200" y="391"/>
            <a:chExt cx="1920" cy="1927"/>
          </a:xfrm>
        </p:grpSpPr>
        <p:pic>
          <p:nvPicPr>
            <p:cNvPr id="6216" name="Picture 34" descr="example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391"/>
              <a:ext cx="1920" cy="1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217" name="Group 35"/>
            <p:cNvGrpSpPr>
              <a:grpSpLocks/>
            </p:cNvGrpSpPr>
            <p:nvPr/>
          </p:nvGrpSpPr>
          <p:grpSpPr bwMode="auto">
            <a:xfrm>
              <a:off x="3016" y="981"/>
              <a:ext cx="272" cy="272"/>
              <a:chOff x="748" y="1661"/>
              <a:chExt cx="1406" cy="1361"/>
            </a:xfrm>
          </p:grpSpPr>
          <p:sp>
            <p:nvSpPr>
              <p:cNvPr id="6226" name="Oval 36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27" name="Oval 37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28" name="Oval 38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218" name="Group 39"/>
            <p:cNvGrpSpPr>
              <a:grpSpLocks/>
            </p:cNvGrpSpPr>
            <p:nvPr/>
          </p:nvGrpSpPr>
          <p:grpSpPr bwMode="auto">
            <a:xfrm>
              <a:off x="3198" y="1278"/>
              <a:ext cx="272" cy="272"/>
              <a:chOff x="748" y="1661"/>
              <a:chExt cx="1406" cy="1361"/>
            </a:xfrm>
          </p:grpSpPr>
          <p:sp>
            <p:nvSpPr>
              <p:cNvPr id="6223" name="Oval 40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24" name="Oval 41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25" name="Oval 42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219" name="Group 43"/>
            <p:cNvGrpSpPr>
              <a:grpSpLocks/>
            </p:cNvGrpSpPr>
            <p:nvPr/>
          </p:nvGrpSpPr>
          <p:grpSpPr bwMode="auto">
            <a:xfrm>
              <a:off x="2835" y="1263"/>
              <a:ext cx="272" cy="272"/>
              <a:chOff x="748" y="1661"/>
              <a:chExt cx="1406" cy="1361"/>
            </a:xfrm>
          </p:grpSpPr>
          <p:sp>
            <p:nvSpPr>
              <p:cNvPr id="6220" name="Oval 44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21" name="Oval 45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22" name="Oval 46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160" name="Text Box 47"/>
          <p:cNvSpPr txBox="1">
            <a:spLocks noChangeArrowheads="1"/>
          </p:cNvSpPr>
          <p:nvPr/>
        </p:nvSpPr>
        <p:spPr bwMode="auto">
          <a:xfrm>
            <a:off x="669205" y="1431479"/>
            <a:ext cx="246093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(2017): 3s</a:t>
            </a:r>
            <a:endParaRPr kumimoji="0" lang="en-US" altLang="de-D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(2018): Coulomb Crystals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(2020): sympathetic cooling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(2021)</a:t>
            </a:r>
            <a:r>
              <a:rPr lang="en-US" altLang="de-DE" sz="1400" u="sng" noProof="0" dirty="0" smtClean="0">
                <a:solidFill>
                  <a:srgbClr val="000000"/>
                </a:solidFill>
                <a:latin typeface="Arial" panose="020B0604020202020204" pitchFamily="34" charset="0"/>
              </a:rPr>
              <a:t>: ion-atom </a:t>
            </a:r>
            <a:r>
              <a:rPr lang="en-US" altLang="de-DE" sz="1400" u="sng" noProof="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Feshbach</a:t>
            </a:r>
            <a:endParaRPr kumimoji="0" lang="en-US" altLang="de-D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61" name="Text Box 48"/>
          <p:cNvSpPr txBox="1">
            <a:spLocks noChangeArrowheads="1"/>
          </p:cNvSpPr>
          <p:nvPr/>
        </p:nvSpPr>
        <p:spPr bwMode="auto">
          <a:xfrm>
            <a:off x="4196033" y="4599318"/>
            <a:ext cx="214808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(2016</a:t>
            </a:r>
            <a:r>
              <a:rPr kumimoji="0" lang="en-US" altLang="de-DE" sz="1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): triangle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(2019): 2D-coupling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(2019): PAT in 2D</a:t>
            </a:r>
          </a:p>
          <a:p>
            <a:pPr marL="285750" lvl="0" indent="-285750" eaLnBrk="1" hangingPunct="1">
              <a:spcBef>
                <a:spcPct val="0"/>
              </a:spcBef>
              <a:buFontTx/>
              <a:buChar char="-"/>
              <a:defRPr/>
            </a:pPr>
            <a:r>
              <a:rPr lang="en-US" altLang="de-DE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towards </a:t>
            </a:r>
            <a:r>
              <a:rPr lang="en-US" altLang="de-DE" sz="1400" u="sng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Ar</a:t>
            </a:r>
            <a:r>
              <a:rPr lang="en-US" altLang="de-DE" sz="1400" b="1" baseline="30000" dirty="0" smtClean="0"/>
              <a:t>+</a:t>
            </a:r>
            <a:r>
              <a:rPr lang="en-US" altLang="de-DE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 cleaning</a:t>
            </a:r>
            <a:endParaRPr kumimoji="0" lang="en-US" altLang="de-DE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62" name="Text Box 49"/>
          <p:cNvSpPr txBox="1">
            <a:spLocks noChangeArrowheads="1"/>
          </p:cNvSpPr>
          <p:nvPr/>
        </p:nvSpPr>
        <p:spPr bwMode="auto">
          <a:xfrm>
            <a:off x="4176713" y="3400425"/>
            <a:ext cx="283923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(2017): </a:t>
            </a:r>
            <a:b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spectroscopy </a:t>
            </a:r>
            <a:r>
              <a:rPr kumimoji="0" lang="en-US" altLang="de-DE" sz="1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+ </a:t>
            </a: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soliton transport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- towards structural entanglement</a:t>
            </a:r>
            <a:endParaRPr kumimoji="0" lang="en-US" altLang="de-D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63" name="Text Box 50"/>
          <p:cNvSpPr txBox="1">
            <a:spLocks noChangeArrowheads="1"/>
          </p:cNvSpPr>
          <p:nvPr/>
        </p:nvSpPr>
        <p:spPr bwMode="auto">
          <a:xfrm>
            <a:off x="7065644" y="5652420"/>
            <a:ext cx="211307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Porras, </a:t>
            </a: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Breuer,</a:t>
            </a:r>
            <a:r>
              <a:rPr kumimoji="0" lang="en-US" altLang="de-DE" sz="14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de-DE" sz="1400" b="1" i="0" u="none" strike="noStrike" kern="120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Thoss</a:t>
            </a:r>
            <a:endParaRPr kumimoji="0" lang="en-US" altLang="de-D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(</a:t>
            </a:r>
            <a:r>
              <a:rPr kumimoji="0" lang="en-US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Bermudez, </a:t>
            </a:r>
            <a:r>
              <a:rPr kumimoji="0" lang="en-US" alt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Plenio</a:t>
            </a: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Fey, </a:t>
            </a:r>
            <a:r>
              <a:rPr kumimoji="0" lang="en-US" altLang="de-DE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Schützhold</a:t>
            </a:r>
            <a:endParaRPr kumimoji="0" lang="en-US" altLang="de-DE" sz="1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400" b="1" noProof="0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              </a:t>
            </a:r>
            <a:r>
              <a:rPr lang="en-US" altLang="de-DE" sz="1400" b="1" noProof="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Buchleitner</a:t>
            </a:r>
            <a:endParaRPr kumimoji="0" lang="en-US" altLang="de-D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6164" name="Group 51"/>
          <p:cNvGrpSpPr>
            <a:grpSpLocks/>
          </p:cNvGrpSpPr>
          <p:nvPr/>
        </p:nvGrpSpPr>
        <p:grpSpPr bwMode="auto">
          <a:xfrm>
            <a:off x="3836988" y="5761038"/>
            <a:ext cx="777875" cy="781050"/>
            <a:chOff x="5201" y="107"/>
            <a:chExt cx="388" cy="366"/>
          </a:xfrm>
        </p:grpSpPr>
        <p:sp>
          <p:nvSpPr>
            <p:cNvPr id="6184" name="Rectangle 52"/>
            <p:cNvSpPr>
              <a:spLocks noChangeArrowheads="1"/>
            </p:cNvSpPr>
            <p:nvPr/>
          </p:nvSpPr>
          <p:spPr bwMode="auto">
            <a:xfrm>
              <a:off x="5201" y="107"/>
              <a:ext cx="388" cy="366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85" name="Freeform 53"/>
            <p:cNvSpPr>
              <a:spLocks/>
            </p:cNvSpPr>
            <p:nvPr/>
          </p:nvSpPr>
          <p:spPr bwMode="auto">
            <a:xfrm>
              <a:off x="5306" y="281"/>
              <a:ext cx="200" cy="40"/>
            </a:xfrm>
            <a:custGeom>
              <a:avLst/>
              <a:gdLst>
                <a:gd name="T0" fmla="*/ 0 w 684"/>
                <a:gd name="T1" fmla="*/ 3 h 286"/>
                <a:gd name="T2" fmla="*/ 9 w 684"/>
                <a:gd name="T3" fmla="*/ 0 h 286"/>
                <a:gd name="T4" fmla="*/ 18 w 684"/>
                <a:gd name="T5" fmla="*/ 5 h 286"/>
                <a:gd name="T6" fmla="*/ 29 w 684"/>
                <a:gd name="T7" fmla="*/ 0 h 286"/>
                <a:gd name="T8" fmla="*/ 39 w 684"/>
                <a:gd name="T9" fmla="*/ 6 h 286"/>
                <a:gd name="T10" fmla="*/ 49 w 684"/>
                <a:gd name="T11" fmla="*/ 0 h 286"/>
                <a:gd name="T12" fmla="*/ 58 w 684"/>
                <a:gd name="T13" fmla="*/ 4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186" name="Group 54"/>
            <p:cNvGrpSpPr>
              <a:grpSpLocks/>
            </p:cNvGrpSpPr>
            <p:nvPr/>
          </p:nvGrpSpPr>
          <p:grpSpPr bwMode="auto">
            <a:xfrm>
              <a:off x="5380" y="267"/>
              <a:ext cx="57" cy="55"/>
              <a:chOff x="748" y="1661"/>
              <a:chExt cx="1406" cy="1361"/>
            </a:xfrm>
          </p:grpSpPr>
          <p:sp>
            <p:nvSpPr>
              <p:cNvPr id="6213" name="Oval 55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14" name="Oval 56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15" name="Oval 57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187" name="Group 58"/>
            <p:cNvGrpSpPr>
              <a:grpSpLocks/>
            </p:cNvGrpSpPr>
            <p:nvPr/>
          </p:nvGrpSpPr>
          <p:grpSpPr bwMode="auto">
            <a:xfrm>
              <a:off x="5482" y="253"/>
              <a:ext cx="89" cy="82"/>
              <a:chOff x="748" y="1661"/>
              <a:chExt cx="1406" cy="1361"/>
            </a:xfrm>
          </p:grpSpPr>
          <p:sp>
            <p:nvSpPr>
              <p:cNvPr id="6210" name="Oval 59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11" name="Oval 60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12" name="Oval 61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188" name="Group 62"/>
            <p:cNvGrpSpPr>
              <a:grpSpLocks/>
            </p:cNvGrpSpPr>
            <p:nvPr/>
          </p:nvGrpSpPr>
          <p:grpSpPr bwMode="auto">
            <a:xfrm>
              <a:off x="5217" y="219"/>
              <a:ext cx="173" cy="161"/>
              <a:chOff x="3937" y="2314"/>
              <a:chExt cx="217" cy="204"/>
            </a:xfrm>
          </p:grpSpPr>
          <p:grpSp>
            <p:nvGrpSpPr>
              <p:cNvPr id="6198" name="Group 63"/>
              <p:cNvGrpSpPr>
                <a:grpSpLocks/>
              </p:cNvGrpSpPr>
              <p:nvPr/>
            </p:nvGrpSpPr>
            <p:grpSpPr bwMode="auto">
              <a:xfrm rot="-3911151">
                <a:off x="4090" y="2291"/>
                <a:ext cx="41" cy="87"/>
                <a:chOff x="3424" y="2069"/>
                <a:chExt cx="92" cy="182"/>
              </a:xfrm>
            </p:grpSpPr>
            <p:sp>
              <p:nvSpPr>
                <p:cNvPr id="6208" name="Freeform 64"/>
                <p:cNvSpPr>
                  <a:spLocks/>
                </p:cNvSpPr>
                <p:nvPr/>
              </p:nvSpPr>
              <p:spPr bwMode="auto">
                <a:xfrm flipH="1">
                  <a:off x="3424" y="2069"/>
                  <a:ext cx="46" cy="182"/>
                </a:xfrm>
                <a:custGeom>
                  <a:avLst/>
                  <a:gdLst>
                    <a:gd name="T0" fmla="*/ 23 w 91"/>
                    <a:gd name="T1" fmla="*/ 0 h 182"/>
                    <a:gd name="T2" fmla="*/ 0 w 91"/>
                    <a:gd name="T3" fmla="*/ 91 h 182"/>
                    <a:gd name="T4" fmla="*/ 23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209" name="Freeform 65"/>
                <p:cNvSpPr>
                  <a:spLocks/>
                </p:cNvSpPr>
                <p:nvPr/>
              </p:nvSpPr>
              <p:spPr bwMode="auto">
                <a:xfrm flipH="1">
                  <a:off x="3470" y="2069"/>
                  <a:ext cx="46" cy="182"/>
                </a:xfrm>
                <a:custGeom>
                  <a:avLst/>
                  <a:gdLst>
                    <a:gd name="T0" fmla="*/ 23 w 91"/>
                    <a:gd name="T1" fmla="*/ 0 h 182"/>
                    <a:gd name="T2" fmla="*/ 0 w 91"/>
                    <a:gd name="T3" fmla="*/ 91 h 182"/>
                    <a:gd name="T4" fmla="*/ 23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99" name="Group 66"/>
              <p:cNvGrpSpPr>
                <a:grpSpLocks/>
              </p:cNvGrpSpPr>
              <p:nvPr/>
            </p:nvGrpSpPr>
            <p:grpSpPr bwMode="auto">
              <a:xfrm rot="3248643">
                <a:off x="4090" y="2454"/>
                <a:ext cx="41" cy="87"/>
                <a:chOff x="3424" y="2069"/>
                <a:chExt cx="92" cy="182"/>
              </a:xfrm>
            </p:grpSpPr>
            <p:sp>
              <p:nvSpPr>
                <p:cNvPr id="6206" name="Freeform 67"/>
                <p:cNvSpPr>
                  <a:spLocks/>
                </p:cNvSpPr>
                <p:nvPr/>
              </p:nvSpPr>
              <p:spPr bwMode="auto">
                <a:xfrm flipH="1">
                  <a:off x="3424" y="2069"/>
                  <a:ext cx="46" cy="182"/>
                </a:xfrm>
                <a:custGeom>
                  <a:avLst/>
                  <a:gdLst>
                    <a:gd name="T0" fmla="*/ 23 w 91"/>
                    <a:gd name="T1" fmla="*/ 0 h 182"/>
                    <a:gd name="T2" fmla="*/ 0 w 91"/>
                    <a:gd name="T3" fmla="*/ 91 h 182"/>
                    <a:gd name="T4" fmla="*/ 23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207" name="Freeform 68"/>
                <p:cNvSpPr>
                  <a:spLocks/>
                </p:cNvSpPr>
                <p:nvPr/>
              </p:nvSpPr>
              <p:spPr bwMode="auto">
                <a:xfrm flipH="1">
                  <a:off x="3470" y="2069"/>
                  <a:ext cx="46" cy="182"/>
                </a:xfrm>
                <a:custGeom>
                  <a:avLst/>
                  <a:gdLst>
                    <a:gd name="T0" fmla="*/ 23 w 91"/>
                    <a:gd name="T1" fmla="*/ 0 h 182"/>
                    <a:gd name="T2" fmla="*/ 0 w 91"/>
                    <a:gd name="T3" fmla="*/ 91 h 182"/>
                    <a:gd name="T4" fmla="*/ 23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200" name="Group 69"/>
              <p:cNvGrpSpPr>
                <a:grpSpLocks/>
              </p:cNvGrpSpPr>
              <p:nvPr/>
            </p:nvGrpSpPr>
            <p:grpSpPr bwMode="auto">
              <a:xfrm rot="-7397142">
                <a:off x="3960" y="2291"/>
                <a:ext cx="41" cy="88"/>
                <a:chOff x="3424" y="2069"/>
                <a:chExt cx="92" cy="182"/>
              </a:xfrm>
            </p:grpSpPr>
            <p:sp>
              <p:nvSpPr>
                <p:cNvPr id="6204" name="Freeform 70"/>
                <p:cNvSpPr>
                  <a:spLocks/>
                </p:cNvSpPr>
                <p:nvPr/>
              </p:nvSpPr>
              <p:spPr bwMode="auto">
                <a:xfrm flipH="1">
                  <a:off x="3424" y="2069"/>
                  <a:ext cx="46" cy="182"/>
                </a:xfrm>
                <a:custGeom>
                  <a:avLst/>
                  <a:gdLst>
                    <a:gd name="T0" fmla="*/ 23 w 91"/>
                    <a:gd name="T1" fmla="*/ 0 h 182"/>
                    <a:gd name="T2" fmla="*/ 0 w 91"/>
                    <a:gd name="T3" fmla="*/ 91 h 182"/>
                    <a:gd name="T4" fmla="*/ 23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205" name="Freeform 71"/>
                <p:cNvSpPr>
                  <a:spLocks/>
                </p:cNvSpPr>
                <p:nvPr/>
              </p:nvSpPr>
              <p:spPr bwMode="auto">
                <a:xfrm flipH="1">
                  <a:off x="3470" y="2069"/>
                  <a:ext cx="46" cy="182"/>
                </a:xfrm>
                <a:custGeom>
                  <a:avLst/>
                  <a:gdLst>
                    <a:gd name="T0" fmla="*/ 23 w 91"/>
                    <a:gd name="T1" fmla="*/ 0 h 182"/>
                    <a:gd name="T2" fmla="*/ 0 w 91"/>
                    <a:gd name="T3" fmla="*/ 91 h 182"/>
                    <a:gd name="T4" fmla="*/ 23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201" name="Group 72"/>
              <p:cNvGrpSpPr>
                <a:grpSpLocks/>
              </p:cNvGrpSpPr>
              <p:nvPr/>
            </p:nvGrpSpPr>
            <p:grpSpPr bwMode="auto">
              <a:xfrm rot="6829581">
                <a:off x="3960" y="2454"/>
                <a:ext cx="41" cy="88"/>
                <a:chOff x="3424" y="2069"/>
                <a:chExt cx="92" cy="182"/>
              </a:xfrm>
            </p:grpSpPr>
            <p:sp>
              <p:nvSpPr>
                <p:cNvPr id="6202" name="Freeform 73"/>
                <p:cNvSpPr>
                  <a:spLocks/>
                </p:cNvSpPr>
                <p:nvPr/>
              </p:nvSpPr>
              <p:spPr bwMode="auto">
                <a:xfrm flipH="1">
                  <a:off x="3424" y="2069"/>
                  <a:ext cx="46" cy="182"/>
                </a:xfrm>
                <a:custGeom>
                  <a:avLst/>
                  <a:gdLst>
                    <a:gd name="T0" fmla="*/ 23 w 91"/>
                    <a:gd name="T1" fmla="*/ 0 h 182"/>
                    <a:gd name="T2" fmla="*/ 0 w 91"/>
                    <a:gd name="T3" fmla="*/ 91 h 182"/>
                    <a:gd name="T4" fmla="*/ 23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203" name="Freeform 74"/>
                <p:cNvSpPr>
                  <a:spLocks/>
                </p:cNvSpPr>
                <p:nvPr/>
              </p:nvSpPr>
              <p:spPr bwMode="auto">
                <a:xfrm flipH="1">
                  <a:off x="3470" y="2069"/>
                  <a:ext cx="46" cy="182"/>
                </a:xfrm>
                <a:custGeom>
                  <a:avLst/>
                  <a:gdLst>
                    <a:gd name="T0" fmla="*/ 23 w 91"/>
                    <a:gd name="T1" fmla="*/ 0 h 182"/>
                    <a:gd name="T2" fmla="*/ 0 w 91"/>
                    <a:gd name="T3" fmla="*/ 91 h 182"/>
                    <a:gd name="T4" fmla="*/ 23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189" name="Group 75"/>
            <p:cNvGrpSpPr>
              <a:grpSpLocks/>
            </p:cNvGrpSpPr>
            <p:nvPr/>
          </p:nvGrpSpPr>
          <p:grpSpPr bwMode="auto">
            <a:xfrm>
              <a:off x="5360" y="251"/>
              <a:ext cx="89" cy="82"/>
              <a:chOff x="748" y="1661"/>
              <a:chExt cx="1406" cy="1361"/>
            </a:xfrm>
          </p:grpSpPr>
          <p:sp>
            <p:nvSpPr>
              <p:cNvPr id="6195" name="Oval 76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96" name="Oval 77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97" name="Oval 78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190" name="Group 79"/>
            <p:cNvGrpSpPr>
              <a:grpSpLocks/>
            </p:cNvGrpSpPr>
            <p:nvPr/>
          </p:nvGrpSpPr>
          <p:grpSpPr bwMode="auto">
            <a:xfrm>
              <a:off x="5236" y="252"/>
              <a:ext cx="89" cy="82"/>
              <a:chOff x="748" y="1661"/>
              <a:chExt cx="1406" cy="1361"/>
            </a:xfrm>
          </p:grpSpPr>
          <p:sp>
            <p:nvSpPr>
              <p:cNvPr id="6192" name="Oval 80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93" name="Oval 81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94" name="Oval 82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191" name="Line 83"/>
            <p:cNvSpPr>
              <a:spLocks noChangeShapeType="1"/>
            </p:cNvSpPr>
            <p:nvPr/>
          </p:nvSpPr>
          <p:spPr bwMode="auto">
            <a:xfrm flipV="1">
              <a:off x="5278" y="240"/>
              <a:ext cx="2" cy="10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6165" name="Text Box 84"/>
          <p:cNvSpPr txBox="1">
            <a:spLocks noChangeArrowheads="1"/>
          </p:cNvSpPr>
          <p:nvPr/>
        </p:nvSpPr>
        <p:spPr bwMode="auto">
          <a:xfrm>
            <a:off x="4608513" y="5675080"/>
            <a:ext cx="274145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(2016): </a:t>
            </a:r>
            <a:r>
              <a:rPr kumimoji="0" lang="en-US" altLang="de-DE" sz="1400" b="0" i="0" u="sng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thermalisation</a:t>
            </a: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de-D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(2017): non-</a:t>
            </a:r>
            <a:r>
              <a:rPr kumimoji="0" lang="en-US" altLang="de-DE" sz="1400" b="0" i="0" u="sng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Markovianity</a:t>
            </a:r>
            <a:endParaRPr kumimoji="0" lang="en-US" altLang="de-D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(2019); squeezing/pair-creation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(2021) </a:t>
            </a:r>
            <a:r>
              <a:rPr lang="en-US" altLang="de-DE" sz="1400" u="sng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Qsim</a:t>
            </a:r>
            <a:r>
              <a:rPr lang="en-US" altLang="de-DE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 e-transfer</a:t>
            </a:r>
            <a:endParaRPr kumimoji="0" lang="en-US" altLang="de-D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01" name="Group 85"/>
          <p:cNvGrpSpPr>
            <a:grpSpLocks/>
          </p:cNvGrpSpPr>
          <p:nvPr/>
        </p:nvGrpSpPr>
        <p:grpSpPr bwMode="auto">
          <a:xfrm>
            <a:off x="573084" y="2364447"/>
            <a:ext cx="8269480" cy="3321319"/>
            <a:chOff x="911" y="1788"/>
            <a:chExt cx="4777" cy="1938"/>
          </a:xfrm>
        </p:grpSpPr>
        <p:sp>
          <p:nvSpPr>
            <p:cNvPr id="102" name="Rectangle 86"/>
            <p:cNvSpPr>
              <a:spLocks noChangeArrowheads="1"/>
            </p:cNvSpPr>
            <p:nvPr/>
          </p:nvSpPr>
          <p:spPr bwMode="auto">
            <a:xfrm>
              <a:off x="918" y="1788"/>
              <a:ext cx="4770" cy="1938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1" name="Group 87"/>
            <p:cNvGrpSpPr>
              <a:grpSpLocks/>
            </p:cNvGrpSpPr>
            <p:nvPr/>
          </p:nvGrpSpPr>
          <p:grpSpPr bwMode="auto">
            <a:xfrm>
              <a:off x="911" y="1795"/>
              <a:ext cx="4729" cy="1800"/>
              <a:chOff x="2245" y="2695"/>
              <a:chExt cx="3493" cy="1350"/>
            </a:xfrm>
          </p:grpSpPr>
          <p:graphicFrame>
            <p:nvGraphicFramePr>
              <p:cNvPr id="122" name="Object 88"/>
              <p:cNvGraphicFramePr>
                <a:graphicFrameLocks noChangeAspect="1"/>
              </p:cNvGraphicFramePr>
              <p:nvPr/>
            </p:nvGraphicFramePr>
            <p:xfrm>
              <a:off x="4059" y="2786"/>
              <a:ext cx="1679" cy="1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7" name="Acrobat Document" r:id="rId9" imgW="3085886" imgH="2314289" progId="AcroExch.Document.7">
                      <p:embed/>
                    </p:oleObj>
                  </mc:Choice>
                  <mc:Fallback>
                    <p:oleObj name="Acrobat Document" r:id="rId9" imgW="3085886" imgH="2314289" progId="AcroExch.Document.7">
                      <p:embed/>
                      <p:pic>
                        <p:nvPicPr>
                          <p:cNvPr id="122" name="Object 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9" y="2786"/>
                            <a:ext cx="1679" cy="12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23" name="Group 89"/>
              <p:cNvGrpSpPr>
                <a:grpSpLocks/>
              </p:cNvGrpSpPr>
              <p:nvPr/>
            </p:nvGrpSpPr>
            <p:grpSpPr bwMode="auto">
              <a:xfrm>
                <a:off x="5330" y="3784"/>
                <a:ext cx="348" cy="130"/>
                <a:chOff x="5330" y="1707"/>
                <a:chExt cx="348" cy="130"/>
              </a:xfrm>
            </p:grpSpPr>
            <p:sp>
              <p:nvSpPr>
                <p:cNvPr id="135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5330" y="1707"/>
                  <a:ext cx="267" cy="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de-DE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rPr>
                    <a:t>20</a:t>
                  </a:r>
                  <a:r>
                    <a:rPr kumimoji="0" lang="en-US" altLang="de-DE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ymbol" panose="05050102010706020507" pitchFamily="18" charset="2"/>
                      <a:ea typeface="+mn-ea"/>
                      <a:cs typeface="+mn-cs"/>
                    </a:rPr>
                    <a:t>m</a:t>
                  </a:r>
                  <a:r>
                    <a:rPr kumimoji="0" lang="en-US" altLang="de-DE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rPr>
                    <a:t>m</a:t>
                  </a:r>
                </a:p>
              </p:txBody>
            </p:sp>
            <p:sp>
              <p:nvSpPr>
                <p:cNvPr id="136" name="Line 91"/>
                <p:cNvSpPr>
                  <a:spLocks noChangeShapeType="1"/>
                </p:cNvSpPr>
                <p:nvPr/>
              </p:nvSpPr>
              <p:spPr bwMode="auto">
                <a:xfrm>
                  <a:off x="5361" y="1717"/>
                  <a:ext cx="317" cy="0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24" name="Picture 92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90" y="2772"/>
                <a:ext cx="1710" cy="1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25" name="Group 93"/>
              <p:cNvGrpSpPr>
                <a:grpSpLocks/>
              </p:cNvGrpSpPr>
              <p:nvPr/>
            </p:nvGrpSpPr>
            <p:grpSpPr bwMode="auto">
              <a:xfrm>
                <a:off x="2350" y="3022"/>
                <a:ext cx="1633" cy="607"/>
                <a:chOff x="2501" y="981"/>
                <a:chExt cx="1270" cy="453"/>
              </a:xfrm>
            </p:grpSpPr>
            <p:sp>
              <p:nvSpPr>
                <p:cNvPr id="129" name="Freeform 94"/>
                <p:cNvSpPr>
                  <a:spLocks/>
                </p:cNvSpPr>
                <p:nvPr/>
              </p:nvSpPr>
              <p:spPr bwMode="auto">
                <a:xfrm>
                  <a:off x="2846" y="1310"/>
                  <a:ext cx="589" cy="108"/>
                </a:xfrm>
                <a:custGeom>
                  <a:avLst/>
                  <a:gdLst>
                    <a:gd name="T0" fmla="*/ 0 w 684"/>
                    <a:gd name="T1" fmla="*/ 23 h 286"/>
                    <a:gd name="T2" fmla="*/ 76 w 684"/>
                    <a:gd name="T3" fmla="*/ 3 h 286"/>
                    <a:gd name="T4" fmla="*/ 160 w 684"/>
                    <a:gd name="T5" fmla="*/ 40 h 286"/>
                    <a:gd name="T6" fmla="*/ 254 w 684"/>
                    <a:gd name="T7" fmla="*/ 0 h 286"/>
                    <a:gd name="T8" fmla="*/ 343 w 684"/>
                    <a:gd name="T9" fmla="*/ 40 h 286"/>
                    <a:gd name="T10" fmla="*/ 427 w 684"/>
                    <a:gd name="T11" fmla="*/ 3 h 286"/>
                    <a:gd name="T12" fmla="*/ 507 w 684"/>
                    <a:gd name="T13" fmla="*/ 27 h 28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4" h="286">
                      <a:moveTo>
                        <a:pt x="0" y="163"/>
                      </a:moveTo>
                      <a:cubicBezTo>
                        <a:pt x="17" y="140"/>
                        <a:pt x="66" y="6"/>
                        <a:pt x="102" y="25"/>
                      </a:cubicBezTo>
                      <a:cubicBezTo>
                        <a:pt x="138" y="44"/>
                        <a:pt x="176" y="281"/>
                        <a:pt x="216" y="277"/>
                      </a:cubicBezTo>
                      <a:cubicBezTo>
                        <a:pt x="256" y="273"/>
                        <a:pt x="301" y="0"/>
                        <a:pt x="342" y="1"/>
                      </a:cubicBezTo>
                      <a:cubicBezTo>
                        <a:pt x="383" y="2"/>
                        <a:pt x="423" y="280"/>
                        <a:pt x="462" y="283"/>
                      </a:cubicBezTo>
                      <a:cubicBezTo>
                        <a:pt x="501" y="286"/>
                        <a:pt x="539" y="35"/>
                        <a:pt x="576" y="19"/>
                      </a:cubicBezTo>
                      <a:cubicBezTo>
                        <a:pt x="613" y="3"/>
                        <a:pt x="662" y="152"/>
                        <a:pt x="684" y="187"/>
                      </a:cubicBezTo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 95"/>
                <p:cNvSpPr>
                  <a:spLocks/>
                </p:cNvSpPr>
                <p:nvPr/>
              </p:nvSpPr>
              <p:spPr bwMode="auto">
                <a:xfrm rot="-2010097">
                  <a:off x="2547" y="1162"/>
                  <a:ext cx="589" cy="108"/>
                </a:xfrm>
                <a:custGeom>
                  <a:avLst/>
                  <a:gdLst>
                    <a:gd name="T0" fmla="*/ 0 w 684"/>
                    <a:gd name="T1" fmla="*/ 23 h 286"/>
                    <a:gd name="T2" fmla="*/ 76 w 684"/>
                    <a:gd name="T3" fmla="*/ 3 h 286"/>
                    <a:gd name="T4" fmla="*/ 160 w 684"/>
                    <a:gd name="T5" fmla="*/ 40 h 286"/>
                    <a:gd name="T6" fmla="*/ 254 w 684"/>
                    <a:gd name="T7" fmla="*/ 0 h 286"/>
                    <a:gd name="T8" fmla="*/ 343 w 684"/>
                    <a:gd name="T9" fmla="*/ 40 h 286"/>
                    <a:gd name="T10" fmla="*/ 427 w 684"/>
                    <a:gd name="T11" fmla="*/ 3 h 286"/>
                    <a:gd name="T12" fmla="*/ 507 w 684"/>
                    <a:gd name="T13" fmla="*/ 27 h 28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4" h="286">
                      <a:moveTo>
                        <a:pt x="0" y="163"/>
                      </a:moveTo>
                      <a:cubicBezTo>
                        <a:pt x="17" y="140"/>
                        <a:pt x="66" y="6"/>
                        <a:pt x="102" y="25"/>
                      </a:cubicBezTo>
                      <a:cubicBezTo>
                        <a:pt x="138" y="44"/>
                        <a:pt x="176" y="281"/>
                        <a:pt x="216" y="277"/>
                      </a:cubicBezTo>
                      <a:cubicBezTo>
                        <a:pt x="256" y="273"/>
                        <a:pt x="301" y="0"/>
                        <a:pt x="342" y="1"/>
                      </a:cubicBezTo>
                      <a:cubicBezTo>
                        <a:pt x="383" y="2"/>
                        <a:pt x="423" y="280"/>
                        <a:pt x="462" y="283"/>
                      </a:cubicBezTo>
                      <a:cubicBezTo>
                        <a:pt x="501" y="286"/>
                        <a:pt x="539" y="35"/>
                        <a:pt x="576" y="19"/>
                      </a:cubicBezTo>
                      <a:cubicBezTo>
                        <a:pt x="613" y="3"/>
                        <a:pt x="662" y="152"/>
                        <a:pt x="684" y="187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 96"/>
                <p:cNvSpPr>
                  <a:spLocks/>
                </p:cNvSpPr>
                <p:nvPr/>
              </p:nvSpPr>
              <p:spPr bwMode="auto">
                <a:xfrm rot="2013647">
                  <a:off x="3124" y="1158"/>
                  <a:ext cx="589" cy="108"/>
                </a:xfrm>
                <a:custGeom>
                  <a:avLst/>
                  <a:gdLst>
                    <a:gd name="T0" fmla="*/ 0 w 684"/>
                    <a:gd name="T1" fmla="*/ 23 h 286"/>
                    <a:gd name="T2" fmla="*/ 76 w 684"/>
                    <a:gd name="T3" fmla="*/ 3 h 286"/>
                    <a:gd name="T4" fmla="*/ 160 w 684"/>
                    <a:gd name="T5" fmla="*/ 40 h 286"/>
                    <a:gd name="T6" fmla="*/ 254 w 684"/>
                    <a:gd name="T7" fmla="*/ 0 h 286"/>
                    <a:gd name="T8" fmla="*/ 343 w 684"/>
                    <a:gd name="T9" fmla="*/ 40 h 286"/>
                    <a:gd name="T10" fmla="*/ 427 w 684"/>
                    <a:gd name="T11" fmla="*/ 3 h 286"/>
                    <a:gd name="T12" fmla="*/ 507 w 684"/>
                    <a:gd name="T13" fmla="*/ 27 h 28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4" h="286">
                      <a:moveTo>
                        <a:pt x="0" y="163"/>
                      </a:moveTo>
                      <a:cubicBezTo>
                        <a:pt x="17" y="140"/>
                        <a:pt x="66" y="6"/>
                        <a:pt x="102" y="25"/>
                      </a:cubicBezTo>
                      <a:cubicBezTo>
                        <a:pt x="138" y="44"/>
                        <a:pt x="176" y="281"/>
                        <a:pt x="216" y="277"/>
                      </a:cubicBezTo>
                      <a:cubicBezTo>
                        <a:pt x="256" y="273"/>
                        <a:pt x="301" y="0"/>
                        <a:pt x="342" y="1"/>
                      </a:cubicBezTo>
                      <a:cubicBezTo>
                        <a:pt x="383" y="2"/>
                        <a:pt x="423" y="280"/>
                        <a:pt x="462" y="283"/>
                      </a:cubicBezTo>
                      <a:cubicBezTo>
                        <a:pt x="501" y="286"/>
                        <a:pt x="539" y="35"/>
                        <a:pt x="576" y="19"/>
                      </a:cubicBezTo>
                      <a:cubicBezTo>
                        <a:pt x="613" y="3"/>
                        <a:pt x="662" y="152"/>
                        <a:pt x="684" y="187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Oval 97"/>
                <p:cNvSpPr>
                  <a:spLocks noChangeArrowheads="1"/>
                </p:cNvSpPr>
                <p:nvPr/>
              </p:nvSpPr>
              <p:spPr bwMode="auto">
                <a:xfrm>
                  <a:off x="3061" y="981"/>
                  <a:ext cx="136" cy="136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altLang="de-DE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Oval 98"/>
                <p:cNvSpPr>
                  <a:spLocks noChangeArrowheads="1"/>
                </p:cNvSpPr>
                <p:nvPr/>
              </p:nvSpPr>
              <p:spPr bwMode="auto">
                <a:xfrm>
                  <a:off x="2501" y="1298"/>
                  <a:ext cx="136" cy="136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altLang="de-DE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Oval 99"/>
                <p:cNvSpPr>
                  <a:spLocks noChangeArrowheads="1"/>
                </p:cNvSpPr>
                <p:nvPr/>
              </p:nvSpPr>
              <p:spPr bwMode="auto">
                <a:xfrm>
                  <a:off x="3635" y="1298"/>
                  <a:ext cx="136" cy="136"/>
                </a:xfrm>
                <a:prstGeom prst="ellipse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altLang="de-DE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6" name="Rectangle 100"/>
              <p:cNvSpPr>
                <a:spLocks noChangeArrowheads="1"/>
              </p:cNvSpPr>
              <p:nvPr/>
            </p:nvSpPr>
            <p:spPr bwMode="auto">
              <a:xfrm>
                <a:off x="2245" y="2695"/>
                <a:ext cx="1860" cy="9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7" name="Text Box 101"/>
              <p:cNvSpPr txBox="1">
                <a:spLocks noChangeArrowheads="1"/>
              </p:cNvSpPr>
              <p:nvPr/>
            </p:nvSpPr>
            <p:spPr bwMode="auto">
              <a:xfrm>
                <a:off x="3334" y="3777"/>
                <a:ext cx="267" cy="1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20</a:t>
                </a:r>
                <a:r>
                  <a:rPr kumimoji="0" lang="en-US" altLang="de-DE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+mn-ea"/>
                    <a:cs typeface="+mn-cs"/>
                  </a:rPr>
                  <a:t>m</a:t>
                </a:r>
                <a:r>
                  <a:rPr kumimoji="0" lang="en-US" altLang="de-DE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m</a:t>
                </a:r>
              </a:p>
            </p:txBody>
          </p:sp>
          <p:sp>
            <p:nvSpPr>
              <p:cNvPr id="128" name="Line 102"/>
              <p:cNvSpPr>
                <a:spLocks noChangeShapeType="1"/>
              </p:cNvSpPr>
              <p:nvPr/>
            </p:nvSpPr>
            <p:spPr bwMode="auto">
              <a:xfrm>
                <a:off x="3152" y="3783"/>
                <a:ext cx="726" cy="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5180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298575" y="153988"/>
            <a:ext cx="7486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combining ions and atoms by light 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946150" y="6348413"/>
            <a:ext cx="30748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1200" dirty="0">
                <a:latin typeface="Arial" panose="020B0604020202020204" pitchFamily="34" charset="0"/>
              </a:rPr>
              <a:t>*Rep </a:t>
            </a:r>
            <a:r>
              <a:rPr lang="en-US" altLang="de-DE" sz="1200" dirty="0" err="1">
                <a:latin typeface="Arial" panose="020B0604020202020204" pitchFamily="34" charset="0"/>
              </a:rPr>
              <a:t>Prog</a:t>
            </a:r>
            <a:r>
              <a:rPr lang="en-US" altLang="de-DE" sz="1200" dirty="0">
                <a:latin typeface="Arial" panose="020B0604020202020204" pitchFamily="34" charset="0"/>
              </a:rPr>
              <a:t> </a:t>
            </a:r>
            <a:r>
              <a:rPr lang="en-US" altLang="de-DE" sz="1200" dirty="0" err="1">
                <a:latin typeface="Arial" panose="020B0604020202020204" pitchFamily="34" charset="0"/>
              </a:rPr>
              <a:t>Phys</a:t>
            </a:r>
            <a:r>
              <a:rPr lang="en-US" altLang="de-DE" sz="1200" dirty="0">
                <a:latin typeface="Arial" panose="020B0604020202020204" pitchFamily="34" charset="0"/>
              </a:rPr>
              <a:t> (2012</a:t>
            </a:r>
            <a:r>
              <a:rPr lang="en-US" altLang="de-DE" sz="1200" dirty="0" smtClean="0">
                <a:latin typeface="Arial" panose="020B0604020202020204" pitchFamily="34" charset="0"/>
              </a:rPr>
              <a:t>) + </a:t>
            </a:r>
            <a:r>
              <a:rPr lang="en-US" altLang="de-DE" sz="1200" dirty="0" err="1" smtClean="0">
                <a:latin typeface="Arial" panose="020B0604020202020204" pitchFamily="34" charset="0"/>
              </a:rPr>
              <a:t>J.Phys.B</a:t>
            </a:r>
            <a:r>
              <a:rPr lang="en-US" altLang="de-DE" sz="1200" dirty="0">
                <a:latin typeface="Arial" panose="020B0604020202020204" pitchFamily="34" charset="0"/>
              </a:rPr>
              <a:t> </a:t>
            </a:r>
            <a:r>
              <a:rPr lang="en-US" altLang="de-DE" sz="1200" dirty="0" smtClean="0">
                <a:latin typeface="Arial" panose="020B0604020202020204" pitchFamily="34" charset="0"/>
              </a:rPr>
              <a:t>(2017) </a:t>
            </a:r>
            <a:endParaRPr lang="en-US" altLang="de-DE" sz="1200" dirty="0">
              <a:latin typeface="Arial" panose="020B0604020202020204" pitchFamily="34" charset="0"/>
            </a:endParaRPr>
          </a:p>
        </p:txBody>
      </p:sp>
      <p:pic>
        <p:nvPicPr>
          <p:cNvPr id="10247" name="Picture 51" descr="optical_latt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1744663"/>
            <a:ext cx="2676525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 Box 39"/>
          <p:cNvSpPr txBox="1">
            <a:spLocks noChangeArrowheads="1"/>
          </p:cNvSpPr>
          <p:nvPr/>
        </p:nvSpPr>
        <p:spPr bwMode="auto">
          <a:xfrm>
            <a:off x="5116513" y="962025"/>
            <a:ext cx="35528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30 years</a:t>
            </a:r>
            <a:r>
              <a:rPr lang="de-DE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 of</a:t>
            </a:r>
            <a:endParaRPr lang="en-US" altLang="de-DE" sz="200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2000" b="1" u="sng">
                <a:latin typeface="Arial" panose="020B0604020202020204" pitchFamily="34" charset="0"/>
              </a:rPr>
              <a:t>atoms</a:t>
            </a: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 in </a:t>
            </a:r>
            <a:r>
              <a:rPr lang="en-US" altLang="de-DE" sz="2000">
                <a:latin typeface="Arial" panose="020B0604020202020204" pitchFamily="34" charset="0"/>
              </a:rPr>
              <a:t>optical fields</a:t>
            </a: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 (10</a:t>
            </a:r>
            <a:r>
              <a:rPr lang="de-DE" altLang="de-DE" sz="2000" b="1" baseline="30000">
                <a:solidFill>
                  <a:schemeClr val="folHlink"/>
                </a:solidFill>
                <a:latin typeface="Arial" panose="020B0604020202020204" pitchFamily="34" charset="0"/>
              </a:rPr>
              <a:t>-3 </a:t>
            </a: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K)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2000">
              <a:latin typeface="Arial" panose="020B0604020202020204" pitchFamily="34" charset="0"/>
            </a:endParaRPr>
          </a:p>
        </p:txBody>
      </p:sp>
      <p:sp>
        <p:nvSpPr>
          <p:cNvPr id="10249" name="Text Box 42"/>
          <p:cNvSpPr txBox="1">
            <a:spLocks noChangeArrowheads="1"/>
          </p:cNvSpPr>
          <p:nvPr/>
        </p:nvSpPr>
        <p:spPr bwMode="auto">
          <a:xfrm rot="-5400000">
            <a:off x="3017838" y="2297113"/>
            <a:ext cx="3070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>
                <a:latin typeface="Arial" panose="020B0604020202020204" pitchFamily="34" charset="0"/>
              </a:rPr>
              <a:t>complete not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2000" b="1">
                <a:latin typeface="Arial" panose="020B0604020202020204" pitchFamily="34" charset="0"/>
              </a:rPr>
              <a:t>compete </a:t>
            </a:r>
          </a:p>
        </p:txBody>
      </p:sp>
      <p:sp>
        <p:nvSpPr>
          <p:cNvPr id="10250" name="Text Box 75"/>
          <p:cNvSpPr txBox="1">
            <a:spLocks noChangeArrowheads="1"/>
          </p:cNvSpPr>
          <p:nvPr/>
        </p:nvSpPr>
        <p:spPr bwMode="auto">
          <a:xfrm>
            <a:off x="110700" y="971550"/>
            <a:ext cx="448712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2000" dirty="0">
                <a:solidFill>
                  <a:schemeClr val="folHlink"/>
                </a:solidFill>
                <a:latin typeface="Arial" panose="020B0604020202020204" pitchFamily="34" charset="0"/>
              </a:rPr>
              <a:t>60 years</a:t>
            </a:r>
            <a:r>
              <a:rPr lang="de-DE" altLang="de-DE" sz="20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de-DE" altLang="de-DE" sz="2000" dirty="0" err="1">
                <a:solidFill>
                  <a:schemeClr val="folHlink"/>
                </a:solidFill>
                <a:latin typeface="Arial" panose="020B0604020202020204" pitchFamily="34" charset="0"/>
              </a:rPr>
              <a:t>of</a:t>
            </a:r>
            <a:r>
              <a:rPr lang="en-US" altLang="de-DE" sz="2000" dirty="0">
                <a:solidFill>
                  <a:schemeClr val="folHlink"/>
                </a:solidFill>
                <a:latin typeface="Arial" panose="020B0604020202020204" pitchFamily="34" charset="0"/>
              </a:rPr>
              <a:t>	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2000" b="1" u="sng" dirty="0">
                <a:latin typeface="Arial" panose="020B0604020202020204" pitchFamily="34" charset="0"/>
              </a:rPr>
              <a:t>ions</a:t>
            </a:r>
            <a:r>
              <a:rPr lang="en-US" altLang="de-DE" sz="2000" dirty="0">
                <a:solidFill>
                  <a:schemeClr val="folHlink"/>
                </a:solidFill>
                <a:latin typeface="Arial" panose="020B0604020202020204" pitchFamily="34" charset="0"/>
              </a:rPr>
              <a:t> in </a:t>
            </a:r>
            <a:r>
              <a:rPr lang="en-US" altLang="de-DE" sz="2000" b="1" u="sng" dirty="0">
                <a:latin typeface="Arial" panose="020B0604020202020204" pitchFamily="34" charset="0"/>
              </a:rPr>
              <a:t>radio frequency</a:t>
            </a:r>
            <a:r>
              <a:rPr lang="en-US" altLang="de-DE" sz="2000" b="1" dirty="0">
                <a:latin typeface="Arial" panose="020B0604020202020204" pitchFamily="34" charset="0"/>
              </a:rPr>
              <a:t> </a:t>
            </a:r>
            <a:r>
              <a:rPr lang="en-US" altLang="de-DE" sz="2000" dirty="0">
                <a:solidFill>
                  <a:schemeClr val="folHlink"/>
                </a:solidFill>
                <a:latin typeface="Arial" panose="020B0604020202020204" pitchFamily="34" charset="0"/>
              </a:rPr>
              <a:t>fields (10</a:t>
            </a:r>
            <a:r>
              <a:rPr lang="en-US" altLang="de-DE" sz="2000" b="1" baseline="30000" dirty="0">
                <a:solidFill>
                  <a:schemeClr val="folHlink"/>
                </a:solidFill>
                <a:latin typeface="Arial" panose="020B0604020202020204" pitchFamily="34" charset="0"/>
              </a:rPr>
              <a:t>4 </a:t>
            </a:r>
            <a:r>
              <a:rPr lang="en-US" altLang="de-DE" sz="2000" dirty="0">
                <a:solidFill>
                  <a:schemeClr val="folHlink"/>
                </a:solidFill>
                <a:latin typeface="Arial" panose="020B0604020202020204" pitchFamily="34" charset="0"/>
              </a:rPr>
              <a:t>K)</a:t>
            </a: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4572000" y="1123950"/>
            <a:ext cx="0" cy="27146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2" name="Text Box 60"/>
          <p:cNvSpPr txBox="1">
            <a:spLocks noChangeArrowheads="1"/>
          </p:cNvSpPr>
          <p:nvPr/>
        </p:nvSpPr>
        <p:spPr bwMode="auto">
          <a:xfrm>
            <a:off x="7470775" y="3429000"/>
            <a:ext cx="14366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200" i="1">
                <a:latin typeface="Arial" panose="020B0604020202020204" pitchFamily="34" charset="0"/>
              </a:rPr>
              <a:t>courtesy of I.Bloch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441950" y="3754438"/>
            <a:ext cx="27971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 scalable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 versatile geometries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211263" y="3524250"/>
            <a:ext cx="29670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 deep wells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 unique controllability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000">
                <a:solidFill>
                  <a:schemeClr val="folHlink"/>
                </a:solidFill>
                <a:latin typeface="Arial" panose="020B0604020202020204" pitchFamily="34" charset="0"/>
              </a:rPr>
              <a:t> long range interaction</a:t>
            </a:r>
          </a:p>
        </p:txBody>
      </p:sp>
      <p:pic>
        <p:nvPicPr>
          <p:cNvPr id="10255" name="Picture 2" descr="Schätz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865313"/>
            <a:ext cx="2646363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5283200"/>
            <a:ext cx="207962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57" name="Text Box 42"/>
          <p:cNvSpPr txBox="1">
            <a:spLocks noChangeArrowheads="1"/>
          </p:cNvSpPr>
          <p:nvPr/>
        </p:nvSpPr>
        <p:spPr bwMode="auto">
          <a:xfrm>
            <a:off x="2463800" y="4438650"/>
            <a:ext cx="40608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u="sng">
                <a:latin typeface="Arial" panose="020B0604020202020204" pitchFamily="34" charset="0"/>
              </a:rPr>
              <a:t>novel (extended) perspectives*:</a:t>
            </a:r>
            <a:endParaRPr lang="en-US" altLang="de-DE" sz="2000" b="1" u="sng">
              <a:latin typeface="Arial" panose="020B0604020202020204" pitchFamily="34" charset="0"/>
            </a:endParaRPr>
          </a:p>
        </p:txBody>
      </p:sp>
      <p:grpSp>
        <p:nvGrpSpPr>
          <p:cNvPr id="10258" name="Group 18"/>
          <p:cNvGrpSpPr>
            <a:grpSpLocks/>
          </p:cNvGrpSpPr>
          <p:nvPr/>
        </p:nvGrpSpPr>
        <p:grpSpPr bwMode="auto">
          <a:xfrm>
            <a:off x="785813" y="5145088"/>
            <a:ext cx="5040312" cy="1069975"/>
            <a:chOff x="495" y="3163"/>
            <a:chExt cx="3175" cy="674"/>
          </a:xfrm>
        </p:grpSpPr>
        <p:pic>
          <p:nvPicPr>
            <p:cNvPr id="10268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" y="3163"/>
              <a:ext cx="3175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269" name="Rectangle 20"/>
            <p:cNvSpPr>
              <a:spLocks noChangeArrowheads="1"/>
            </p:cNvSpPr>
            <p:nvPr/>
          </p:nvSpPr>
          <p:spPr bwMode="auto">
            <a:xfrm>
              <a:off x="2165" y="3179"/>
              <a:ext cx="318" cy="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sp>
          <p:nvSpPr>
            <p:cNvPr id="10270" name="Rectangle 21"/>
            <p:cNvSpPr>
              <a:spLocks noChangeArrowheads="1"/>
            </p:cNvSpPr>
            <p:nvPr/>
          </p:nvSpPr>
          <p:spPr bwMode="auto">
            <a:xfrm>
              <a:off x="562" y="3166"/>
              <a:ext cx="318" cy="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</p:grpSp>
      <p:sp>
        <p:nvSpPr>
          <p:cNvPr id="10259" name="Rectangle 22"/>
          <p:cNvSpPr>
            <a:spLocks noChangeArrowheads="1"/>
          </p:cNvSpPr>
          <p:nvPr/>
        </p:nvSpPr>
        <p:spPr bwMode="auto">
          <a:xfrm>
            <a:off x="2019300" y="4876800"/>
            <a:ext cx="504825" cy="371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>
                <a:latin typeface="Arial" panose="020B0604020202020204" pitchFamily="34" charset="0"/>
              </a:rPr>
              <a:t>ions</a:t>
            </a:r>
          </a:p>
        </p:txBody>
      </p:sp>
      <p:sp>
        <p:nvSpPr>
          <p:cNvPr id="10260" name="Rectangle 23"/>
          <p:cNvSpPr>
            <a:spLocks noChangeArrowheads="1"/>
          </p:cNvSpPr>
          <p:nvPr/>
        </p:nvSpPr>
        <p:spPr bwMode="auto">
          <a:xfrm>
            <a:off x="3790950" y="4818063"/>
            <a:ext cx="1400175" cy="487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>
                <a:latin typeface="Arial" panose="020B0604020202020204" pitchFamily="34" charset="0"/>
              </a:rPr>
              <a:t>atoms &amp; ions </a:t>
            </a:r>
          </a:p>
        </p:txBody>
      </p:sp>
      <p:sp>
        <p:nvSpPr>
          <p:cNvPr id="10261" name="Rectangle 24"/>
          <p:cNvSpPr>
            <a:spLocks noChangeArrowheads="1"/>
          </p:cNvSpPr>
          <p:nvPr/>
        </p:nvSpPr>
        <p:spPr bwMode="auto">
          <a:xfrm>
            <a:off x="6808788" y="4787900"/>
            <a:ext cx="1400175" cy="4873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>
                <a:latin typeface="Arial" panose="020B0604020202020204" pitchFamily="34" charset="0"/>
              </a:rPr>
              <a:t>atom(s!) &amp; ion(s!)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>
                <a:latin typeface="Arial" panose="020B0604020202020204" pitchFamily="34" charset="0"/>
              </a:rPr>
              <a:t>clusters/molecules </a:t>
            </a:r>
          </a:p>
        </p:txBody>
      </p:sp>
      <p:sp>
        <p:nvSpPr>
          <p:cNvPr id="10263" name="Line 26"/>
          <p:cNvSpPr>
            <a:spLocks noChangeShapeType="1"/>
          </p:cNvSpPr>
          <p:nvPr/>
        </p:nvSpPr>
        <p:spPr bwMode="auto">
          <a:xfrm>
            <a:off x="801688" y="3209925"/>
            <a:ext cx="3159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4" name="Text Box 27"/>
          <p:cNvSpPr txBox="1">
            <a:spLocks noChangeArrowheads="1"/>
          </p:cNvSpPr>
          <p:nvPr/>
        </p:nvSpPr>
        <p:spPr bwMode="auto">
          <a:xfrm>
            <a:off x="703263" y="3200400"/>
            <a:ext cx="5032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1000">
                <a:solidFill>
                  <a:schemeClr val="bg1"/>
                </a:solidFill>
                <a:latin typeface="Arial" panose="020B0604020202020204" pitchFamily="34" charset="0"/>
              </a:rPr>
              <a:t>10</a:t>
            </a:r>
            <a:r>
              <a:rPr lang="en-US" altLang="de-DE" sz="1000">
                <a:solidFill>
                  <a:schemeClr val="bg1"/>
                </a:solidFill>
                <a:latin typeface="Symbol" panose="05050102010706020507" pitchFamily="18" charset="2"/>
              </a:rPr>
              <a:t>m</a:t>
            </a:r>
            <a:r>
              <a:rPr lang="en-US" altLang="de-DE" sz="1000">
                <a:solidFill>
                  <a:schemeClr val="bg1"/>
                </a:solidFill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0265" name="Line 28"/>
          <p:cNvSpPr>
            <a:spLocks noChangeShapeType="1"/>
          </p:cNvSpPr>
          <p:nvPr/>
        </p:nvSpPr>
        <p:spPr bwMode="auto">
          <a:xfrm>
            <a:off x="5638800" y="3213100"/>
            <a:ext cx="325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6" name="Text Box 29"/>
          <p:cNvSpPr txBox="1">
            <a:spLocks noChangeArrowheads="1"/>
          </p:cNvSpPr>
          <p:nvPr/>
        </p:nvSpPr>
        <p:spPr bwMode="auto">
          <a:xfrm>
            <a:off x="5540375" y="3203575"/>
            <a:ext cx="5381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1000">
                <a:latin typeface="Arial" panose="020B0604020202020204" pitchFamily="34" charset="0"/>
              </a:rPr>
              <a:t>0.1</a:t>
            </a:r>
            <a:r>
              <a:rPr lang="en-US" altLang="de-DE" sz="1000">
                <a:latin typeface="Symbol" panose="05050102010706020507" pitchFamily="18" charset="2"/>
              </a:rPr>
              <a:t>m</a:t>
            </a:r>
            <a:r>
              <a:rPr lang="en-US" altLang="de-DE" sz="1000">
                <a:latin typeface="Arial" panose="020B0604020202020204" pitchFamily="34" charset="0"/>
              </a:rPr>
              <a:t>m</a:t>
            </a:r>
          </a:p>
        </p:txBody>
      </p:sp>
      <p:pic>
        <p:nvPicPr>
          <p:cNvPr id="10267" name="Picture 30" descr="Kopie (4_blue) von Laseraufbau_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233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Schätz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930"/>
            <a:ext cx="9164970" cy="540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0" y="5229225"/>
            <a:ext cx="9144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18039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4762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0" y="-9525"/>
            <a:ext cx="91440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8038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5796529"/>
            <a:ext cx="9144000" cy="1057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0232" y="1504844"/>
            <a:ext cx="955759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why?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de-DE" sz="2400" b="1" baseline="30000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baseline="30000" dirty="0" smtClean="0">
                <a:solidFill>
                  <a:srgbClr val="FFFFFF"/>
                </a:solidFill>
                <a:latin typeface="Arial" panose="020B0604020202020204" pitchFamily="34" charset="0"/>
              </a:rPr>
              <a:t>basics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</a:t>
            </a:r>
            <a:r>
              <a:rPr lang="en-US" altLang="de-DE" sz="24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rf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+ hybrid traps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baseline="30000" dirty="0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r>
              <a:rPr lang="en-US" altLang="de-DE" sz="2400" b="1" baseline="30000" dirty="0" smtClean="0">
                <a:solidFill>
                  <a:srgbClr val="FFFFFF"/>
                </a:solidFill>
                <a:latin typeface="Arial" panose="020B0604020202020204" pitchFamily="34" charset="0"/>
              </a:rPr>
              <a:t>asics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 all optical ion </a:t>
            </a: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traps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de-DE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how?  protocol  </a:t>
            </a: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challenges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endParaRPr lang="en-US" altLang="de-DE" sz="2400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experimental results: 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- sympathetic 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cooling 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(Ba</a:t>
            </a:r>
            <a:r>
              <a:rPr lang="en-US" altLang="de-DE" sz="2400" b="1" baseline="30000" dirty="0">
                <a:solidFill>
                  <a:schemeClr val="bg1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Rb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)		      - </a:t>
            </a:r>
            <a:r>
              <a:rPr lang="en-US" altLang="de-DE" sz="2400" b="1" u="sng" dirty="0" smtClean="0">
                <a:solidFill>
                  <a:schemeClr val="bg1"/>
                </a:solidFill>
                <a:latin typeface="Arial" panose="020B0604020202020204" pitchFamily="34" charset="0"/>
              </a:rPr>
              <a:t>pure   ODT</a:t>
            </a:r>
            <a:endParaRPr lang="en-US" altLang="de-DE" sz="2400" b="1" u="sng" dirty="0" smtClean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	- controlling ion-atom interaction (Ba</a:t>
            </a:r>
            <a:r>
              <a:rPr lang="en-US" altLang="de-DE" sz="2400" b="1" baseline="30000" dirty="0" smtClean="0">
                <a:solidFill>
                  <a:schemeClr val="bg1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Li) - </a:t>
            </a:r>
            <a:r>
              <a:rPr lang="en-US" altLang="de-DE" sz="2400" b="1" u="sng" dirty="0" smtClean="0">
                <a:solidFill>
                  <a:schemeClr val="bg1"/>
                </a:solidFill>
                <a:latin typeface="Arial" panose="020B0604020202020204" pitchFamily="34" charset="0"/>
              </a:rPr>
              <a:t>still hybrid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                                                                                 + some basics  </a:t>
            </a:r>
            <a:endParaRPr lang="en-US" altLang="de-DE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1" hangingPunct="1">
              <a:spcBef>
                <a:spcPct val="0"/>
              </a:spcBef>
              <a:buFont typeface="Wingdings" panose="05000000000000000000" pitchFamily="2" charset="2"/>
              <a:buChar char="è"/>
              <a:defRPr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Whither TIAMO/</a:t>
            </a:r>
            <a:r>
              <a:rPr lang="en-US" altLang="de-DE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BaLiLaB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ions</a:t>
            </a:r>
            <a:b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	- 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ultra-cold 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interaction/chemistry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	- towards quantum phase transitions</a:t>
            </a:r>
            <a:endParaRPr lang="en-US" altLang="de-DE" sz="2400" b="1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de-DE" sz="2400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55750" y="492194"/>
            <a:ext cx="4592638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4800" dirty="0">
                <a:solidFill>
                  <a:srgbClr val="FFFFFF"/>
                </a:solidFill>
                <a:latin typeface="Arial" panose="020B0604020202020204" pitchFamily="34" charset="0"/>
              </a:rPr>
              <a:t>TIAMO - Outline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7000" y="184219"/>
            <a:ext cx="662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400" dirty="0">
                <a:solidFill>
                  <a:srgbClr val="FFFFFF"/>
                </a:solidFill>
                <a:latin typeface="Arial" panose="020B0604020202020204" pitchFamily="34" charset="0"/>
              </a:rPr>
              <a:t>Trapping Ions in Atoms and Molecules Optically</a:t>
            </a:r>
          </a:p>
        </p:txBody>
      </p:sp>
    </p:spTree>
    <p:extLst>
      <p:ext uri="{BB962C8B-B14F-4D97-AF65-F5344CB8AC3E}">
        <p14:creationId xmlns:p14="http://schemas.microsoft.com/office/powerpoint/2010/main" val="34484061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  <a:noFill/>
        </p:spPr>
        <p:txBody>
          <a:bodyPr/>
          <a:lstStyle/>
          <a:p>
            <a:pPr eaLnBrk="1" hangingPunct="1"/>
            <a:r>
              <a:rPr lang="en-US" altLang="de-DE" sz="3200" b="1" smtClean="0">
                <a:solidFill>
                  <a:schemeClr val="tx1"/>
                </a:solidFill>
                <a:latin typeface="Arial" panose="020B0604020202020204" pitchFamily="34" charset="0"/>
              </a:rPr>
              <a:t>Werkzeug: die lineare Paul Falle</a:t>
            </a:r>
            <a:r>
              <a:rPr lang="en-US" altLang="de-DE" sz="3600" smtClean="0">
                <a:solidFill>
                  <a:srgbClr val="0066FF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2293" name="Text Box 9"/>
          <p:cNvSpPr txBox="1">
            <a:spLocks noChangeArrowheads="1"/>
          </p:cNvSpPr>
          <p:nvPr/>
        </p:nvSpPr>
        <p:spPr bwMode="auto">
          <a:xfrm>
            <a:off x="3174397" y="1142999"/>
            <a:ext cx="19159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1600" dirty="0"/>
              <a:t>ac quadrupole field</a:t>
            </a:r>
          </a:p>
        </p:txBody>
      </p:sp>
      <p:sp>
        <p:nvSpPr>
          <p:cNvPr id="12294" name="Text Box 10"/>
          <p:cNvSpPr txBox="1">
            <a:spLocks noChangeArrowheads="1"/>
          </p:cNvSpPr>
          <p:nvPr/>
        </p:nvSpPr>
        <p:spPr bwMode="auto">
          <a:xfrm>
            <a:off x="3152155" y="914400"/>
            <a:ext cx="19224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1600" dirty="0"/>
              <a:t>radial cross section</a:t>
            </a:r>
          </a:p>
        </p:txBody>
      </p:sp>
      <p:sp>
        <p:nvSpPr>
          <p:cNvPr id="12295" name="Rectangle 11"/>
          <p:cNvSpPr>
            <a:spLocks noChangeArrowheads="1"/>
          </p:cNvSpPr>
          <p:nvPr/>
        </p:nvSpPr>
        <p:spPr bwMode="auto">
          <a:xfrm>
            <a:off x="6248400" y="3276600"/>
            <a:ext cx="23622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DE" altLang="en-US"/>
          </a:p>
        </p:txBody>
      </p:sp>
      <p:sp>
        <p:nvSpPr>
          <p:cNvPr id="12296" name="Line 12"/>
          <p:cNvSpPr>
            <a:spLocks noChangeShapeType="1"/>
          </p:cNvSpPr>
          <p:nvPr/>
        </p:nvSpPr>
        <p:spPr bwMode="auto">
          <a:xfrm>
            <a:off x="76200" y="685800"/>
            <a:ext cx="88392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2297" name="Group 13"/>
          <p:cNvGrpSpPr>
            <a:grpSpLocks/>
          </p:cNvGrpSpPr>
          <p:nvPr/>
        </p:nvGrpSpPr>
        <p:grpSpPr bwMode="auto">
          <a:xfrm>
            <a:off x="2847355" y="1638300"/>
            <a:ext cx="2590800" cy="1866900"/>
            <a:chOff x="5520" y="672"/>
            <a:chExt cx="1632" cy="1176"/>
          </a:xfrm>
        </p:grpSpPr>
        <p:grpSp>
          <p:nvGrpSpPr>
            <p:cNvPr id="12368" name="Group 14"/>
            <p:cNvGrpSpPr>
              <a:grpSpLocks/>
            </p:cNvGrpSpPr>
            <p:nvPr/>
          </p:nvGrpSpPr>
          <p:grpSpPr bwMode="auto">
            <a:xfrm>
              <a:off x="5520" y="744"/>
              <a:ext cx="1632" cy="720"/>
              <a:chOff x="1536" y="1392"/>
              <a:chExt cx="1632" cy="720"/>
            </a:xfrm>
          </p:grpSpPr>
          <p:pic>
            <p:nvPicPr>
              <p:cNvPr id="12387" name="Picture 15" descr="trap cross section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6" y="1392"/>
                <a:ext cx="1632" cy="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88" name="Rectangle 16"/>
              <p:cNvSpPr>
                <a:spLocks noChangeArrowheads="1"/>
              </p:cNvSpPr>
              <p:nvPr/>
            </p:nvSpPr>
            <p:spPr bwMode="auto">
              <a:xfrm>
                <a:off x="1536" y="1392"/>
                <a:ext cx="672" cy="7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89" name="Rectangle 17"/>
              <p:cNvSpPr>
                <a:spLocks noChangeArrowheads="1"/>
              </p:cNvSpPr>
              <p:nvPr/>
            </p:nvSpPr>
            <p:spPr bwMode="auto">
              <a:xfrm>
                <a:off x="2496" y="1392"/>
                <a:ext cx="672" cy="7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</p:grpSp>
        <p:sp>
          <p:nvSpPr>
            <p:cNvPr id="12369" name="Oval 18"/>
            <p:cNvSpPr>
              <a:spLocks noChangeArrowheads="1"/>
            </p:cNvSpPr>
            <p:nvPr/>
          </p:nvSpPr>
          <p:spPr bwMode="auto">
            <a:xfrm>
              <a:off x="5816" y="672"/>
              <a:ext cx="336" cy="3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en-US"/>
            </a:p>
          </p:txBody>
        </p:sp>
        <p:sp>
          <p:nvSpPr>
            <p:cNvPr id="12370" name="Oval 19"/>
            <p:cNvSpPr>
              <a:spLocks noChangeArrowheads="1"/>
            </p:cNvSpPr>
            <p:nvPr/>
          </p:nvSpPr>
          <p:spPr bwMode="auto">
            <a:xfrm>
              <a:off x="6536" y="1216"/>
              <a:ext cx="336" cy="3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en-US"/>
            </a:p>
          </p:txBody>
        </p:sp>
        <p:sp>
          <p:nvSpPr>
            <p:cNvPr id="12371" name="Oval 20"/>
            <p:cNvSpPr>
              <a:spLocks noChangeArrowheads="1"/>
            </p:cNvSpPr>
            <p:nvPr/>
          </p:nvSpPr>
          <p:spPr bwMode="auto">
            <a:xfrm>
              <a:off x="5824" y="1200"/>
              <a:ext cx="336" cy="33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en-US"/>
            </a:p>
          </p:txBody>
        </p:sp>
        <p:sp>
          <p:nvSpPr>
            <p:cNvPr id="12372" name="Oval 21"/>
            <p:cNvSpPr>
              <a:spLocks noChangeArrowheads="1"/>
            </p:cNvSpPr>
            <p:nvPr/>
          </p:nvSpPr>
          <p:spPr bwMode="auto">
            <a:xfrm>
              <a:off x="6536" y="672"/>
              <a:ext cx="336" cy="33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en-US"/>
            </a:p>
          </p:txBody>
        </p:sp>
        <p:sp>
          <p:nvSpPr>
            <p:cNvPr id="12373" name="Line 22"/>
            <p:cNvSpPr>
              <a:spLocks noChangeShapeType="1"/>
            </p:cNvSpPr>
            <p:nvPr/>
          </p:nvSpPr>
          <p:spPr bwMode="auto">
            <a:xfrm flipH="1">
              <a:off x="5520" y="8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74" name="Line 23"/>
            <p:cNvSpPr>
              <a:spLocks noChangeShapeType="1"/>
            </p:cNvSpPr>
            <p:nvPr/>
          </p:nvSpPr>
          <p:spPr bwMode="auto">
            <a:xfrm flipV="1">
              <a:off x="5520" y="84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75" name="Line 24"/>
            <p:cNvSpPr>
              <a:spLocks noChangeShapeType="1"/>
            </p:cNvSpPr>
            <p:nvPr/>
          </p:nvSpPr>
          <p:spPr bwMode="auto">
            <a:xfrm>
              <a:off x="5520" y="1608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76" name="Line 25"/>
            <p:cNvSpPr>
              <a:spLocks noChangeShapeType="1"/>
            </p:cNvSpPr>
            <p:nvPr/>
          </p:nvSpPr>
          <p:spPr bwMode="auto">
            <a:xfrm flipV="1">
              <a:off x="6720" y="156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77" name="Line 26"/>
            <p:cNvSpPr>
              <a:spLocks noChangeShapeType="1"/>
            </p:cNvSpPr>
            <p:nvPr/>
          </p:nvSpPr>
          <p:spPr bwMode="auto">
            <a:xfrm>
              <a:off x="6864" y="8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78" name="Line 27"/>
            <p:cNvSpPr>
              <a:spLocks noChangeShapeType="1"/>
            </p:cNvSpPr>
            <p:nvPr/>
          </p:nvSpPr>
          <p:spPr bwMode="auto">
            <a:xfrm>
              <a:off x="7008" y="84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79" name="Line 28"/>
            <p:cNvSpPr>
              <a:spLocks noChangeShapeType="1"/>
            </p:cNvSpPr>
            <p:nvPr/>
          </p:nvSpPr>
          <p:spPr bwMode="auto">
            <a:xfrm flipH="1">
              <a:off x="6000" y="184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80" name="Line 29"/>
            <p:cNvSpPr>
              <a:spLocks noChangeShapeType="1"/>
            </p:cNvSpPr>
            <p:nvPr/>
          </p:nvSpPr>
          <p:spPr bwMode="auto">
            <a:xfrm flipV="1">
              <a:off x="6000" y="16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81" name="Line 30"/>
            <p:cNvSpPr>
              <a:spLocks noChangeShapeType="1"/>
            </p:cNvSpPr>
            <p:nvPr/>
          </p:nvSpPr>
          <p:spPr bwMode="auto">
            <a:xfrm flipV="1">
              <a:off x="6000" y="1512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82" name="Freeform 31"/>
            <p:cNvSpPr>
              <a:spLocks/>
            </p:cNvSpPr>
            <p:nvPr/>
          </p:nvSpPr>
          <p:spPr bwMode="auto">
            <a:xfrm>
              <a:off x="5952" y="1560"/>
              <a:ext cx="48" cy="96"/>
            </a:xfrm>
            <a:custGeom>
              <a:avLst/>
              <a:gdLst>
                <a:gd name="T0" fmla="*/ 48 w 48"/>
                <a:gd name="T1" fmla="*/ 96 h 96"/>
                <a:gd name="T2" fmla="*/ 0 w 48"/>
                <a:gd name="T3" fmla="*/ 48 h 96"/>
                <a:gd name="T4" fmla="*/ 48 w 48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96">
                  <a:moveTo>
                    <a:pt x="48" y="96"/>
                  </a:moveTo>
                  <a:cubicBezTo>
                    <a:pt x="24" y="80"/>
                    <a:pt x="0" y="64"/>
                    <a:pt x="0" y="48"/>
                  </a:cubicBezTo>
                  <a:cubicBezTo>
                    <a:pt x="0" y="32"/>
                    <a:pt x="24" y="16"/>
                    <a:pt x="4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83" name="Line 32"/>
            <p:cNvSpPr>
              <a:spLocks noChangeShapeType="1"/>
            </p:cNvSpPr>
            <p:nvPr/>
          </p:nvSpPr>
          <p:spPr bwMode="auto">
            <a:xfrm>
              <a:off x="6384" y="16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84" name="Line 33"/>
            <p:cNvSpPr>
              <a:spLocks noChangeShapeType="1"/>
            </p:cNvSpPr>
            <p:nvPr/>
          </p:nvSpPr>
          <p:spPr bwMode="auto">
            <a:xfrm>
              <a:off x="6384" y="175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85" name="Oval 34"/>
            <p:cNvSpPr>
              <a:spLocks noChangeArrowheads="1"/>
            </p:cNvSpPr>
            <p:nvPr/>
          </p:nvSpPr>
          <p:spPr bwMode="auto">
            <a:xfrm>
              <a:off x="6368" y="1744"/>
              <a:ext cx="48" cy="4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en-US"/>
            </a:p>
          </p:txBody>
        </p:sp>
        <p:sp>
          <p:nvSpPr>
            <p:cNvPr id="12386" name="Oval 35"/>
            <p:cNvSpPr>
              <a:spLocks noChangeArrowheads="1"/>
            </p:cNvSpPr>
            <p:nvPr/>
          </p:nvSpPr>
          <p:spPr bwMode="auto">
            <a:xfrm>
              <a:off x="6368" y="1664"/>
              <a:ext cx="48" cy="4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en-US"/>
            </a:p>
          </p:txBody>
        </p:sp>
      </p:grpSp>
      <p:sp>
        <p:nvSpPr>
          <p:cNvPr id="12298" name="Text Box 36"/>
          <p:cNvSpPr txBox="1">
            <a:spLocks noChangeArrowheads="1"/>
          </p:cNvSpPr>
          <p:nvPr/>
        </p:nvSpPr>
        <p:spPr bwMode="auto">
          <a:xfrm>
            <a:off x="4269755" y="3125788"/>
            <a:ext cx="546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1800" b="1"/>
              <a:t>~ rf</a:t>
            </a:r>
          </a:p>
        </p:txBody>
      </p:sp>
      <p:grpSp>
        <p:nvGrpSpPr>
          <p:cNvPr id="12299" name="Group 49"/>
          <p:cNvGrpSpPr>
            <a:grpSpLocks/>
          </p:cNvGrpSpPr>
          <p:nvPr/>
        </p:nvGrpSpPr>
        <p:grpSpPr bwMode="auto">
          <a:xfrm>
            <a:off x="4419600" y="3733800"/>
            <a:ext cx="4648200" cy="2889250"/>
            <a:chOff x="2784" y="2352"/>
            <a:chExt cx="2928" cy="1820"/>
          </a:xfrm>
        </p:grpSpPr>
        <p:grpSp>
          <p:nvGrpSpPr>
            <p:cNvPr id="12354" name="Group 50"/>
            <p:cNvGrpSpPr>
              <a:grpSpLocks/>
            </p:cNvGrpSpPr>
            <p:nvPr/>
          </p:nvGrpSpPr>
          <p:grpSpPr bwMode="auto">
            <a:xfrm>
              <a:off x="2784" y="2592"/>
              <a:ext cx="2928" cy="1580"/>
              <a:chOff x="2784" y="2592"/>
              <a:chExt cx="2928" cy="1580"/>
            </a:xfrm>
          </p:grpSpPr>
          <p:grpSp>
            <p:nvGrpSpPr>
              <p:cNvPr id="12356" name="Group 51"/>
              <p:cNvGrpSpPr>
                <a:grpSpLocks/>
              </p:cNvGrpSpPr>
              <p:nvPr/>
            </p:nvGrpSpPr>
            <p:grpSpPr bwMode="auto">
              <a:xfrm>
                <a:off x="2784" y="2592"/>
                <a:ext cx="2928" cy="1056"/>
                <a:chOff x="864" y="432"/>
                <a:chExt cx="2928" cy="1056"/>
              </a:xfrm>
            </p:grpSpPr>
            <p:grpSp>
              <p:nvGrpSpPr>
                <p:cNvPr id="12358" name="Group 52"/>
                <p:cNvGrpSpPr>
                  <a:grpSpLocks/>
                </p:cNvGrpSpPr>
                <p:nvPr/>
              </p:nvGrpSpPr>
              <p:grpSpPr bwMode="auto">
                <a:xfrm>
                  <a:off x="1248" y="432"/>
                  <a:ext cx="1488" cy="1056"/>
                  <a:chOff x="1248" y="432"/>
                  <a:chExt cx="2448" cy="1968"/>
                </a:xfrm>
              </p:grpSpPr>
              <p:sp>
                <p:nvSpPr>
                  <p:cNvPr id="12364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432"/>
                    <a:ext cx="672" cy="1968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de-DE" altLang="en-US"/>
                  </a:p>
                </p:txBody>
              </p:sp>
              <p:sp>
                <p:nvSpPr>
                  <p:cNvPr id="12365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432"/>
                    <a:ext cx="384" cy="196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de-DE" altLang="en-US"/>
                  </a:p>
                </p:txBody>
              </p:sp>
              <p:sp>
                <p:nvSpPr>
                  <p:cNvPr id="12366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1920" y="432"/>
                    <a:ext cx="384" cy="196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de-DE" altLang="en-US"/>
                  </a:p>
                </p:txBody>
              </p:sp>
              <p:sp>
                <p:nvSpPr>
                  <p:cNvPr id="12367" name="Oval 56"/>
                  <p:cNvSpPr>
                    <a:spLocks noChangeArrowheads="1"/>
                  </p:cNvSpPr>
                  <p:nvPr/>
                </p:nvSpPr>
                <p:spPr bwMode="auto">
                  <a:xfrm>
                    <a:off x="3312" y="432"/>
                    <a:ext cx="384" cy="1968"/>
                  </a:xfrm>
                  <a:prstGeom prst="ellipse">
                    <a:avLst/>
                  </a:prstGeom>
                  <a:solidFill>
                    <a:srgbClr val="0000FF"/>
                  </a:solidFill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de-DE" altLang="en-US"/>
                  </a:p>
                </p:txBody>
              </p:sp>
            </p:grpSp>
            <p:sp>
              <p:nvSpPr>
                <p:cNvPr id="12359" name="Line 57"/>
                <p:cNvSpPr>
                  <a:spLocks noChangeShapeType="1"/>
                </p:cNvSpPr>
                <p:nvPr/>
              </p:nvSpPr>
              <p:spPr bwMode="auto">
                <a:xfrm>
                  <a:off x="864" y="960"/>
                  <a:ext cx="29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12360" name="Group 58"/>
                <p:cNvGrpSpPr>
                  <a:grpSpLocks/>
                </p:cNvGrpSpPr>
                <p:nvPr/>
              </p:nvGrpSpPr>
              <p:grpSpPr bwMode="auto">
                <a:xfrm>
                  <a:off x="864" y="624"/>
                  <a:ext cx="2928" cy="288"/>
                  <a:chOff x="864" y="624"/>
                  <a:chExt cx="2928" cy="288"/>
                </a:xfrm>
              </p:grpSpPr>
              <p:sp>
                <p:nvSpPr>
                  <p:cNvPr id="12361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864" y="768"/>
                    <a:ext cx="720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362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84" y="624"/>
                    <a:ext cx="1056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363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640" y="624"/>
                    <a:ext cx="1152" cy="288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12357" name="Text Box 62"/>
              <p:cNvSpPr txBox="1">
                <a:spLocks noChangeArrowheads="1"/>
              </p:cNvSpPr>
              <p:nvPr/>
            </p:nvSpPr>
            <p:spPr bwMode="auto">
              <a:xfrm>
                <a:off x="2880" y="3654"/>
                <a:ext cx="217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de-DE" dirty="0"/>
                  <a:t>defocusing  +  focusing</a:t>
                </a:r>
                <a:br>
                  <a:rPr lang="en-US" altLang="de-DE" dirty="0"/>
                </a:br>
                <a:r>
                  <a:rPr lang="en-US" altLang="de-DE" dirty="0"/>
                  <a:t>(storage ring simulation)</a:t>
                </a:r>
              </a:p>
            </p:txBody>
          </p:sp>
        </p:grpSp>
        <p:sp>
          <p:nvSpPr>
            <p:cNvPr id="12355" name="Text Box 63"/>
            <p:cNvSpPr txBox="1">
              <a:spLocks noChangeArrowheads="1"/>
            </p:cNvSpPr>
            <p:nvPr/>
          </p:nvSpPr>
          <p:spPr bwMode="auto">
            <a:xfrm>
              <a:off x="4848" y="2352"/>
              <a:ext cx="84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de-DE" dirty="0"/>
                <a:t>over all: </a:t>
              </a:r>
            </a:p>
            <a:p>
              <a:pPr eaLnBrk="1" hangingPunct="1"/>
              <a:r>
                <a:rPr lang="en-US" altLang="de-DE" dirty="0"/>
                <a:t>focusing</a:t>
              </a:r>
            </a:p>
          </p:txBody>
        </p:sp>
      </p:grpSp>
      <p:grpSp>
        <p:nvGrpSpPr>
          <p:cNvPr id="12300" name="Group 64"/>
          <p:cNvGrpSpPr>
            <a:grpSpLocks/>
          </p:cNvGrpSpPr>
          <p:nvPr/>
        </p:nvGrpSpPr>
        <p:grpSpPr bwMode="auto">
          <a:xfrm>
            <a:off x="304800" y="3733800"/>
            <a:ext cx="3962400" cy="2971800"/>
            <a:chOff x="192" y="2352"/>
            <a:chExt cx="2496" cy="1872"/>
          </a:xfrm>
        </p:grpSpPr>
        <p:grpSp>
          <p:nvGrpSpPr>
            <p:cNvPr id="12340" name="Group 65"/>
            <p:cNvGrpSpPr>
              <a:grpSpLocks/>
            </p:cNvGrpSpPr>
            <p:nvPr/>
          </p:nvGrpSpPr>
          <p:grpSpPr bwMode="auto">
            <a:xfrm>
              <a:off x="192" y="2592"/>
              <a:ext cx="2400" cy="1056"/>
              <a:chOff x="1056" y="2400"/>
              <a:chExt cx="2400" cy="1056"/>
            </a:xfrm>
          </p:grpSpPr>
          <p:sp>
            <p:nvSpPr>
              <p:cNvPr id="12342" name="Oval 66"/>
              <p:cNvSpPr>
                <a:spLocks noChangeArrowheads="1"/>
              </p:cNvSpPr>
              <p:nvPr/>
            </p:nvSpPr>
            <p:spPr bwMode="auto">
              <a:xfrm>
                <a:off x="1872" y="2400"/>
                <a:ext cx="233" cy="1056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43" name="Line 67"/>
              <p:cNvSpPr>
                <a:spLocks noChangeShapeType="1"/>
              </p:cNvSpPr>
              <p:nvPr/>
            </p:nvSpPr>
            <p:spPr bwMode="auto">
              <a:xfrm>
                <a:off x="1056" y="2928"/>
                <a:ext cx="23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44" name="Line 68"/>
              <p:cNvSpPr>
                <a:spLocks noChangeShapeType="1"/>
              </p:cNvSpPr>
              <p:nvPr/>
            </p:nvSpPr>
            <p:spPr bwMode="auto">
              <a:xfrm>
                <a:off x="1056" y="2592"/>
                <a:ext cx="9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45" name="Line 69"/>
              <p:cNvSpPr>
                <a:spLocks noChangeShapeType="1"/>
              </p:cNvSpPr>
              <p:nvPr/>
            </p:nvSpPr>
            <p:spPr bwMode="auto">
              <a:xfrm>
                <a:off x="1056" y="3264"/>
                <a:ext cx="9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46" name="Line 70"/>
              <p:cNvSpPr>
                <a:spLocks noChangeShapeType="1"/>
              </p:cNvSpPr>
              <p:nvPr/>
            </p:nvSpPr>
            <p:spPr bwMode="auto">
              <a:xfrm>
                <a:off x="1056" y="2784"/>
                <a:ext cx="9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47" name="Line 71"/>
              <p:cNvSpPr>
                <a:spLocks noChangeShapeType="1"/>
              </p:cNvSpPr>
              <p:nvPr/>
            </p:nvSpPr>
            <p:spPr bwMode="auto">
              <a:xfrm>
                <a:off x="1056" y="3072"/>
                <a:ext cx="9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48" name="Line 72"/>
              <p:cNvSpPr>
                <a:spLocks noChangeShapeType="1"/>
              </p:cNvSpPr>
              <p:nvPr/>
            </p:nvSpPr>
            <p:spPr bwMode="auto">
              <a:xfrm>
                <a:off x="2880" y="288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49" name="Text Box 73"/>
              <p:cNvSpPr txBox="1">
                <a:spLocks noChangeArrowheads="1"/>
              </p:cNvSpPr>
              <p:nvPr/>
            </p:nvSpPr>
            <p:spPr bwMode="auto">
              <a:xfrm>
                <a:off x="2784" y="3024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de-DE"/>
                  <a:t>f</a:t>
                </a:r>
              </a:p>
            </p:txBody>
          </p:sp>
          <p:sp>
            <p:nvSpPr>
              <p:cNvPr id="12350" name="Line 74"/>
              <p:cNvSpPr>
                <a:spLocks noChangeShapeType="1"/>
              </p:cNvSpPr>
              <p:nvPr/>
            </p:nvSpPr>
            <p:spPr bwMode="auto">
              <a:xfrm>
                <a:off x="2016" y="2592"/>
                <a:ext cx="1440" cy="5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51" name="Line 75"/>
              <p:cNvSpPr>
                <a:spLocks noChangeShapeType="1"/>
              </p:cNvSpPr>
              <p:nvPr/>
            </p:nvSpPr>
            <p:spPr bwMode="auto">
              <a:xfrm flipV="1">
                <a:off x="2016" y="2688"/>
                <a:ext cx="1440" cy="5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52" name="Line 76"/>
              <p:cNvSpPr>
                <a:spLocks noChangeShapeType="1"/>
              </p:cNvSpPr>
              <p:nvPr/>
            </p:nvSpPr>
            <p:spPr bwMode="auto">
              <a:xfrm>
                <a:off x="2016" y="2784"/>
                <a:ext cx="144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53" name="Line 77"/>
              <p:cNvSpPr>
                <a:spLocks noChangeShapeType="1"/>
              </p:cNvSpPr>
              <p:nvPr/>
            </p:nvSpPr>
            <p:spPr bwMode="auto">
              <a:xfrm flipV="1">
                <a:off x="2016" y="2832"/>
                <a:ext cx="144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2341" name="Line 78"/>
            <p:cNvSpPr>
              <a:spLocks noChangeShapeType="1"/>
            </p:cNvSpPr>
            <p:nvPr/>
          </p:nvSpPr>
          <p:spPr bwMode="auto">
            <a:xfrm>
              <a:off x="2688" y="2352"/>
              <a:ext cx="0" cy="1872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301" name="Line 79"/>
          <p:cNvSpPr>
            <a:spLocks noChangeShapeType="1"/>
          </p:cNvSpPr>
          <p:nvPr/>
        </p:nvSpPr>
        <p:spPr bwMode="auto">
          <a:xfrm>
            <a:off x="152400" y="3581400"/>
            <a:ext cx="88392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12302" name="Picture 8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03" name="Text Box 85"/>
          <p:cNvSpPr txBox="1">
            <a:spLocks noChangeArrowheads="1"/>
          </p:cNvSpPr>
          <p:nvPr/>
        </p:nvSpPr>
        <p:spPr bwMode="auto">
          <a:xfrm>
            <a:off x="389536" y="38100"/>
            <a:ext cx="7245204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de-DE" sz="3000" dirty="0" smtClean="0">
                <a:solidFill>
                  <a:schemeClr val="bg1"/>
                </a:solidFill>
              </a:rPr>
              <a:t>Paul-trap “simulation” - basics</a:t>
            </a:r>
            <a:endParaRPr lang="en-US" altLang="de-DE" sz="3600" dirty="0">
              <a:solidFill>
                <a:srgbClr val="0066FF"/>
              </a:solidFill>
            </a:endParaRPr>
          </a:p>
        </p:txBody>
      </p:sp>
      <p:pic>
        <p:nvPicPr>
          <p:cNvPr id="12304" name="Picture 8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4356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305" name="Group 87"/>
          <p:cNvGrpSpPr>
            <a:grpSpLocks/>
          </p:cNvGrpSpPr>
          <p:nvPr/>
        </p:nvGrpSpPr>
        <p:grpSpPr bwMode="auto">
          <a:xfrm>
            <a:off x="8256588" y="169863"/>
            <a:ext cx="615950" cy="581025"/>
            <a:chOff x="5201" y="107"/>
            <a:chExt cx="388" cy="366"/>
          </a:xfrm>
        </p:grpSpPr>
        <p:sp>
          <p:nvSpPr>
            <p:cNvPr id="12308" name="Rectangle 88"/>
            <p:cNvSpPr>
              <a:spLocks noChangeArrowheads="1"/>
            </p:cNvSpPr>
            <p:nvPr/>
          </p:nvSpPr>
          <p:spPr bwMode="auto">
            <a:xfrm>
              <a:off x="5201" y="107"/>
              <a:ext cx="388" cy="366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en-US"/>
            </a:p>
          </p:txBody>
        </p:sp>
        <p:sp>
          <p:nvSpPr>
            <p:cNvPr id="12309" name="Freeform 89"/>
            <p:cNvSpPr>
              <a:spLocks/>
            </p:cNvSpPr>
            <p:nvPr/>
          </p:nvSpPr>
          <p:spPr bwMode="auto">
            <a:xfrm>
              <a:off x="5306" y="281"/>
              <a:ext cx="200" cy="40"/>
            </a:xfrm>
            <a:custGeom>
              <a:avLst/>
              <a:gdLst>
                <a:gd name="T0" fmla="*/ 0 w 684"/>
                <a:gd name="T1" fmla="*/ 23 h 286"/>
                <a:gd name="T2" fmla="*/ 30 w 684"/>
                <a:gd name="T3" fmla="*/ 3 h 286"/>
                <a:gd name="T4" fmla="*/ 63 w 684"/>
                <a:gd name="T5" fmla="*/ 39 h 286"/>
                <a:gd name="T6" fmla="*/ 100 w 684"/>
                <a:gd name="T7" fmla="*/ 0 h 286"/>
                <a:gd name="T8" fmla="*/ 135 w 684"/>
                <a:gd name="T9" fmla="*/ 40 h 286"/>
                <a:gd name="T10" fmla="*/ 168 w 684"/>
                <a:gd name="T11" fmla="*/ 3 h 286"/>
                <a:gd name="T12" fmla="*/ 200 w 684"/>
                <a:gd name="T13" fmla="*/ 26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2310" name="Group 90"/>
            <p:cNvGrpSpPr>
              <a:grpSpLocks/>
            </p:cNvGrpSpPr>
            <p:nvPr/>
          </p:nvGrpSpPr>
          <p:grpSpPr bwMode="auto">
            <a:xfrm>
              <a:off x="5380" y="267"/>
              <a:ext cx="57" cy="55"/>
              <a:chOff x="748" y="1661"/>
              <a:chExt cx="1406" cy="1361"/>
            </a:xfrm>
          </p:grpSpPr>
          <p:sp>
            <p:nvSpPr>
              <p:cNvPr id="12337" name="Oval 91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38" name="Oval 92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39" name="Oval 93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</p:grpSp>
        <p:grpSp>
          <p:nvGrpSpPr>
            <p:cNvPr id="12311" name="Group 94"/>
            <p:cNvGrpSpPr>
              <a:grpSpLocks/>
            </p:cNvGrpSpPr>
            <p:nvPr/>
          </p:nvGrpSpPr>
          <p:grpSpPr bwMode="auto">
            <a:xfrm>
              <a:off x="5482" y="253"/>
              <a:ext cx="89" cy="82"/>
              <a:chOff x="748" y="1661"/>
              <a:chExt cx="1406" cy="1361"/>
            </a:xfrm>
          </p:grpSpPr>
          <p:sp>
            <p:nvSpPr>
              <p:cNvPr id="12334" name="Oval 95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35" name="Oval 96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36" name="Oval 97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</p:grpSp>
        <p:grpSp>
          <p:nvGrpSpPr>
            <p:cNvPr id="12312" name="Group 98"/>
            <p:cNvGrpSpPr>
              <a:grpSpLocks/>
            </p:cNvGrpSpPr>
            <p:nvPr/>
          </p:nvGrpSpPr>
          <p:grpSpPr bwMode="auto">
            <a:xfrm>
              <a:off x="5217" y="219"/>
              <a:ext cx="173" cy="161"/>
              <a:chOff x="3937" y="2314"/>
              <a:chExt cx="217" cy="204"/>
            </a:xfrm>
          </p:grpSpPr>
          <p:grpSp>
            <p:nvGrpSpPr>
              <p:cNvPr id="12322" name="Group 99"/>
              <p:cNvGrpSpPr>
                <a:grpSpLocks/>
              </p:cNvGrpSpPr>
              <p:nvPr/>
            </p:nvGrpSpPr>
            <p:grpSpPr bwMode="auto">
              <a:xfrm rot="-3911151">
                <a:off x="4090" y="2291"/>
                <a:ext cx="41" cy="87"/>
                <a:chOff x="3424" y="2069"/>
                <a:chExt cx="92" cy="182"/>
              </a:xfrm>
            </p:grpSpPr>
            <p:sp>
              <p:nvSpPr>
                <p:cNvPr id="12332" name="Freeform 100"/>
                <p:cNvSpPr>
                  <a:spLocks/>
                </p:cNvSpPr>
                <p:nvPr/>
              </p:nvSpPr>
              <p:spPr bwMode="auto">
                <a:xfrm flipH="1">
                  <a:off x="3424" y="2069"/>
                  <a:ext cx="46" cy="182"/>
                </a:xfrm>
                <a:custGeom>
                  <a:avLst/>
                  <a:gdLst>
                    <a:gd name="T0" fmla="*/ 46 w 91"/>
                    <a:gd name="T1" fmla="*/ 0 h 182"/>
                    <a:gd name="T2" fmla="*/ 0 w 91"/>
                    <a:gd name="T3" fmla="*/ 91 h 182"/>
                    <a:gd name="T4" fmla="*/ 46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33" name="Freeform 101"/>
                <p:cNvSpPr>
                  <a:spLocks/>
                </p:cNvSpPr>
                <p:nvPr/>
              </p:nvSpPr>
              <p:spPr bwMode="auto">
                <a:xfrm flipH="1">
                  <a:off x="3470" y="2069"/>
                  <a:ext cx="46" cy="182"/>
                </a:xfrm>
                <a:custGeom>
                  <a:avLst/>
                  <a:gdLst>
                    <a:gd name="T0" fmla="*/ 46 w 91"/>
                    <a:gd name="T1" fmla="*/ 0 h 182"/>
                    <a:gd name="T2" fmla="*/ 0 w 91"/>
                    <a:gd name="T3" fmla="*/ 91 h 182"/>
                    <a:gd name="T4" fmla="*/ 46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2323" name="Group 102"/>
              <p:cNvGrpSpPr>
                <a:grpSpLocks/>
              </p:cNvGrpSpPr>
              <p:nvPr/>
            </p:nvGrpSpPr>
            <p:grpSpPr bwMode="auto">
              <a:xfrm rot="3248643">
                <a:off x="4090" y="2454"/>
                <a:ext cx="41" cy="87"/>
                <a:chOff x="3424" y="2069"/>
                <a:chExt cx="92" cy="182"/>
              </a:xfrm>
            </p:grpSpPr>
            <p:sp>
              <p:nvSpPr>
                <p:cNvPr id="12330" name="Freeform 103"/>
                <p:cNvSpPr>
                  <a:spLocks/>
                </p:cNvSpPr>
                <p:nvPr/>
              </p:nvSpPr>
              <p:spPr bwMode="auto">
                <a:xfrm flipH="1">
                  <a:off x="3424" y="2069"/>
                  <a:ext cx="46" cy="182"/>
                </a:xfrm>
                <a:custGeom>
                  <a:avLst/>
                  <a:gdLst>
                    <a:gd name="T0" fmla="*/ 46 w 91"/>
                    <a:gd name="T1" fmla="*/ 0 h 182"/>
                    <a:gd name="T2" fmla="*/ 0 w 91"/>
                    <a:gd name="T3" fmla="*/ 91 h 182"/>
                    <a:gd name="T4" fmla="*/ 46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31" name="Freeform 104"/>
                <p:cNvSpPr>
                  <a:spLocks/>
                </p:cNvSpPr>
                <p:nvPr/>
              </p:nvSpPr>
              <p:spPr bwMode="auto">
                <a:xfrm flipH="1">
                  <a:off x="3470" y="2069"/>
                  <a:ext cx="46" cy="182"/>
                </a:xfrm>
                <a:custGeom>
                  <a:avLst/>
                  <a:gdLst>
                    <a:gd name="T0" fmla="*/ 46 w 91"/>
                    <a:gd name="T1" fmla="*/ 0 h 182"/>
                    <a:gd name="T2" fmla="*/ 0 w 91"/>
                    <a:gd name="T3" fmla="*/ 91 h 182"/>
                    <a:gd name="T4" fmla="*/ 46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2324" name="Group 105"/>
              <p:cNvGrpSpPr>
                <a:grpSpLocks/>
              </p:cNvGrpSpPr>
              <p:nvPr/>
            </p:nvGrpSpPr>
            <p:grpSpPr bwMode="auto">
              <a:xfrm rot="-7397142">
                <a:off x="3960" y="2291"/>
                <a:ext cx="41" cy="88"/>
                <a:chOff x="3424" y="2069"/>
                <a:chExt cx="92" cy="182"/>
              </a:xfrm>
            </p:grpSpPr>
            <p:sp>
              <p:nvSpPr>
                <p:cNvPr id="12328" name="Freeform 106"/>
                <p:cNvSpPr>
                  <a:spLocks/>
                </p:cNvSpPr>
                <p:nvPr/>
              </p:nvSpPr>
              <p:spPr bwMode="auto">
                <a:xfrm flipH="1">
                  <a:off x="3424" y="2069"/>
                  <a:ext cx="46" cy="182"/>
                </a:xfrm>
                <a:custGeom>
                  <a:avLst/>
                  <a:gdLst>
                    <a:gd name="T0" fmla="*/ 46 w 91"/>
                    <a:gd name="T1" fmla="*/ 0 h 182"/>
                    <a:gd name="T2" fmla="*/ 0 w 91"/>
                    <a:gd name="T3" fmla="*/ 91 h 182"/>
                    <a:gd name="T4" fmla="*/ 46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29" name="Freeform 107"/>
                <p:cNvSpPr>
                  <a:spLocks/>
                </p:cNvSpPr>
                <p:nvPr/>
              </p:nvSpPr>
              <p:spPr bwMode="auto">
                <a:xfrm flipH="1">
                  <a:off x="3470" y="2069"/>
                  <a:ext cx="46" cy="182"/>
                </a:xfrm>
                <a:custGeom>
                  <a:avLst/>
                  <a:gdLst>
                    <a:gd name="T0" fmla="*/ 46 w 91"/>
                    <a:gd name="T1" fmla="*/ 0 h 182"/>
                    <a:gd name="T2" fmla="*/ 0 w 91"/>
                    <a:gd name="T3" fmla="*/ 91 h 182"/>
                    <a:gd name="T4" fmla="*/ 46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2325" name="Group 108"/>
              <p:cNvGrpSpPr>
                <a:grpSpLocks/>
              </p:cNvGrpSpPr>
              <p:nvPr/>
            </p:nvGrpSpPr>
            <p:grpSpPr bwMode="auto">
              <a:xfrm rot="6829581">
                <a:off x="3960" y="2454"/>
                <a:ext cx="41" cy="88"/>
                <a:chOff x="3424" y="2069"/>
                <a:chExt cx="92" cy="182"/>
              </a:xfrm>
            </p:grpSpPr>
            <p:sp>
              <p:nvSpPr>
                <p:cNvPr id="12326" name="Freeform 109"/>
                <p:cNvSpPr>
                  <a:spLocks/>
                </p:cNvSpPr>
                <p:nvPr/>
              </p:nvSpPr>
              <p:spPr bwMode="auto">
                <a:xfrm flipH="1">
                  <a:off x="3424" y="2069"/>
                  <a:ext cx="46" cy="182"/>
                </a:xfrm>
                <a:custGeom>
                  <a:avLst/>
                  <a:gdLst>
                    <a:gd name="T0" fmla="*/ 46 w 91"/>
                    <a:gd name="T1" fmla="*/ 0 h 182"/>
                    <a:gd name="T2" fmla="*/ 0 w 91"/>
                    <a:gd name="T3" fmla="*/ 91 h 182"/>
                    <a:gd name="T4" fmla="*/ 46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27" name="Freeform 110"/>
                <p:cNvSpPr>
                  <a:spLocks/>
                </p:cNvSpPr>
                <p:nvPr/>
              </p:nvSpPr>
              <p:spPr bwMode="auto">
                <a:xfrm flipH="1">
                  <a:off x="3470" y="2069"/>
                  <a:ext cx="46" cy="182"/>
                </a:xfrm>
                <a:custGeom>
                  <a:avLst/>
                  <a:gdLst>
                    <a:gd name="T0" fmla="*/ 46 w 91"/>
                    <a:gd name="T1" fmla="*/ 0 h 182"/>
                    <a:gd name="T2" fmla="*/ 0 w 91"/>
                    <a:gd name="T3" fmla="*/ 91 h 182"/>
                    <a:gd name="T4" fmla="*/ 46 w 91"/>
                    <a:gd name="T5" fmla="*/ 182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182">
                      <a:moveTo>
                        <a:pt x="91" y="0"/>
                      </a:moveTo>
                      <a:cubicBezTo>
                        <a:pt x="45" y="30"/>
                        <a:pt x="0" y="61"/>
                        <a:pt x="0" y="91"/>
                      </a:cubicBezTo>
                      <a:cubicBezTo>
                        <a:pt x="0" y="121"/>
                        <a:pt x="76" y="167"/>
                        <a:pt x="91" y="182"/>
                      </a:cubicBezTo>
                    </a:path>
                  </a:pathLst>
                </a:cu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2313" name="Group 111"/>
            <p:cNvGrpSpPr>
              <a:grpSpLocks/>
            </p:cNvGrpSpPr>
            <p:nvPr/>
          </p:nvGrpSpPr>
          <p:grpSpPr bwMode="auto">
            <a:xfrm>
              <a:off x="5360" y="251"/>
              <a:ext cx="89" cy="82"/>
              <a:chOff x="748" y="1661"/>
              <a:chExt cx="1406" cy="1361"/>
            </a:xfrm>
          </p:grpSpPr>
          <p:sp>
            <p:nvSpPr>
              <p:cNvPr id="12319" name="Oval 112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20" name="Oval 113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21" name="Oval 114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</p:grpSp>
        <p:grpSp>
          <p:nvGrpSpPr>
            <p:cNvPr id="12314" name="Group 115"/>
            <p:cNvGrpSpPr>
              <a:grpSpLocks/>
            </p:cNvGrpSpPr>
            <p:nvPr/>
          </p:nvGrpSpPr>
          <p:grpSpPr bwMode="auto">
            <a:xfrm>
              <a:off x="5236" y="252"/>
              <a:ext cx="89" cy="82"/>
              <a:chOff x="748" y="1661"/>
              <a:chExt cx="1406" cy="1361"/>
            </a:xfrm>
          </p:grpSpPr>
          <p:sp>
            <p:nvSpPr>
              <p:cNvPr id="12316" name="Oval 116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17" name="Oval 117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  <p:sp>
            <p:nvSpPr>
              <p:cNvPr id="12318" name="Oval 118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en-US"/>
              </a:p>
            </p:txBody>
          </p:sp>
        </p:grpSp>
        <p:sp>
          <p:nvSpPr>
            <p:cNvPr id="12315" name="Line 119"/>
            <p:cNvSpPr>
              <a:spLocks noChangeShapeType="1"/>
            </p:cNvSpPr>
            <p:nvPr/>
          </p:nvSpPr>
          <p:spPr bwMode="auto">
            <a:xfrm flipV="1">
              <a:off x="5278" y="240"/>
              <a:ext cx="2" cy="10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12306" name="Picture 1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0558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07" name="Oval 121"/>
          <p:cNvSpPr>
            <a:spLocks noChangeArrowheads="1"/>
          </p:cNvSpPr>
          <p:nvPr/>
        </p:nvSpPr>
        <p:spPr bwMode="auto">
          <a:xfrm>
            <a:off x="4034805" y="2211388"/>
            <a:ext cx="209550" cy="20955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de-DE" sz="160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00" name="Text Box 63"/>
          <p:cNvSpPr txBox="1">
            <a:spLocks noChangeArrowheads="1"/>
          </p:cNvSpPr>
          <p:nvPr/>
        </p:nvSpPr>
        <p:spPr bwMode="auto">
          <a:xfrm>
            <a:off x="5777914" y="2059365"/>
            <a:ext cx="254749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de-DE" sz="1600" dirty="0" smtClean="0"/>
          </a:p>
          <a:p>
            <a:pPr eaLnBrk="1" hangingPunct="1"/>
            <a:r>
              <a:rPr lang="en-US" altLang="de-DE" sz="1600" dirty="0" smtClean="0"/>
              <a:t>! time averaged potential !</a:t>
            </a:r>
          </a:p>
          <a:p>
            <a:pPr eaLnBrk="1" hangingPunct="1"/>
            <a:endParaRPr lang="en-US" altLang="de-DE" dirty="0"/>
          </a:p>
        </p:txBody>
      </p:sp>
      <p:sp>
        <p:nvSpPr>
          <p:cNvPr id="2" name="Rechteck 1"/>
          <p:cNvSpPr/>
          <p:nvPr/>
        </p:nvSpPr>
        <p:spPr bwMode="auto">
          <a:xfrm>
            <a:off x="4336973" y="3657600"/>
            <a:ext cx="4695902" cy="29479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4237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ureaufalle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48963" name="Group 3"/>
          <p:cNvGrpSpPr>
            <a:grpSpLocks/>
          </p:cNvGrpSpPr>
          <p:nvPr/>
        </p:nvGrpSpPr>
        <p:grpSpPr bwMode="auto">
          <a:xfrm>
            <a:off x="3929063" y="3105150"/>
            <a:ext cx="1662112" cy="857250"/>
            <a:chOff x="2475" y="1956"/>
            <a:chExt cx="1047" cy="540"/>
          </a:xfrm>
        </p:grpSpPr>
        <p:grpSp>
          <p:nvGrpSpPr>
            <p:cNvPr id="14347" name="Group 3"/>
            <p:cNvGrpSpPr>
              <a:grpSpLocks/>
            </p:cNvGrpSpPr>
            <p:nvPr/>
          </p:nvGrpSpPr>
          <p:grpSpPr bwMode="auto">
            <a:xfrm flipH="1">
              <a:off x="2475" y="1968"/>
              <a:ext cx="1000" cy="528"/>
              <a:chOff x="1938" y="1824"/>
              <a:chExt cx="1566" cy="912"/>
            </a:xfrm>
          </p:grpSpPr>
          <p:sp>
            <p:nvSpPr>
              <p:cNvPr id="14352" name="Oval 4"/>
              <p:cNvSpPr>
                <a:spLocks noChangeArrowheads="1"/>
              </p:cNvSpPr>
              <p:nvPr/>
            </p:nvSpPr>
            <p:spPr bwMode="auto">
              <a:xfrm>
                <a:off x="1938" y="1866"/>
                <a:ext cx="48" cy="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353" name="Oval 5"/>
              <p:cNvSpPr>
                <a:spLocks noChangeArrowheads="1"/>
              </p:cNvSpPr>
              <p:nvPr/>
            </p:nvSpPr>
            <p:spPr bwMode="auto">
              <a:xfrm>
                <a:off x="2208" y="1824"/>
                <a:ext cx="48" cy="1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354" name="Oval 6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48" cy="1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355" name="Oval 7"/>
              <p:cNvSpPr>
                <a:spLocks noChangeArrowheads="1"/>
              </p:cNvSpPr>
              <p:nvPr/>
            </p:nvSpPr>
            <p:spPr bwMode="auto">
              <a:xfrm>
                <a:off x="3072" y="2304"/>
                <a:ext cx="48" cy="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356" name="Oval 8"/>
              <p:cNvSpPr>
                <a:spLocks noChangeArrowheads="1"/>
              </p:cNvSpPr>
              <p:nvPr/>
            </p:nvSpPr>
            <p:spPr bwMode="auto">
              <a:xfrm>
                <a:off x="2784" y="2064"/>
                <a:ext cx="48" cy="1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357" name="Oval 9"/>
              <p:cNvSpPr>
                <a:spLocks noChangeArrowheads="1"/>
              </p:cNvSpPr>
              <p:nvPr/>
            </p:nvSpPr>
            <p:spPr bwMode="auto">
              <a:xfrm>
                <a:off x="3456" y="2448"/>
                <a:ext cx="48" cy="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348" name="Group 10"/>
            <p:cNvGrpSpPr>
              <a:grpSpLocks/>
            </p:cNvGrpSpPr>
            <p:nvPr/>
          </p:nvGrpSpPr>
          <p:grpSpPr bwMode="auto">
            <a:xfrm flipV="1">
              <a:off x="3432" y="1956"/>
              <a:ext cx="90" cy="246"/>
              <a:chOff x="2400" y="3066"/>
              <a:chExt cx="78" cy="198"/>
            </a:xfrm>
          </p:grpSpPr>
          <p:sp>
            <p:nvSpPr>
              <p:cNvPr id="14349" name="Oval 11"/>
              <p:cNvSpPr>
                <a:spLocks noChangeArrowheads="1"/>
              </p:cNvSpPr>
              <p:nvPr/>
            </p:nvSpPr>
            <p:spPr bwMode="auto">
              <a:xfrm>
                <a:off x="2400" y="3072"/>
                <a:ext cx="48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350" name="Rectangle 12"/>
              <p:cNvSpPr>
                <a:spLocks noChangeArrowheads="1"/>
              </p:cNvSpPr>
              <p:nvPr/>
            </p:nvSpPr>
            <p:spPr bwMode="auto">
              <a:xfrm>
                <a:off x="2430" y="3066"/>
                <a:ext cx="48" cy="96"/>
              </a:xfrm>
              <a:prstGeom prst="rect">
                <a:avLst/>
              </a:prstGeom>
              <a:solidFill>
                <a:schemeClr val="tx1">
                  <a:alpha val="69019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351" name="Line 13"/>
              <p:cNvSpPr>
                <a:spLocks noChangeShapeType="1"/>
              </p:cNvSpPr>
              <p:nvPr/>
            </p:nvSpPr>
            <p:spPr bwMode="auto">
              <a:xfrm flipV="1">
                <a:off x="2448" y="31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43504" name="Group 16"/>
          <p:cNvGrpSpPr>
            <a:grpSpLocks/>
          </p:cNvGrpSpPr>
          <p:nvPr/>
        </p:nvGrpSpPr>
        <p:grpSpPr bwMode="auto">
          <a:xfrm>
            <a:off x="5276850" y="4210050"/>
            <a:ext cx="3733800" cy="2324100"/>
            <a:chOff x="0" y="2290"/>
            <a:chExt cx="2880" cy="2030"/>
          </a:xfrm>
        </p:grpSpPr>
        <p:pic>
          <p:nvPicPr>
            <p:cNvPr id="14345" name="Picture 1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304"/>
              <a:ext cx="2880" cy="1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346" name="Rectangle 18"/>
            <p:cNvSpPr>
              <a:spLocks noChangeArrowheads="1"/>
            </p:cNvSpPr>
            <p:nvPr/>
          </p:nvSpPr>
          <p:spPr bwMode="auto">
            <a:xfrm>
              <a:off x="0" y="2290"/>
              <a:ext cx="2880" cy="20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14341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4368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2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44000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3" name="Text Box 20"/>
          <p:cNvSpPr txBox="1">
            <a:spLocks noChangeArrowheads="1"/>
          </p:cNvSpPr>
          <p:nvPr/>
        </p:nvSpPr>
        <p:spPr bwMode="auto">
          <a:xfrm>
            <a:off x="2366963" y="95250"/>
            <a:ext cx="4895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3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must have – a Paul trap </a:t>
            </a:r>
          </a:p>
        </p:txBody>
      </p:sp>
      <p:pic>
        <p:nvPicPr>
          <p:cNvPr id="14344" name="Picture 21" descr="Kopie (4_blue) von Laseraufbau_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476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3693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7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1537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49"/>
              <a:ext cx="5760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7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5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74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495"/>
              <a:ext cx="517" cy="6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698500" y="153988"/>
            <a:ext cx="775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embedding ion and atoms in hybrid trap 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1800225"/>
            <a:ext cx="8680450" cy="304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5" name="Rectangle 3"/>
          <p:cNvSpPr>
            <a:spLocks noChangeArrowheads="1"/>
          </p:cNvSpPr>
          <p:nvPr/>
        </p:nvSpPr>
        <p:spPr bwMode="auto">
          <a:xfrm>
            <a:off x="8699500" y="1808163"/>
            <a:ext cx="485775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 rot="5400000">
            <a:off x="354013" y="1947863"/>
            <a:ext cx="477837" cy="36988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4637088" y="4541838"/>
            <a:ext cx="447675" cy="7715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15368" name="Text Box 13"/>
          <p:cNvSpPr txBox="1">
            <a:spLocks noChangeArrowheads="1"/>
          </p:cNvSpPr>
          <p:nvPr/>
        </p:nvSpPr>
        <p:spPr bwMode="auto">
          <a:xfrm>
            <a:off x="2478088" y="885825"/>
            <a:ext cx="4162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400" b="1" u="sng">
                <a:latin typeface="Arial" panose="020B0604020202020204" pitchFamily="34" charset="0"/>
              </a:rPr>
              <a:t>driven by radio frequency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400" b="1" u="sng">
                <a:latin typeface="Arial" panose="020B0604020202020204" pitchFamily="34" charset="0"/>
              </a:rPr>
              <a:t>fundamental source of heat</a:t>
            </a:r>
            <a:endParaRPr lang="en-US" altLang="de-DE" sz="2400" b="1" u="sng">
              <a:latin typeface="Arial" panose="020B0604020202020204" pitchFamily="34" charset="0"/>
            </a:endParaRPr>
          </a:p>
        </p:txBody>
      </p:sp>
      <p:sp>
        <p:nvSpPr>
          <p:cNvPr id="15369" name="Text Box 15"/>
          <p:cNvSpPr txBox="1">
            <a:spLocks noChangeArrowheads="1"/>
          </p:cNvSpPr>
          <p:nvPr/>
        </p:nvSpPr>
        <p:spPr bwMode="auto">
          <a:xfrm>
            <a:off x="3575050" y="4832350"/>
            <a:ext cx="5651500" cy="163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000" dirty="0">
                <a:latin typeface="Arial" panose="020B0604020202020204" pitchFamily="34" charset="0"/>
              </a:rPr>
              <a:t>still: impressive results @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000" dirty="0">
                <a:latin typeface="Arial" panose="020B0604020202020204" pitchFamily="34" charset="0"/>
              </a:rPr>
              <a:t>Aarhus, </a:t>
            </a:r>
            <a:r>
              <a:rPr lang="de-DE" altLang="de-DE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Amsterdam (~10µK </a:t>
            </a:r>
            <a:r>
              <a:rPr lang="de-DE" altLang="de-DE" sz="2000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de-DE" altLang="de-DE" sz="2000" b="1" baseline="-250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coll</a:t>
            </a:r>
            <a:r>
              <a:rPr lang="de-DE" altLang="de-DE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de-DE" sz="2000" dirty="0">
                <a:latin typeface="Arial" panose="020B0604020202020204" pitchFamily="34" charset="0"/>
              </a:rPr>
              <a:t>Basel, Cambridge/Bonn, CQT-Singapore, </a:t>
            </a:r>
            <a:r>
              <a:rPr lang="en-US" altLang="de-DE" sz="2000" dirty="0" smtClean="0">
                <a:latin typeface="Arial" panose="020B0604020202020204" pitchFamily="34" charset="0"/>
              </a:rPr>
              <a:t>Japan</a:t>
            </a:r>
            <a:r>
              <a:rPr lang="en-US" altLang="de-DE" sz="2000" dirty="0">
                <a:latin typeface="Arial" panose="020B0604020202020204" pitchFamily="34" charset="0"/>
              </a:rPr>
              <a:t>, Heidelberg, Innsbruck, MIT, Raman Institute, </a:t>
            </a:r>
            <a:r>
              <a:rPr lang="en-US" altLang="de-DE" sz="2000" b="1" dirty="0">
                <a:latin typeface="Arial" panose="020B0604020202020204" pitchFamily="34" charset="0"/>
              </a:rPr>
              <a:t>Ulm</a:t>
            </a:r>
            <a:r>
              <a:rPr lang="en-US" altLang="de-DE" sz="2000" dirty="0" smtClean="0">
                <a:latin typeface="Arial" panose="020B0604020202020204" pitchFamily="34" charset="0"/>
              </a:rPr>
              <a:t>, UCLA</a:t>
            </a:r>
            <a:r>
              <a:rPr lang="en-US" altLang="de-DE" sz="2000" dirty="0">
                <a:latin typeface="Arial" panose="020B0604020202020204" pitchFamily="34" charset="0"/>
              </a:rPr>
              <a:t>, </a:t>
            </a:r>
            <a:r>
              <a:rPr lang="en-US" altLang="de-DE" sz="2000" b="1" dirty="0">
                <a:latin typeface="Arial" panose="020B0604020202020204" pitchFamily="34" charset="0"/>
              </a:rPr>
              <a:t>Weizmann</a:t>
            </a:r>
            <a:r>
              <a:rPr lang="en-US" altLang="de-DE" sz="2000" dirty="0">
                <a:latin typeface="Arial" panose="020B0604020202020204" pitchFamily="34" charset="0"/>
              </a:rPr>
              <a:t>, …</a:t>
            </a:r>
          </a:p>
        </p:txBody>
      </p:sp>
      <p:sp>
        <p:nvSpPr>
          <p:cNvPr id="15370" name="Rectangle 16"/>
          <p:cNvSpPr>
            <a:spLocks noChangeArrowheads="1"/>
          </p:cNvSpPr>
          <p:nvPr/>
        </p:nvSpPr>
        <p:spPr bwMode="auto">
          <a:xfrm>
            <a:off x="522288" y="6356350"/>
            <a:ext cx="377983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200">
                <a:latin typeface="Arial" panose="020B0604020202020204" pitchFamily="34" charset="0"/>
              </a:rPr>
              <a:t>M. Cetina et al., Phys. Rev. Lett. 109, 253201 (2012).</a:t>
            </a:r>
          </a:p>
        </p:txBody>
      </p:sp>
      <p:pic>
        <p:nvPicPr>
          <p:cNvPr id="15371" name="Picture 18" descr="Kopie (4_blue) von Laseraufbau_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768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1800225"/>
            <a:ext cx="8680450" cy="304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9" name="Rectangle 4"/>
          <p:cNvSpPr>
            <a:spLocks noChangeArrowheads="1"/>
          </p:cNvSpPr>
          <p:nvPr/>
        </p:nvSpPr>
        <p:spPr bwMode="auto">
          <a:xfrm rot="5400000">
            <a:off x="354013" y="1947863"/>
            <a:ext cx="477837" cy="36988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6390" name="Text Box 13"/>
          <p:cNvSpPr txBox="1">
            <a:spLocks noChangeArrowheads="1"/>
          </p:cNvSpPr>
          <p:nvPr/>
        </p:nvSpPr>
        <p:spPr bwMode="auto">
          <a:xfrm>
            <a:off x="2478088" y="885825"/>
            <a:ext cx="4162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400" b="1" u="sng">
                <a:latin typeface="Arial" panose="020B0604020202020204" pitchFamily="34" charset="0"/>
              </a:rPr>
              <a:t>driven by radio frequency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400" b="1" u="sng">
                <a:latin typeface="Arial" panose="020B0604020202020204" pitchFamily="34" charset="0"/>
              </a:rPr>
              <a:t>fundamental source of heat</a:t>
            </a:r>
            <a:endParaRPr lang="en-US" altLang="de-DE" sz="2400" b="1" u="sng">
              <a:latin typeface="Arial" panose="020B0604020202020204" pitchFamily="34" charset="0"/>
            </a:endParaRPr>
          </a:p>
        </p:txBody>
      </p:sp>
      <p:sp>
        <p:nvSpPr>
          <p:cNvPr id="1451016" name="Text Box 8"/>
          <p:cNvSpPr txBox="1">
            <a:spLocks noChangeArrowheads="1"/>
          </p:cNvSpPr>
          <p:nvPr/>
        </p:nvSpPr>
        <p:spPr bwMode="auto">
          <a:xfrm>
            <a:off x="874528" y="5106988"/>
            <a:ext cx="4229100" cy="1057275"/>
          </a:xfrm>
          <a:prstGeom prst="rect">
            <a:avLst/>
          </a:prstGeom>
          <a:noFill/>
          <a:ln w="50800">
            <a:solidFill>
              <a:srgbClr val="01469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 dirty="0">
                <a:latin typeface="Arial" panose="020B0604020202020204" pitchFamily="34" charset="0"/>
              </a:rPr>
              <a:t>atom shifts ion r</a:t>
            </a:r>
            <a:r>
              <a:rPr lang="en-US" altLang="de-DE" sz="2000" baseline="30000" dirty="0">
                <a:latin typeface="Arial" panose="020B0604020202020204" pitchFamily="34" charset="0"/>
              </a:rPr>
              <a:t>-4</a:t>
            </a:r>
            <a:r>
              <a:rPr lang="en-US" altLang="de-DE" sz="2000" dirty="0">
                <a:latin typeface="Arial" panose="020B0604020202020204" pitchFamily="34" charset="0"/>
              </a:rPr>
              <a:t> potential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de-DE" sz="2000" dirty="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 dirty="0">
                <a:latin typeface="Arial" panose="020B0604020202020204" pitchFamily="34" charset="0"/>
              </a:rPr>
              <a:t>all but </a:t>
            </a:r>
            <a:r>
              <a:rPr lang="en-US" altLang="de-DE" sz="2000" dirty="0" err="1">
                <a:latin typeface="Arial" panose="020B0604020202020204" pitchFamily="34" charset="0"/>
              </a:rPr>
              <a:t>Yb</a:t>
            </a:r>
            <a:r>
              <a:rPr lang="en-US" altLang="de-DE" sz="2000" baseline="30000" dirty="0">
                <a:latin typeface="Arial" panose="020B0604020202020204" pitchFamily="34" charset="0"/>
              </a:rPr>
              <a:t>+</a:t>
            </a:r>
            <a:r>
              <a:rPr lang="en-US" altLang="de-DE" sz="2000" dirty="0">
                <a:latin typeface="Arial" panose="020B0604020202020204" pitchFamily="34" charset="0"/>
              </a:rPr>
              <a:t>/Ba</a:t>
            </a:r>
            <a:r>
              <a:rPr lang="en-US" altLang="de-DE" sz="2000" baseline="30000" dirty="0">
                <a:latin typeface="Arial" panose="020B0604020202020204" pitchFamily="34" charset="0"/>
              </a:rPr>
              <a:t>+</a:t>
            </a:r>
            <a:r>
              <a:rPr lang="en-US" altLang="de-DE" sz="2000" dirty="0">
                <a:latin typeface="Arial" panose="020B0604020202020204" pitchFamily="34" charset="0"/>
              </a:rPr>
              <a:t> (m</a:t>
            </a:r>
            <a:r>
              <a:rPr lang="en-US" altLang="de-DE" sz="2000" baseline="-25000" dirty="0">
                <a:latin typeface="Arial" panose="020B0604020202020204" pitchFamily="34" charset="0"/>
              </a:rPr>
              <a:t>&gt;&gt;</a:t>
            </a:r>
            <a:r>
              <a:rPr lang="en-US" altLang="de-DE" sz="2000" dirty="0">
                <a:latin typeface="Arial" panose="020B0604020202020204" pitchFamily="34" charset="0"/>
              </a:rPr>
              <a:t>) and Li (m</a:t>
            </a:r>
            <a:r>
              <a:rPr lang="en-US" altLang="de-DE" sz="2000" baseline="-25000" dirty="0">
                <a:latin typeface="Arial" panose="020B0604020202020204" pitchFamily="34" charset="0"/>
              </a:rPr>
              <a:t>&lt;&lt;</a:t>
            </a:r>
            <a:r>
              <a:rPr lang="en-US" altLang="de-DE" sz="2000" dirty="0">
                <a:latin typeface="Arial" panose="020B0604020202020204" pitchFamily="34" charset="0"/>
              </a:rPr>
              <a:t>) *</a:t>
            </a:r>
          </a:p>
        </p:txBody>
      </p:sp>
      <p:grpSp>
        <p:nvGrpSpPr>
          <p:cNvPr id="16392" name="Group 9"/>
          <p:cNvGrpSpPr>
            <a:grpSpLocks/>
          </p:cNvGrpSpPr>
          <p:nvPr/>
        </p:nvGrpSpPr>
        <p:grpSpPr bwMode="auto">
          <a:xfrm>
            <a:off x="4392613" y="1695450"/>
            <a:ext cx="4859337" cy="3227388"/>
            <a:chOff x="2725" y="1068"/>
            <a:chExt cx="3061" cy="2033"/>
          </a:xfrm>
        </p:grpSpPr>
        <p:sp>
          <p:nvSpPr>
            <p:cNvPr id="16401" name="Rectangle 3"/>
            <p:cNvSpPr>
              <a:spLocks noChangeArrowheads="1"/>
            </p:cNvSpPr>
            <p:nvPr/>
          </p:nvSpPr>
          <p:spPr bwMode="auto">
            <a:xfrm>
              <a:off x="5480" y="1139"/>
              <a:ext cx="306" cy="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pic>
          <p:nvPicPr>
            <p:cNvPr id="1640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5" y="1390"/>
              <a:ext cx="2913" cy="15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403" name="Rectangle 12"/>
            <p:cNvSpPr>
              <a:spLocks noChangeArrowheads="1"/>
            </p:cNvSpPr>
            <p:nvPr/>
          </p:nvSpPr>
          <p:spPr bwMode="auto">
            <a:xfrm>
              <a:off x="5075" y="2771"/>
              <a:ext cx="685" cy="3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sp>
          <p:nvSpPr>
            <p:cNvPr id="16404" name="Oval 13"/>
            <p:cNvSpPr>
              <a:spLocks noChangeArrowheads="1"/>
            </p:cNvSpPr>
            <p:nvPr/>
          </p:nvSpPr>
          <p:spPr bwMode="auto">
            <a:xfrm>
              <a:off x="2856" y="2251"/>
              <a:ext cx="120" cy="114"/>
            </a:xfrm>
            <a:prstGeom prst="ellipse">
              <a:avLst/>
            </a:prstGeom>
            <a:gradFill rotWithShape="1">
              <a:gsLst>
                <a:gs pos="0">
                  <a:srgbClr val="0000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sp>
          <p:nvSpPr>
            <p:cNvPr id="16405" name="Oval 14"/>
            <p:cNvSpPr>
              <a:spLocks noChangeArrowheads="1"/>
            </p:cNvSpPr>
            <p:nvPr/>
          </p:nvSpPr>
          <p:spPr bwMode="auto">
            <a:xfrm>
              <a:off x="2838" y="1693"/>
              <a:ext cx="120" cy="11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sp>
          <p:nvSpPr>
            <p:cNvPr id="16406" name="Oval 15"/>
            <p:cNvSpPr>
              <a:spLocks noChangeArrowheads="1"/>
            </p:cNvSpPr>
            <p:nvPr/>
          </p:nvSpPr>
          <p:spPr bwMode="auto">
            <a:xfrm>
              <a:off x="5249" y="2640"/>
              <a:ext cx="120" cy="11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sp>
          <p:nvSpPr>
            <p:cNvPr id="16407" name="Oval 16"/>
            <p:cNvSpPr>
              <a:spLocks noChangeArrowheads="1"/>
            </p:cNvSpPr>
            <p:nvPr/>
          </p:nvSpPr>
          <p:spPr bwMode="auto">
            <a:xfrm>
              <a:off x="4619" y="1614"/>
              <a:ext cx="180" cy="180"/>
            </a:xfrm>
            <a:prstGeom prst="ellipse">
              <a:avLst/>
            </a:prstGeom>
            <a:gradFill rotWithShape="1">
              <a:gsLst>
                <a:gs pos="0">
                  <a:srgbClr val="0000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sp>
          <p:nvSpPr>
            <p:cNvPr id="16408" name="Oval 17"/>
            <p:cNvSpPr>
              <a:spLocks noChangeArrowheads="1"/>
            </p:cNvSpPr>
            <p:nvPr/>
          </p:nvSpPr>
          <p:spPr bwMode="auto">
            <a:xfrm>
              <a:off x="5008" y="1613"/>
              <a:ext cx="180" cy="18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sp>
          <p:nvSpPr>
            <p:cNvPr id="16409" name="Rectangle 18"/>
            <p:cNvSpPr>
              <a:spLocks noChangeArrowheads="1"/>
            </p:cNvSpPr>
            <p:nvPr/>
          </p:nvSpPr>
          <p:spPr bwMode="auto">
            <a:xfrm>
              <a:off x="3576" y="1068"/>
              <a:ext cx="2070" cy="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451027" name="Group 19"/>
          <p:cNvGrpSpPr>
            <a:grpSpLocks/>
          </p:cNvGrpSpPr>
          <p:nvPr/>
        </p:nvGrpSpPr>
        <p:grpSpPr bwMode="auto">
          <a:xfrm>
            <a:off x="6618288" y="2292350"/>
            <a:ext cx="2422525" cy="2271713"/>
            <a:chOff x="2921" y="2638"/>
            <a:chExt cx="1526" cy="1431"/>
          </a:xfrm>
        </p:grpSpPr>
        <p:sp>
          <p:nvSpPr>
            <p:cNvPr id="16398" name="Rectangle 7"/>
            <p:cNvSpPr>
              <a:spLocks noChangeArrowheads="1"/>
            </p:cNvSpPr>
            <p:nvPr/>
          </p:nvSpPr>
          <p:spPr bwMode="auto">
            <a:xfrm>
              <a:off x="2921" y="2861"/>
              <a:ext cx="282" cy="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  <p:pic>
          <p:nvPicPr>
            <p:cNvPr id="16399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6" y="2638"/>
              <a:ext cx="1301" cy="1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400" name="Rectangle 22"/>
            <p:cNvSpPr>
              <a:spLocks noChangeArrowheads="1"/>
            </p:cNvSpPr>
            <p:nvPr/>
          </p:nvSpPr>
          <p:spPr bwMode="auto">
            <a:xfrm>
              <a:off x="4230" y="2700"/>
              <a:ext cx="204" cy="48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</p:grpSp>
      <p:sp>
        <p:nvSpPr>
          <p:cNvPr id="16394" name="Text Box 23"/>
          <p:cNvSpPr txBox="1">
            <a:spLocks noChangeArrowheads="1"/>
          </p:cNvSpPr>
          <p:nvPr/>
        </p:nvSpPr>
        <p:spPr bwMode="auto">
          <a:xfrm>
            <a:off x="946150" y="6348413"/>
            <a:ext cx="305929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1200" dirty="0">
                <a:latin typeface="Arial" panose="020B0604020202020204" pitchFamily="34" charset="0"/>
              </a:rPr>
              <a:t>*</a:t>
            </a:r>
            <a:r>
              <a:rPr lang="en-US" altLang="de-DE" sz="1200" dirty="0" err="1">
                <a:latin typeface="Arial" panose="020B0604020202020204" pitchFamily="34" charset="0"/>
              </a:rPr>
              <a:t>V.Vuletic</a:t>
            </a:r>
            <a:r>
              <a:rPr lang="en-US" altLang="de-DE" sz="1200" dirty="0">
                <a:latin typeface="Arial" panose="020B0604020202020204" pitchFamily="34" charset="0"/>
              </a:rPr>
              <a:t> (</a:t>
            </a:r>
            <a:r>
              <a:rPr lang="en-US" altLang="de-DE" sz="1200" dirty="0" smtClean="0">
                <a:latin typeface="Arial" panose="020B0604020202020204" pitchFamily="34" charset="0"/>
              </a:rPr>
              <a:t>2013) +  </a:t>
            </a:r>
            <a:r>
              <a:rPr lang="en-US" altLang="de-DE" sz="1200" dirty="0" err="1" smtClean="0">
                <a:latin typeface="Arial" panose="020B0604020202020204" pitchFamily="34" charset="0"/>
              </a:rPr>
              <a:t>T.Feldker</a:t>
            </a:r>
            <a:r>
              <a:rPr lang="en-US" altLang="de-DE" sz="1200" dirty="0" smtClean="0">
                <a:latin typeface="Arial" panose="020B0604020202020204" pitchFamily="34" charset="0"/>
              </a:rPr>
              <a:t> (Rene 2020)</a:t>
            </a:r>
            <a:endParaRPr lang="en-US" altLang="de-DE" sz="1200" dirty="0">
              <a:latin typeface="Arial" panose="020B0604020202020204" pitchFamily="34" charset="0"/>
            </a:endParaRPr>
          </a:p>
        </p:txBody>
      </p:sp>
      <p:sp>
        <p:nvSpPr>
          <p:cNvPr id="16395" name="Text Box 24"/>
          <p:cNvSpPr txBox="1">
            <a:spLocks noChangeArrowheads="1"/>
          </p:cNvSpPr>
          <p:nvPr/>
        </p:nvSpPr>
        <p:spPr bwMode="auto">
          <a:xfrm>
            <a:off x="698500" y="153988"/>
            <a:ext cx="775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embedding ion and atoms in hybrid trap </a:t>
            </a:r>
          </a:p>
        </p:txBody>
      </p:sp>
      <p:pic>
        <p:nvPicPr>
          <p:cNvPr id="16396" name="Picture 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7" name="Picture 26" descr="Kopie (4_blue) von Laseraufbau_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uppieren 1"/>
          <p:cNvGrpSpPr/>
          <p:nvPr/>
        </p:nvGrpSpPr>
        <p:grpSpPr>
          <a:xfrm>
            <a:off x="7021469" y="1103786"/>
            <a:ext cx="471480" cy="1216316"/>
            <a:chOff x="7021469" y="1103786"/>
            <a:chExt cx="471480" cy="1216316"/>
          </a:xfrm>
        </p:grpSpPr>
        <p:sp>
          <p:nvSpPr>
            <p:cNvPr id="27" name="Textfeld 26"/>
            <p:cNvSpPr txBox="1"/>
            <p:nvPr/>
          </p:nvSpPr>
          <p:spPr>
            <a:xfrm>
              <a:off x="7034169" y="1266738"/>
              <a:ext cx="4587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u="sng" dirty="0" smtClean="0"/>
                <a:t>M</a:t>
              </a:r>
              <a:endParaRPr lang="de-DE" b="1" dirty="0"/>
            </a:p>
            <a:p>
              <a:r>
                <a:rPr lang="de-DE" b="1" dirty="0" smtClean="0"/>
                <a:t>m</a:t>
              </a:r>
              <a:endParaRPr lang="en-GB" b="1" dirty="0"/>
            </a:p>
          </p:txBody>
        </p:sp>
        <p:sp>
          <p:nvSpPr>
            <p:cNvPr id="28" name="Ellipse 27"/>
            <p:cNvSpPr/>
            <p:nvPr/>
          </p:nvSpPr>
          <p:spPr bwMode="auto">
            <a:xfrm>
              <a:off x="7021469" y="1103786"/>
              <a:ext cx="458780" cy="1216316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alpha val="0"/>
                  </a:srgbClr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uppieren 4"/>
          <p:cNvGrpSpPr/>
          <p:nvPr/>
        </p:nvGrpSpPr>
        <p:grpSpPr>
          <a:xfrm>
            <a:off x="5743575" y="4957477"/>
            <a:ext cx="3152189" cy="1368461"/>
            <a:chOff x="5743575" y="4957477"/>
            <a:chExt cx="3152189" cy="1368461"/>
          </a:xfrm>
        </p:grpSpPr>
        <p:sp>
          <p:nvSpPr>
            <p:cNvPr id="3" name="Eingekerbter Pfeil nach rechts 2"/>
            <p:cNvSpPr/>
            <p:nvPr/>
          </p:nvSpPr>
          <p:spPr bwMode="auto">
            <a:xfrm>
              <a:off x="5743575" y="5729290"/>
              <a:ext cx="978408" cy="484632"/>
            </a:xfrm>
            <a:prstGeom prst="notchedRightArrow">
              <a:avLst/>
            </a:prstGeom>
            <a:solidFill>
              <a:srgbClr val="01469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" name="Textfeld 3"/>
            <p:cNvSpPr txBox="1"/>
            <p:nvPr/>
          </p:nvSpPr>
          <p:spPr>
            <a:xfrm>
              <a:off x="7143574" y="4957477"/>
              <a:ext cx="148790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de-DE" dirty="0" smtClean="0"/>
                <a:t>all-optical</a:t>
              </a:r>
              <a:endParaRPr lang="en-US" altLang="de-DE" dirty="0"/>
            </a:p>
            <a:p>
              <a:endParaRPr lang="en-US" dirty="0"/>
            </a:p>
          </p:txBody>
        </p:sp>
        <p:pic>
          <p:nvPicPr>
            <p:cNvPr id="31" name="Picture 1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0139" y="5347626"/>
              <a:ext cx="1825625" cy="978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9081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10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Schätz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930"/>
            <a:ext cx="9164970" cy="540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0" y="5229225"/>
            <a:ext cx="9144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18039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4762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0" y="-9525"/>
            <a:ext cx="91440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8038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5796529"/>
            <a:ext cx="9144000" cy="1057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02336" y="1504844"/>
            <a:ext cx="955759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why?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de-DE" sz="2400" b="1" baseline="30000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baseline="30000" dirty="0" smtClean="0">
                <a:solidFill>
                  <a:srgbClr val="FFFFFF"/>
                </a:solidFill>
                <a:latin typeface="Arial" panose="020B0604020202020204" pitchFamily="34" charset="0"/>
              </a:rPr>
              <a:t>basics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</a:t>
            </a:r>
            <a:r>
              <a:rPr lang="en-US" altLang="de-DE" sz="24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rf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+ hybrid traps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baseline="30000" dirty="0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r>
              <a:rPr lang="en-US" altLang="de-DE" sz="2400" b="1" baseline="30000" dirty="0" smtClean="0">
                <a:solidFill>
                  <a:srgbClr val="FFFFFF"/>
                </a:solidFill>
                <a:latin typeface="Arial" panose="020B0604020202020204" pitchFamily="34" charset="0"/>
              </a:rPr>
              <a:t>asics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 all optical ion </a:t>
            </a: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traps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de-DE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how?  protocol  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challenges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endParaRPr lang="en-US" altLang="de-DE" sz="2400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experimental results: 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- sympathetic 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cooling 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(Ba</a:t>
            </a:r>
            <a:r>
              <a:rPr lang="en-US" altLang="de-DE" sz="2400" b="1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Rb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)		      - </a:t>
            </a:r>
            <a:r>
              <a:rPr lang="en-US" altLang="de-DE" sz="2400" b="1" u="sng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pure   ODT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- controlling ion-atom interaction (Ba</a:t>
            </a:r>
            <a:r>
              <a:rPr lang="en-US" altLang="de-DE" sz="2400" b="1" baseline="30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Li) - </a:t>
            </a:r>
            <a:r>
              <a:rPr lang="en-US" altLang="de-DE" sz="2400" b="1" u="sng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still hybrid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endParaRPr lang="en-US" altLang="de-DE" sz="24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0" eaLnBrk="1" hangingPunct="1">
              <a:spcBef>
                <a:spcPct val="0"/>
              </a:spcBef>
              <a:buFont typeface="Wingdings" panose="05000000000000000000" pitchFamily="2" charset="2"/>
              <a:buChar char="è"/>
              <a:defRPr/>
            </a:pP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Whither TIAMO/</a:t>
            </a:r>
            <a:r>
              <a:rPr lang="en-US" altLang="de-DE" sz="2400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BaLiLaB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ions</a:t>
            </a:r>
            <a:b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- towards ultra-cold interaction/chemistry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- towards quantum phase transitions</a:t>
            </a:r>
            <a:endParaRPr lang="en-US" altLang="de-DE" sz="2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de-DE" sz="2400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55750" y="492194"/>
            <a:ext cx="4592638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4800" dirty="0">
                <a:solidFill>
                  <a:srgbClr val="FFFFFF"/>
                </a:solidFill>
                <a:latin typeface="Arial" panose="020B0604020202020204" pitchFamily="34" charset="0"/>
              </a:rPr>
              <a:t>TIAMO - Outline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7000" y="184219"/>
            <a:ext cx="662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400" dirty="0">
                <a:solidFill>
                  <a:srgbClr val="FFFFFF"/>
                </a:solidFill>
                <a:latin typeface="Arial" panose="020B0604020202020204" pitchFamily="34" charset="0"/>
              </a:rPr>
              <a:t>Trapping Ions in Atoms and Molecules Optically</a:t>
            </a:r>
          </a:p>
        </p:txBody>
      </p:sp>
    </p:spTree>
    <p:extLst>
      <p:ext uri="{BB962C8B-B14F-4D97-AF65-F5344CB8AC3E}">
        <p14:creationId xmlns:p14="http://schemas.microsoft.com/office/powerpoint/2010/main" val="2861834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749675" y="5253038"/>
            <a:ext cx="3776663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de-DE" altLang="de-DE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kumimoji="0" lang="de-DE" altLang="de-DE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trap depth 		</a:t>
            </a:r>
            <a:r>
              <a:rPr kumimoji="0" lang="de-DE" altLang="de-DE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	U</a:t>
            </a:r>
            <a:r>
              <a:rPr kumimoji="0" lang="de-DE" altLang="de-DE" sz="2200" b="0" i="0" u="none" strike="noStrike" kern="1200" cap="none" spc="0" normalizeH="0" baseline="-33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opt    </a:t>
            </a:r>
            <a:r>
              <a:rPr kumimoji="0" lang="de-DE" altLang="de-DE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~ 	</a:t>
            </a:r>
            <a:r>
              <a:rPr kumimoji="0" lang="de-DE" altLang="de-DE" sz="2600" b="0" i="0" u="none" strike="noStrike" kern="1200" cap="none" spc="0" normalizeH="0" baseline="33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de-DE" altLang="de-DE" sz="2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/</a:t>
            </a:r>
            <a:r>
              <a:rPr kumimoji="0" lang="de-DE" altLang="de-DE" sz="22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Δ</a:t>
            </a: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de-DE" altLang="de-DE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 </a:t>
            </a:r>
            <a:r>
              <a:rPr kumimoji="0" lang="de-DE" altLang="de-DE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off-resonant scattering</a:t>
            </a:r>
            <a:r>
              <a:rPr kumimoji="0" lang="de-DE" altLang="de-DE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	R</a:t>
            </a:r>
            <a:r>
              <a:rPr kumimoji="0" lang="de-DE" altLang="de-DE" sz="2200" b="0" i="0" u="none" strike="noStrike" kern="1200" cap="none" spc="0" normalizeH="0" baseline="-33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phot  </a:t>
            </a:r>
            <a:r>
              <a:rPr kumimoji="0" lang="de-DE" altLang="de-DE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~	</a:t>
            </a:r>
            <a:r>
              <a:rPr kumimoji="0" lang="de-DE" altLang="de-DE" sz="2600" b="0" i="0" u="none" strike="noStrike" kern="1200" cap="none" spc="0" normalizeH="0" baseline="33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de-DE" altLang="de-DE" sz="2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/</a:t>
            </a:r>
            <a:r>
              <a:rPr kumimoji="0" lang="de-DE" altLang="de-DE" sz="22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Δ</a:t>
            </a:r>
            <a:r>
              <a:rPr kumimoji="0" lang="de-DE" altLang="de-DE" sz="2200" b="0" i="1" u="none" strike="noStrike" kern="1200" cap="none" spc="0" normalizeH="0" baseline="33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de-DE" altLang="de-DE" sz="2200" b="0" i="1" u="none" strike="noStrike" kern="1200" cap="none" spc="0" normalizeH="0" baseline="33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	</a:t>
            </a:r>
            <a:endParaRPr kumimoji="0" lang="de-DE" altLang="de-DE" sz="2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285750" y="1292225"/>
            <a:ext cx="3016250" cy="4759325"/>
            <a:chOff x="180" y="976"/>
            <a:chExt cx="1900" cy="2998"/>
          </a:xfrm>
        </p:grpSpPr>
        <p:sp>
          <p:nvSpPr>
            <p:cNvPr id="29723" name="AutoShape 4"/>
            <p:cNvSpPr>
              <a:spLocks noChangeArrowheads="1"/>
            </p:cNvSpPr>
            <p:nvPr/>
          </p:nvSpPr>
          <p:spPr bwMode="auto">
            <a:xfrm>
              <a:off x="180" y="976"/>
              <a:ext cx="1900" cy="2998"/>
            </a:xfrm>
            <a:prstGeom prst="roundRect">
              <a:avLst>
                <a:gd name="adj" fmla="val 51"/>
              </a:avLst>
            </a:prstGeom>
            <a:solidFill>
              <a:srgbClr val="0066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24" name="AutoShape 5"/>
            <p:cNvSpPr>
              <a:spLocks noChangeArrowheads="1"/>
            </p:cNvSpPr>
            <p:nvPr/>
          </p:nvSpPr>
          <p:spPr bwMode="auto">
            <a:xfrm>
              <a:off x="288" y="1094"/>
              <a:ext cx="1669" cy="2364"/>
            </a:xfrm>
            <a:prstGeom prst="roundRect">
              <a:avLst>
                <a:gd name="adj" fmla="val 56"/>
              </a:avLst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9725" name="Group 6"/>
            <p:cNvGrpSpPr>
              <a:grpSpLocks/>
            </p:cNvGrpSpPr>
            <p:nvPr/>
          </p:nvGrpSpPr>
          <p:grpSpPr bwMode="auto">
            <a:xfrm>
              <a:off x="283" y="1175"/>
              <a:ext cx="1462" cy="2165"/>
              <a:chOff x="283" y="1175"/>
              <a:chExt cx="1462" cy="2165"/>
            </a:xfrm>
          </p:grpSpPr>
          <p:sp>
            <p:nvSpPr>
              <p:cNvPr id="29728" name="Line 7"/>
              <p:cNvSpPr>
                <a:spLocks noChangeShapeType="1"/>
              </p:cNvSpPr>
              <p:nvPr/>
            </p:nvSpPr>
            <p:spPr bwMode="auto">
              <a:xfrm>
                <a:off x="607" y="1485"/>
                <a:ext cx="8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29" name="Line 8"/>
              <p:cNvSpPr>
                <a:spLocks noChangeShapeType="1"/>
              </p:cNvSpPr>
              <p:nvPr/>
            </p:nvSpPr>
            <p:spPr bwMode="auto">
              <a:xfrm>
                <a:off x="607" y="3040"/>
                <a:ext cx="8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30" name="Text Box 9"/>
              <p:cNvSpPr txBox="1">
                <a:spLocks noChangeArrowheads="1"/>
              </p:cNvSpPr>
              <p:nvPr/>
            </p:nvSpPr>
            <p:spPr bwMode="auto">
              <a:xfrm>
                <a:off x="283" y="1370"/>
                <a:ext cx="323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449263">
                  <a:spcBef>
                    <a:spcPct val="20000"/>
                  </a:spcBef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Times New Roman" panose="02020603050405020304" pitchFamily="18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kumimoji="0" lang="de-DE" altLang="de-DE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|e&gt;</a:t>
                </a:r>
              </a:p>
            </p:txBody>
          </p:sp>
          <p:pic>
            <p:nvPicPr>
              <p:cNvPr id="29731" name="Picture 1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" y="3069"/>
                <a:ext cx="761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/>
                      <a:srcRect/>
                      <a:stretch>
                        <a:fillRect/>
                      </a:stretch>
                    </a:blip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29732" name="Text Box 11"/>
              <p:cNvSpPr txBox="1">
                <a:spLocks noChangeArrowheads="1"/>
              </p:cNvSpPr>
              <p:nvPr/>
            </p:nvSpPr>
            <p:spPr bwMode="auto">
              <a:xfrm>
                <a:off x="289" y="2914"/>
                <a:ext cx="319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449263">
                  <a:spcBef>
                    <a:spcPct val="20000"/>
                  </a:spcBef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Times New Roman" panose="02020603050405020304" pitchFamily="18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kumimoji="0" lang="de-DE" altLang="de-DE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|g&gt;</a:t>
                </a:r>
              </a:p>
            </p:txBody>
          </p:sp>
          <p:sp>
            <p:nvSpPr>
              <p:cNvPr id="29733" name="Line 12"/>
              <p:cNvSpPr>
                <a:spLocks noChangeShapeType="1"/>
              </p:cNvSpPr>
              <p:nvPr/>
            </p:nvSpPr>
            <p:spPr bwMode="auto">
              <a:xfrm>
                <a:off x="608" y="1485"/>
                <a:ext cx="8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34" name="Line 13"/>
              <p:cNvSpPr>
                <a:spLocks noChangeShapeType="1"/>
              </p:cNvSpPr>
              <p:nvPr/>
            </p:nvSpPr>
            <p:spPr bwMode="auto">
              <a:xfrm>
                <a:off x="608" y="3040"/>
                <a:ext cx="8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35" name="Line 14"/>
              <p:cNvSpPr>
                <a:spLocks noChangeShapeType="1"/>
              </p:cNvSpPr>
              <p:nvPr/>
            </p:nvSpPr>
            <p:spPr bwMode="auto">
              <a:xfrm>
                <a:off x="1126" y="1773"/>
                <a:ext cx="0" cy="1266"/>
              </a:xfrm>
              <a:prstGeom prst="line">
                <a:avLst/>
              </a:prstGeom>
              <a:noFill/>
              <a:ln w="2916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36" name="Text Box 15"/>
              <p:cNvSpPr txBox="1">
                <a:spLocks noChangeArrowheads="1"/>
              </p:cNvSpPr>
              <p:nvPr/>
            </p:nvSpPr>
            <p:spPr bwMode="auto">
              <a:xfrm>
                <a:off x="284" y="1370"/>
                <a:ext cx="323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449263">
                  <a:spcBef>
                    <a:spcPct val="20000"/>
                  </a:spcBef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Times New Roman" panose="02020603050405020304" pitchFamily="18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kumimoji="0" lang="de-DE" altLang="de-DE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|e&gt;</a:t>
                </a:r>
              </a:p>
            </p:txBody>
          </p:sp>
          <p:sp>
            <p:nvSpPr>
              <p:cNvPr id="29737" name="Text Box 16"/>
              <p:cNvSpPr txBox="1">
                <a:spLocks noChangeArrowheads="1"/>
              </p:cNvSpPr>
              <p:nvPr/>
            </p:nvSpPr>
            <p:spPr bwMode="auto">
              <a:xfrm>
                <a:off x="289" y="2914"/>
                <a:ext cx="319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449263">
                  <a:spcBef>
                    <a:spcPct val="20000"/>
                  </a:spcBef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Times New Roman" panose="02020603050405020304" pitchFamily="18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kumimoji="0" lang="de-DE" altLang="de-DE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|g&gt;</a:t>
                </a:r>
              </a:p>
            </p:txBody>
          </p:sp>
          <p:sp>
            <p:nvSpPr>
              <p:cNvPr id="29738" name="Line 17"/>
              <p:cNvSpPr>
                <a:spLocks noChangeShapeType="1"/>
              </p:cNvSpPr>
              <p:nvPr/>
            </p:nvSpPr>
            <p:spPr bwMode="auto">
              <a:xfrm>
                <a:off x="1126" y="1485"/>
                <a:ext cx="0" cy="287"/>
              </a:xfrm>
              <a:prstGeom prst="line">
                <a:avLst/>
              </a:prstGeom>
              <a:noFill/>
              <a:ln w="29160">
                <a:solidFill>
                  <a:srgbClr val="000000"/>
                </a:solidFill>
                <a:round/>
                <a:headEnd type="oval" w="lg" len="sm"/>
                <a:tailEnd type="oval" w="lg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39" name="Text Box 18"/>
              <p:cNvSpPr txBox="1">
                <a:spLocks noChangeArrowheads="1"/>
              </p:cNvSpPr>
              <p:nvPr/>
            </p:nvSpPr>
            <p:spPr bwMode="auto">
              <a:xfrm>
                <a:off x="1149" y="1498"/>
                <a:ext cx="463" cy="5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5000" rIns="90000" bIns="45000"/>
              <a:lstStyle>
                <a:lvl1pPr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449263">
                  <a:spcBef>
                    <a:spcPct val="20000"/>
                  </a:spcBef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Times New Roman" panose="02020603050405020304" pitchFamily="18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kumimoji="0" lang="de-DE" altLang="de-DE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ħ</a:t>
                </a:r>
                <a:r>
                  <a:rPr kumimoji="0" lang="de-DE" altLang="de-DE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Δ</a:t>
                </a:r>
              </a:p>
            </p:txBody>
          </p:sp>
          <p:sp>
            <p:nvSpPr>
              <p:cNvPr id="29740" name="Text Box 19"/>
              <p:cNvSpPr txBox="1">
                <a:spLocks noChangeArrowheads="1"/>
              </p:cNvSpPr>
              <p:nvPr/>
            </p:nvSpPr>
            <p:spPr bwMode="auto">
              <a:xfrm>
                <a:off x="1178" y="2291"/>
                <a:ext cx="56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449263">
                  <a:spcBef>
                    <a:spcPct val="20000"/>
                  </a:spcBef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Times New Roman" panose="02020603050405020304" pitchFamily="18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kumimoji="0" lang="de-DE" altLang="de-DE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I,</a:t>
                </a:r>
                <a:r>
                  <a:rPr kumimoji="0" lang="de-DE" altLang="de-DE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ħω</a:t>
                </a:r>
                <a:r>
                  <a:rPr kumimoji="0" lang="de-DE" altLang="de-DE" sz="2400" b="0" i="1" u="none" strike="noStrike" kern="1200" cap="none" spc="0" normalizeH="0" baseline="-3300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</a:t>
                </a:r>
                <a:r>
                  <a:rPr kumimoji="0" lang="de-DE" altLang="de-DE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29741" name="Line 20"/>
              <p:cNvSpPr>
                <a:spLocks noChangeShapeType="1"/>
              </p:cNvSpPr>
              <p:nvPr/>
            </p:nvSpPr>
            <p:spPr bwMode="auto">
              <a:xfrm>
                <a:off x="1529" y="3098"/>
                <a:ext cx="0" cy="242"/>
              </a:xfrm>
              <a:prstGeom prst="line">
                <a:avLst/>
              </a:prstGeom>
              <a:noFill/>
              <a:ln w="29160">
                <a:solidFill>
                  <a:srgbClr val="000000"/>
                </a:solidFill>
                <a:round/>
                <a:headEnd type="oval" w="lg" len="sm"/>
                <a:tailEnd type="oval" w="lg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42" name="Line 21"/>
              <p:cNvSpPr>
                <a:spLocks noChangeShapeType="1"/>
              </p:cNvSpPr>
              <p:nvPr/>
            </p:nvSpPr>
            <p:spPr bwMode="auto">
              <a:xfrm>
                <a:off x="864" y="1498"/>
                <a:ext cx="0" cy="1554"/>
              </a:xfrm>
              <a:prstGeom prst="line">
                <a:avLst/>
              </a:prstGeom>
              <a:noFill/>
              <a:ln w="2916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43" name="Text Box 22"/>
              <p:cNvSpPr txBox="1">
                <a:spLocks noChangeArrowheads="1"/>
              </p:cNvSpPr>
              <p:nvPr/>
            </p:nvSpPr>
            <p:spPr bwMode="auto">
              <a:xfrm>
                <a:off x="470" y="2258"/>
                <a:ext cx="545" cy="5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5000" rIns="90000" bIns="45000"/>
              <a:lstStyle>
                <a:lvl1pPr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449263">
                  <a:spcBef>
                    <a:spcPct val="20000"/>
                  </a:spcBef>
                  <a:buChar char="•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449263">
                  <a:spcBef>
                    <a:spcPct val="20000"/>
                  </a:spcBef>
                  <a:buChar char="–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449263">
                  <a:spcBef>
                    <a:spcPct val="20000"/>
                  </a:spcBef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449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Times New Roman" panose="02020603050405020304" pitchFamily="18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/>
                </a:pPr>
                <a:r>
                  <a:rPr kumimoji="0" lang="de-DE" altLang="de-DE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ħω</a:t>
                </a:r>
                <a:r>
                  <a:rPr kumimoji="0" lang="de-DE" altLang="de-DE" sz="2400" b="0" i="0" u="none" strike="noStrike" kern="1200" cap="none" spc="0" normalizeH="0" baseline="-3300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0</a:t>
                </a:r>
              </a:p>
            </p:txBody>
          </p:sp>
          <p:pic>
            <p:nvPicPr>
              <p:cNvPr id="29744" name="Picture 2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4" y="1175"/>
                <a:ext cx="763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/>
                      <a:srcRect/>
                      <a:stretch>
                        <a:fillRect/>
                      </a:stretch>
                    </a:blip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9726" name="Text Box 24"/>
            <p:cNvSpPr txBox="1">
              <a:spLocks noChangeArrowheads="1"/>
            </p:cNvSpPr>
            <p:nvPr/>
          </p:nvSpPr>
          <p:spPr bwMode="auto">
            <a:xfrm>
              <a:off x="1571" y="3053"/>
              <a:ext cx="393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/>
            <a:lstStyle>
              <a:lvl1pPr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449263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Times New Roman" panose="02020603050405020304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de-DE" altLang="de-DE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U</a:t>
              </a:r>
              <a:r>
                <a:rPr kumimoji="0" lang="de-DE" altLang="de-DE" sz="2400" b="0" i="0" u="none" strike="noStrike" kern="1200" cap="none" spc="0" normalizeH="0" baseline="-33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opt</a:t>
              </a:r>
            </a:p>
          </p:txBody>
        </p:sp>
        <p:sp>
          <p:nvSpPr>
            <p:cNvPr id="29727" name="Text Box 25"/>
            <p:cNvSpPr txBox="1">
              <a:spLocks noChangeArrowheads="1"/>
            </p:cNvSpPr>
            <p:nvPr/>
          </p:nvSpPr>
          <p:spPr bwMode="auto">
            <a:xfrm>
              <a:off x="295" y="3602"/>
              <a:ext cx="1720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/>
            <a:lstStyle>
              <a:lvl1pPr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449263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Times New Roman" panose="02020603050405020304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de-DE" altLang="de-DE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ac-Stark shift</a:t>
              </a:r>
            </a:p>
          </p:txBody>
        </p:sp>
      </p:grpSp>
      <p:pic>
        <p:nvPicPr>
          <p:cNvPr id="29700" name="Picture 3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1" name="Picture 3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02" name="Text Box 32"/>
          <p:cNvSpPr txBox="1">
            <a:spLocks noChangeArrowheads="1"/>
          </p:cNvSpPr>
          <p:nvPr/>
        </p:nvSpPr>
        <p:spPr bwMode="auto">
          <a:xfrm>
            <a:off x="2098675" y="134938"/>
            <a:ext cx="4962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optical trapping - </a:t>
            </a:r>
            <a:r>
              <a:rPr lang="en-US" altLang="de-DE" dirty="0" smtClean="0">
                <a:solidFill>
                  <a:srgbClr val="FFFFFF"/>
                </a:solidFill>
                <a:latin typeface="Arial" panose="020B0604020202020204" pitchFamily="34" charset="0"/>
              </a:rPr>
              <a:t>recap</a:t>
            </a:r>
            <a:endParaRPr kumimoji="0" lang="en-US" altLang="de-DE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9703" name="Picture 33" descr="Kopie (4_blue) von Laseraufbau_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4" name="Group 34"/>
          <p:cNvGrpSpPr>
            <a:grpSpLocks/>
          </p:cNvGrpSpPr>
          <p:nvPr/>
        </p:nvGrpSpPr>
        <p:grpSpPr bwMode="auto">
          <a:xfrm>
            <a:off x="3802063" y="1527175"/>
            <a:ext cx="4635500" cy="3598863"/>
            <a:chOff x="2395" y="962"/>
            <a:chExt cx="2920" cy="2267"/>
          </a:xfrm>
        </p:grpSpPr>
        <p:sp>
          <p:nvSpPr>
            <p:cNvPr id="29705" name="AutoShape 35"/>
            <p:cNvSpPr>
              <a:spLocks noChangeArrowheads="1"/>
            </p:cNvSpPr>
            <p:nvPr/>
          </p:nvSpPr>
          <p:spPr bwMode="auto">
            <a:xfrm>
              <a:off x="2395" y="962"/>
              <a:ext cx="2920" cy="2267"/>
            </a:xfrm>
            <a:prstGeom prst="roundRect">
              <a:avLst>
                <a:gd name="adj" fmla="val 42"/>
              </a:avLst>
            </a:prstGeom>
            <a:solidFill>
              <a:srgbClr val="0066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06" name="AutoShape 36"/>
            <p:cNvSpPr>
              <a:spLocks noChangeArrowheads="1"/>
            </p:cNvSpPr>
            <p:nvPr/>
          </p:nvSpPr>
          <p:spPr bwMode="auto">
            <a:xfrm>
              <a:off x="2496" y="1013"/>
              <a:ext cx="1106" cy="2165"/>
            </a:xfrm>
            <a:prstGeom prst="roundRect">
              <a:avLst>
                <a:gd name="adj" fmla="val 88"/>
              </a:avLst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07" name="AutoShape 37"/>
            <p:cNvSpPr>
              <a:spLocks noChangeArrowheads="1"/>
            </p:cNvSpPr>
            <p:nvPr/>
          </p:nvSpPr>
          <p:spPr bwMode="auto">
            <a:xfrm>
              <a:off x="3402" y="1013"/>
              <a:ext cx="1812" cy="1711"/>
            </a:xfrm>
            <a:prstGeom prst="roundRect">
              <a:avLst>
                <a:gd name="adj" fmla="val 56"/>
              </a:avLst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de-DE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08" name="Line 38"/>
            <p:cNvSpPr>
              <a:spLocks noChangeShapeType="1"/>
            </p:cNvSpPr>
            <p:nvPr/>
          </p:nvSpPr>
          <p:spPr bwMode="auto">
            <a:xfrm>
              <a:off x="2603" y="2880"/>
              <a:ext cx="664" cy="2"/>
            </a:xfrm>
            <a:prstGeom prst="line">
              <a:avLst/>
            </a:prstGeom>
            <a:noFill/>
            <a:ln w="720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09" name="Line 39"/>
            <p:cNvSpPr>
              <a:spLocks noChangeShapeType="1"/>
            </p:cNvSpPr>
            <p:nvPr/>
          </p:nvSpPr>
          <p:spPr bwMode="auto">
            <a:xfrm>
              <a:off x="2596" y="1365"/>
              <a:ext cx="2315" cy="0"/>
            </a:xfrm>
            <a:prstGeom prst="line">
              <a:avLst/>
            </a:prstGeom>
            <a:noFill/>
            <a:ln w="720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10" name="Line 40"/>
            <p:cNvSpPr>
              <a:spLocks noChangeShapeType="1"/>
            </p:cNvSpPr>
            <p:nvPr/>
          </p:nvSpPr>
          <p:spPr bwMode="auto">
            <a:xfrm>
              <a:off x="4252" y="2243"/>
              <a:ext cx="654" cy="1"/>
            </a:xfrm>
            <a:prstGeom prst="line">
              <a:avLst/>
            </a:prstGeom>
            <a:noFill/>
            <a:ln w="720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11" name="Text Box 41"/>
            <p:cNvSpPr txBox="1">
              <a:spLocks noChangeArrowheads="1"/>
            </p:cNvSpPr>
            <p:nvPr/>
          </p:nvSpPr>
          <p:spPr bwMode="auto">
            <a:xfrm>
              <a:off x="4913" y="2121"/>
              <a:ext cx="3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/>
            <a:lstStyle>
              <a:lvl1pPr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449263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Times New Roman" panose="02020603050405020304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de-DE" altLang="de-DE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|D&gt;</a:t>
              </a:r>
            </a:p>
          </p:txBody>
        </p:sp>
        <p:sp>
          <p:nvSpPr>
            <p:cNvPr id="29712" name="Text Box 42"/>
            <p:cNvSpPr txBox="1">
              <a:spLocks noChangeArrowheads="1"/>
            </p:cNvSpPr>
            <p:nvPr/>
          </p:nvSpPr>
          <p:spPr bwMode="auto">
            <a:xfrm>
              <a:off x="3282" y="2776"/>
              <a:ext cx="3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/>
            <a:lstStyle>
              <a:lvl1pPr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449263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Times New Roman" panose="02020603050405020304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de-DE" altLang="de-DE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|S&gt;</a:t>
              </a:r>
            </a:p>
          </p:txBody>
        </p:sp>
        <p:sp>
          <p:nvSpPr>
            <p:cNvPr id="29713" name="Text Box 43"/>
            <p:cNvSpPr txBox="1">
              <a:spLocks noChangeArrowheads="1"/>
            </p:cNvSpPr>
            <p:nvPr/>
          </p:nvSpPr>
          <p:spPr bwMode="auto">
            <a:xfrm>
              <a:off x="4913" y="1265"/>
              <a:ext cx="3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/>
            <a:lstStyle>
              <a:lvl1pPr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449263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Times New Roman" panose="02020603050405020304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de-DE" altLang="de-DE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|P&gt;</a:t>
              </a:r>
            </a:p>
          </p:txBody>
        </p:sp>
        <p:sp>
          <p:nvSpPr>
            <p:cNvPr id="29714" name="Line 44"/>
            <p:cNvSpPr>
              <a:spLocks noChangeShapeType="1"/>
            </p:cNvSpPr>
            <p:nvPr/>
          </p:nvSpPr>
          <p:spPr bwMode="auto">
            <a:xfrm flipV="1">
              <a:off x="4493" y="1139"/>
              <a:ext cx="0" cy="1095"/>
            </a:xfrm>
            <a:prstGeom prst="line">
              <a:avLst/>
            </a:prstGeom>
            <a:noFill/>
            <a:ln w="108000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15" name="Line 45"/>
            <p:cNvSpPr>
              <a:spLocks noChangeShapeType="1"/>
            </p:cNvSpPr>
            <p:nvPr/>
          </p:nvSpPr>
          <p:spPr bwMode="auto">
            <a:xfrm>
              <a:off x="3053" y="1382"/>
              <a:ext cx="0" cy="402"/>
            </a:xfrm>
            <a:prstGeom prst="line">
              <a:avLst/>
            </a:prstGeom>
            <a:noFill/>
            <a:ln w="360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16" name="Text Box 46"/>
            <p:cNvSpPr txBox="1">
              <a:spLocks noChangeArrowheads="1"/>
            </p:cNvSpPr>
            <p:nvPr/>
          </p:nvSpPr>
          <p:spPr bwMode="auto">
            <a:xfrm>
              <a:off x="3076" y="1431"/>
              <a:ext cx="26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5000" rIns="90000" bIns="45000"/>
            <a:lstStyle>
              <a:lvl1pPr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449263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Times New Roman" panose="02020603050405020304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de-DE" altLang="de-DE" sz="22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Δ</a:t>
              </a:r>
              <a:r>
                <a:rPr kumimoji="0" lang="de-DE" altLang="de-DE" sz="2200" b="0" i="1" u="none" strike="noStrike" kern="1200" cap="none" spc="0" normalizeH="0" baseline="-33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717" name="Line 47"/>
            <p:cNvSpPr>
              <a:spLocks noChangeShapeType="1"/>
            </p:cNvSpPr>
            <p:nvPr/>
          </p:nvSpPr>
          <p:spPr bwMode="auto">
            <a:xfrm>
              <a:off x="4629" y="1133"/>
              <a:ext cx="0" cy="229"/>
            </a:xfrm>
            <a:prstGeom prst="line">
              <a:avLst/>
            </a:prstGeom>
            <a:noFill/>
            <a:ln w="360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18" name="Text Box 48"/>
            <p:cNvSpPr txBox="1">
              <a:spLocks noChangeArrowheads="1"/>
            </p:cNvSpPr>
            <p:nvPr/>
          </p:nvSpPr>
          <p:spPr bwMode="auto">
            <a:xfrm>
              <a:off x="4666" y="1071"/>
              <a:ext cx="26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/>
            <a:lstStyle>
              <a:lvl1pPr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449263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449263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449263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Times New Roman" panose="02020603050405020304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de-DE" altLang="de-DE" sz="22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Δ</a:t>
              </a:r>
              <a:r>
                <a:rPr kumimoji="0" lang="de-DE" altLang="de-DE" sz="2200" b="0" i="1" u="none" strike="noStrike" kern="1200" cap="none" spc="0" normalizeH="0" baseline="-33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2</a:t>
              </a:r>
            </a:p>
          </p:txBody>
        </p:sp>
        <p:pic>
          <p:nvPicPr>
            <p:cNvPr id="29719" name="Picture 4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" y="2915"/>
              <a:ext cx="65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9720" name="Line 50"/>
            <p:cNvSpPr>
              <a:spLocks noChangeShapeType="1"/>
            </p:cNvSpPr>
            <p:nvPr/>
          </p:nvSpPr>
          <p:spPr bwMode="auto">
            <a:xfrm flipV="1">
              <a:off x="3053" y="1785"/>
              <a:ext cx="0" cy="1095"/>
            </a:xfrm>
            <a:prstGeom prst="line">
              <a:avLst/>
            </a:prstGeom>
            <a:noFill/>
            <a:ln w="108000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pic>
          <p:nvPicPr>
            <p:cNvPr id="29721" name="Picture 51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2" y="2304"/>
              <a:ext cx="620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9722" name="Picture 5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8" y="1210"/>
              <a:ext cx="679" cy="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" name="Textfeld 1"/>
          <p:cNvSpPr txBox="1"/>
          <p:nvPr/>
        </p:nvSpPr>
        <p:spPr>
          <a:xfrm>
            <a:off x="3679825" y="1054802"/>
            <a:ext cx="4969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/>
              <a:t>d</a:t>
            </a:r>
            <a:r>
              <a:rPr lang="en-US" sz="2000" u="sng" dirty="0" smtClean="0"/>
              <a:t>ependent on electronic state (&amp; species)</a:t>
            </a:r>
            <a:endParaRPr 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31964660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344163" y="134938"/>
            <a:ext cx="7143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dirty="0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r>
              <a:rPr lang="en-US" altLang="de-DE" dirty="0" smtClean="0">
                <a:solidFill>
                  <a:srgbClr val="FFFFFF"/>
                </a:solidFill>
                <a:latin typeface="Arial" panose="020B0604020202020204" pitchFamily="34" charset="0"/>
              </a:rPr>
              <a:t>i-chromatic ODT for atoms + ion(s)</a:t>
            </a:r>
            <a:endParaRPr lang="en-US" altLang="de-DE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509" y="3989132"/>
            <a:ext cx="1094020" cy="520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23" name="Rectangle 20"/>
          <p:cNvSpPr>
            <a:spLocks noChangeArrowheads="1"/>
          </p:cNvSpPr>
          <p:nvPr/>
        </p:nvSpPr>
        <p:spPr bwMode="auto">
          <a:xfrm>
            <a:off x="1089544" y="4140950"/>
            <a:ext cx="1295400" cy="180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031" name="Text Box 28"/>
          <p:cNvSpPr txBox="1">
            <a:spLocks noChangeArrowheads="1"/>
          </p:cNvSpPr>
          <p:nvPr/>
        </p:nvSpPr>
        <p:spPr bwMode="auto">
          <a:xfrm>
            <a:off x="708247" y="1001282"/>
            <a:ext cx="28568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000" b="1" u="sng" dirty="0">
                <a:solidFill>
                  <a:srgbClr val="000000"/>
                </a:solidFill>
                <a:latin typeface="Arial" panose="020B0604020202020204" pitchFamily="34" charset="0"/>
              </a:rPr>
              <a:t>bi-chromatic </a:t>
            </a:r>
            <a:r>
              <a:rPr lang="en-US" altLang="de-DE" sz="20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de-DE" sz="20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de-DE" sz="20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(attractive - attractive)</a:t>
            </a:r>
            <a:endParaRPr lang="en-US" altLang="de-DE" sz="2000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uppieren 1"/>
          <p:cNvGrpSpPr/>
          <p:nvPr/>
        </p:nvGrpSpPr>
        <p:grpSpPr>
          <a:xfrm>
            <a:off x="7137400" y="140140"/>
            <a:ext cx="1901825" cy="555625"/>
            <a:chOff x="6199027" y="908844"/>
            <a:chExt cx="1901825" cy="555625"/>
          </a:xfrm>
        </p:grpSpPr>
        <p:pic>
          <p:nvPicPr>
            <p:cNvPr id="43034" name="Picture 32" descr="Kopie (5) von Laseraufbau_rot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9027" y="923131"/>
              <a:ext cx="809625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35" name="Picture 33" descr="Kopie (3) von Laseraufbau_c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5827" y="908844"/>
              <a:ext cx="835025" cy="555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36" name="Text Box 34"/>
            <p:cNvSpPr txBox="1">
              <a:spLocks noChangeArrowheads="1"/>
            </p:cNvSpPr>
            <p:nvPr/>
          </p:nvSpPr>
          <p:spPr bwMode="auto">
            <a:xfrm>
              <a:off x="6954677" y="943769"/>
              <a:ext cx="361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400" dirty="0">
                  <a:solidFill>
                    <a:schemeClr val="bg1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pic>
        <p:nvPicPr>
          <p:cNvPr id="3" name="Grafik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6146" y="3669431"/>
            <a:ext cx="1476294" cy="2097891"/>
          </a:xfrm>
          <a:prstGeom prst="rect">
            <a:avLst/>
          </a:prstGeom>
        </p:spPr>
      </p:pic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3831961" y="3120035"/>
            <a:ext cx="212109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400" b="1" u="sng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138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Ba</a:t>
            </a:r>
            <a:r>
              <a:rPr lang="en-US" altLang="de-DE" sz="2400" b="1" u="sng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 in </a:t>
            </a:r>
            <a:r>
              <a:rPr lang="en-US" altLang="de-DE" sz="2400" b="1" u="sng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87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Rb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(NIR only?)</a:t>
            </a: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>
            <a:off x="1498233" y="1963546"/>
            <a:ext cx="11256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400" b="1" u="sng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138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Ba</a:t>
            </a:r>
            <a:r>
              <a:rPr lang="en-US" altLang="de-DE" sz="2400" b="1" u="sng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de-DE" sz="2400" b="1" u="sng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7792869" y="1957479"/>
            <a:ext cx="8226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400" b="1" u="sng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87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Rb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32278" y="2705131"/>
            <a:ext cx="3882683" cy="2810022"/>
          </a:xfrm>
          <a:prstGeom prst="rect">
            <a:avLst/>
          </a:prstGeom>
        </p:spPr>
      </p:pic>
      <p:sp>
        <p:nvSpPr>
          <p:cNvPr id="37" name="Line 50"/>
          <p:cNvSpPr>
            <a:spLocks noChangeShapeType="1"/>
          </p:cNvSpPr>
          <p:nvPr/>
        </p:nvSpPr>
        <p:spPr bwMode="auto">
          <a:xfrm flipV="1">
            <a:off x="1332681" y="3621717"/>
            <a:ext cx="0" cy="1738313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" name="Line 50"/>
          <p:cNvSpPr>
            <a:spLocks noChangeShapeType="1"/>
          </p:cNvSpPr>
          <p:nvPr/>
        </p:nvSpPr>
        <p:spPr bwMode="auto">
          <a:xfrm flipH="1" flipV="1">
            <a:off x="1551337" y="4444153"/>
            <a:ext cx="22538" cy="90606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3193" y="952901"/>
            <a:ext cx="2799181" cy="2050411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2875521" y="4610307"/>
            <a:ext cx="578876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- ion    in |S&gt; trapped (VIS and NIR)</a:t>
            </a:r>
          </a:p>
          <a:p>
            <a:pPr>
              <a:spcBef>
                <a:spcPct val="0"/>
              </a:spcBef>
              <a:buNone/>
            </a:pP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- atom in |S&gt; trapped by NIR</a:t>
            </a:r>
          </a:p>
          <a:p>
            <a:pPr>
              <a:spcBef>
                <a:spcPct val="0"/>
              </a:spcBef>
              <a:buNone/>
            </a:pP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- ion    : </a:t>
            </a:r>
            <a:r>
              <a:rPr lang="en-US" altLang="de-DE" sz="1800" dirty="0" smtClean="0">
                <a:solidFill>
                  <a:srgbClr val="000000"/>
                </a:solidFill>
                <a:latin typeface="Symbol" panose="05050102010706020507" pitchFamily="18" charset="2"/>
              </a:rPr>
              <a:t>D</a:t>
            </a: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&gt; from NIR (e</a:t>
            </a:r>
            <a:r>
              <a:rPr lang="en-US" altLang="de-DE" sz="1800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missing)</a:t>
            </a:r>
          </a:p>
          <a:p>
            <a:pPr>
              <a:spcBef>
                <a:spcPct val="0"/>
              </a:spcBef>
              <a:buNone/>
            </a:pP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confinement weaker</a:t>
            </a:r>
          </a:p>
          <a:p>
            <a:pPr>
              <a:spcBef>
                <a:spcPct val="0"/>
              </a:spcBef>
              <a:buNone/>
            </a:pP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ion starts hot (T</a:t>
            </a:r>
            <a:r>
              <a:rPr lang="en-US" altLang="de-DE" sz="1800" baseline="-25000" dirty="0" smtClean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~360µK – </a:t>
            </a:r>
            <a:r>
              <a:rPr lang="en-US" altLang="de-DE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rf</a:t>
            </a: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-heating)</a:t>
            </a:r>
            <a:r>
              <a:rPr lang="en-US" altLang="de-DE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18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n-US" altLang="de-DE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ad for: evaporative/sympathetic (pre-)cooling!</a:t>
            </a:r>
            <a:endParaRPr lang="en-US" altLang="de-DE" sz="1800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de-DE" sz="2000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 Box 28"/>
          <p:cNvSpPr txBox="1">
            <a:spLocks noChangeArrowheads="1"/>
          </p:cNvSpPr>
          <p:nvPr/>
        </p:nvSpPr>
        <p:spPr bwMode="auto">
          <a:xfrm>
            <a:off x="6380982" y="1062196"/>
            <a:ext cx="284404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000" b="1" u="sng" dirty="0">
                <a:solidFill>
                  <a:srgbClr val="000000"/>
                </a:solidFill>
                <a:latin typeface="Arial" panose="020B0604020202020204" pitchFamily="34" charset="0"/>
              </a:rPr>
              <a:t>bi-chromatic </a:t>
            </a:r>
            <a:r>
              <a:rPr lang="en-US" altLang="de-DE" sz="20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de-DE" sz="20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de-DE" sz="20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(repulsive - attractive)</a:t>
            </a:r>
            <a:endParaRPr lang="en-US" altLang="de-DE" sz="2000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 rot="19051523">
            <a:off x="3484924" y="3080025"/>
            <a:ext cx="3022815" cy="461665"/>
          </a:xfrm>
          <a:prstGeom prst="rect">
            <a:avLst/>
          </a:prstGeom>
          <a:solidFill>
            <a:schemeClr val="bg1"/>
          </a:solidFill>
          <a:ln w="5080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For T</a:t>
            </a:r>
            <a:r>
              <a:rPr lang="en-US" baseline="-25000" dirty="0" smtClean="0"/>
              <a:t>&gt;</a:t>
            </a:r>
            <a:r>
              <a:rPr lang="en-US" dirty="0" smtClean="0"/>
              <a:t> =&gt; NIR &amp; VIS</a:t>
            </a:r>
            <a:endParaRPr lang="en-US" dirty="0"/>
          </a:p>
        </p:txBody>
      </p:sp>
      <p:sp>
        <p:nvSpPr>
          <p:cNvPr id="6" name="Textfeld 5"/>
          <p:cNvSpPr txBox="1"/>
          <p:nvPr/>
        </p:nvSpPr>
        <p:spPr>
          <a:xfrm>
            <a:off x="1425171" y="5412959"/>
            <a:ext cx="7152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NIR</a:t>
            </a:r>
          </a:p>
          <a:p>
            <a:r>
              <a:rPr lang="en-US" sz="1800" dirty="0" smtClean="0">
                <a:solidFill>
                  <a:srgbClr val="FF0000"/>
                </a:solidFill>
              </a:rPr>
              <a:t>1064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8" name="Textfeld 27"/>
          <p:cNvSpPr txBox="1"/>
          <p:nvPr/>
        </p:nvSpPr>
        <p:spPr>
          <a:xfrm>
            <a:off x="7097818" y="5391858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NIR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896865" y="5426226"/>
            <a:ext cx="6799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FF00"/>
                </a:solidFill>
              </a:rPr>
              <a:t>VIS</a:t>
            </a:r>
          </a:p>
          <a:p>
            <a:r>
              <a:rPr lang="en-US" sz="1800" dirty="0" smtClean="0">
                <a:solidFill>
                  <a:srgbClr val="00FF00"/>
                </a:solidFill>
              </a:rPr>
              <a:t> 532</a:t>
            </a:r>
            <a:endParaRPr lang="en-US" sz="1800" dirty="0">
              <a:solidFill>
                <a:srgbClr val="00FF00"/>
              </a:solidFill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6806259" y="327301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FF00"/>
                </a:solidFill>
              </a:rPr>
              <a:t>VIS</a:t>
            </a:r>
            <a:endParaRPr lang="en-US" dirty="0">
              <a:solidFill>
                <a:srgbClr val="00FF00"/>
              </a:solidFill>
            </a:endParaRPr>
          </a:p>
        </p:txBody>
      </p:sp>
      <p:sp>
        <p:nvSpPr>
          <p:cNvPr id="8" name="Rechteck 7"/>
          <p:cNvSpPr/>
          <p:nvPr/>
        </p:nvSpPr>
        <p:spPr bwMode="auto">
          <a:xfrm>
            <a:off x="-884535" y="2216600"/>
            <a:ext cx="1179389" cy="32985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Line 50"/>
          <p:cNvSpPr>
            <a:spLocks noChangeShapeType="1"/>
          </p:cNvSpPr>
          <p:nvPr/>
        </p:nvSpPr>
        <p:spPr bwMode="auto">
          <a:xfrm flipV="1">
            <a:off x="7140442" y="3693580"/>
            <a:ext cx="0" cy="1738313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6" name="Line 50"/>
          <p:cNvSpPr>
            <a:spLocks noChangeShapeType="1"/>
          </p:cNvSpPr>
          <p:nvPr/>
        </p:nvSpPr>
        <p:spPr bwMode="auto">
          <a:xfrm flipH="1" flipV="1">
            <a:off x="7389235" y="4525825"/>
            <a:ext cx="22538" cy="90606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15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3016" grpId="0"/>
      <p:bldP spid="7" grpId="0" animBg="1"/>
      <p:bldP spid="6" grpId="0"/>
      <p:bldP spid="28" grpId="0"/>
      <p:bldP spid="29" grpId="0"/>
      <p:bldP spid="35" grpId="0"/>
      <p:bldP spid="31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45" y="2642422"/>
            <a:ext cx="1094020" cy="520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890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892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3" name="Text Box 19"/>
          <p:cNvSpPr txBox="1">
            <a:spLocks noChangeArrowheads="1"/>
          </p:cNvSpPr>
          <p:nvPr/>
        </p:nvSpPr>
        <p:spPr bwMode="auto">
          <a:xfrm>
            <a:off x="1449453" y="113153"/>
            <a:ext cx="6229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>
                <a:solidFill>
                  <a:srgbClr val="FFFFFF"/>
                </a:solidFill>
                <a:latin typeface="Arial" panose="020B0604020202020204" pitchFamily="34" charset="0"/>
              </a:rPr>
              <a:t>m</a:t>
            </a:r>
            <a:r>
              <a:rPr lang="en-US" altLang="de-DE" dirty="0" smtClean="0">
                <a:solidFill>
                  <a:srgbClr val="FFFFFF"/>
                </a:solidFill>
                <a:latin typeface="Arial" panose="020B0604020202020204" pitchFamily="34" charset="0"/>
              </a:rPr>
              <a:t>atching individual potentials</a:t>
            </a:r>
            <a:r>
              <a:rPr kumimoji="0" lang="en-US" altLang="de-DE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de-DE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7895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1978" y="1292727"/>
            <a:ext cx="3916712" cy="28696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52" y="3393064"/>
            <a:ext cx="2099245" cy="1930650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0663" y="3175902"/>
            <a:ext cx="2071067" cy="1972850"/>
          </a:xfrm>
          <a:prstGeom prst="rect">
            <a:avLst/>
          </a:prstGeom>
        </p:spPr>
      </p:pic>
      <p:grpSp>
        <p:nvGrpSpPr>
          <p:cNvPr id="13" name="Gruppieren 12"/>
          <p:cNvGrpSpPr/>
          <p:nvPr/>
        </p:nvGrpSpPr>
        <p:grpSpPr>
          <a:xfrm>
            <a:off x="7137400" y="140140"/>
            <a:ext cx="1901825" cy="555625"/>
            <a:chOff x="6199027" y="908844"/>
            <a:chExt cx="1901825" cy="555625"/>
          </a:xfrm>
        </p:grpSpPr>
        <p:pic>
          <p:nvPicPr>
            <p:cNvPr id="14" name="Picture 32" descr="Kopie (5) von Laseraufbau_rot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9027" y="923131"/>
              <a:ext cx="809625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33" descr="Kopie (3) von Laseraufbau_c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5827" y="908844"/>
              <a:ext cx="835025" cy="555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 Box 34"/>
            <p:cNvSpPr txBox="1">
              <a:spLocks noChangeArrowheads="1"/>
            </p:cNvSpPr>
            <p:nvPr/>
          </p:nvSpPr>
          <p:spPr bwMode="auto">
            <a:xfrm>
              <a:off x="6954677" y="943769"/>
              <a:ext cx="361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400" dirty="0">
                  <a:solidFill>
                    <a:schemeClr val="bg1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5" name="Textfeld 4"/>
          <p:cNvSpPr txBox="1"/>
          <p:nvPr/>
        </p:nvSpPr>
        <p:spPr>
          <a:xfrm>
            <a:off x="2741915" y="4278178"/>
            <a:ext cx="3817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+ </a:t>
            </a:r>
            <a:r>
              <a:rPr lang="de-DE" sz="2000" dirty="0" err="1" smtClean="0"/>
              <a:t>stray</a:t>
            </a:r>
            <a:r>
              <a:rPr lang="de-DE" sz="2000" dirty="0" smtClean="0"/>
              <a:t> </a:t>
            </a:r>
            <a:r>
              <a:rPr lang="de-DE" sz="2000" dirty="0" err="1" smtClean="0"/>
              <a:t>field</a:t>
            </a:r>
            <a:r>
              <a:rPr lang="de-DE" sz="2000" dirty="0" smtClean="0"/>
              <a:t>                &lt; 5 mV/m</a:t>
            </a:r>
          </a:p>
          <a:p>
            <a:r>
              <a:rPr lang="de-DE" sz="2000" dirty="0" smtClean="0"/>
              <a:t>+ dc-</a:t>
            </a:r>
            <a:r>
              <a:rPr lang="de-DE" sz="2000" dirty="0" err="1" smtClean="0"/>
              <a:t>deconfinement</a:t>
            </a:r>
            <a:r>
              <a:rPr lang="de-DE" sz="2000" dirty="0"/>
              <a:t> </a:t>
            </a:r>
            <a:r>
              <a:rPr lang="de-DE" sz="2000" dirty="0" smtClean="0"/>
              <a:t>(2</a:t>
            </a:r>
            <a:r>
              <a:rPr lang="de-DE" sz="2000" dirty="0" smtClean="0">
                <a:latin typeface="Symbol" panose="05050102010706020507" pitchFamily="18" charset="2"/>
              </a:rPr>
              <a:t>p</a:t>
            </a:r>
            <a:r>
              <a:rPr lang="de-DE" sz="2000" dirty="0" smtClean="0"/>
              <a:t> 11 kHz)</a:t>
            </a:r>
            <a:endParaRPr lang="en-GB" sz="2000" dirty="0"/>
          </a:p>
        </p:txBody>
      </p:sp>
      <p:sp>
        <p:nvSpPr>
          <p:cNvPr id="19" name="Textfeld 18"/>
          <p:cNvSpPr txBox="1"/>
          <p:nvPr/>
        </p:nvSpPr>
        <p:spPr>
          <a:xfrm>
            <a:off x="3026721" y="5140581"/>
            <a:ext cx="4071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+ </a:t>
            </a:r>
            <a:r>
              <a:rPr lang="en-US" sz="2000" dirty="0" err="1" smtClean="0"/>
              <a:t>evaporativly</a:t>
            </a:r>
            <a:r>
              <a:rPr lang="en-US" sz="2000" dirty="0" smtClean="0"/>
              <a:t> cooled </a:t>
            </a:r>
            <a:r>
              <a:rPr lang="en-US" sz="2000" dirty="0" err="1" smtClean="0"/>
              <a:t>Rb</a:t>
            </a:r>
            <a:r>
              <a:rPr lang="en-US" sz="2000" dirty="0" smtClean="0"/>
              <a:t> (1-30µK)</a:t>
            </a:r>
          </a:p>
          <a:p>
            <a:r>
              <a:rPr lang="en-US" sz="2000" dirty="0" smtClean="0"/>
              <a:t>+ Ba</a:t>
            </a:r>
            <a:r>
              <a:rPr lang="en-US" sz="2000" baseline="30000" dirty="0" smtClean="0"/>
              <a:t>+</a:t>
            </a:r>
            <a:r>
              <a:rPr lang="en-US" sz="2000" dirty="0" smtClean="0"/>
              <a:t> starting at T</a:t>
            </a:r>
            <a:r>
              <a:rPr lang="en-US" sz="2000" baseline="-25000" dirty="0" smtClean="0"/>
              <a:t>D</a:t>
            </a:r>
            <a:r>
              <a:rPr lang="en-US" sz="2000" dirty="0" smtClean="0"/>
              <a:t>~360µK !!!</a:t>
            </a:r>
            <a:endParaRPr lang="en-US" sz="2000" dirty="0"/>
          </a:p>
        </p:txBody>
      </p:sp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16" y="2642422"/>
            <a:ext cx="1094020" cy="520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Textfeld 28"/>
          <p:cNvSpPr txBox="1"/>
          <p:nvPr/>
        </p:nvSpPr>
        <p:spPr>
          <a:xfrm>
            <a:off x="1225981" y="4121766"/>
            <a:ext cx="514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33CC33"/>
                </a:solidFill>
              </a:rPr>
              <a:t>VIS</a:t>
            </a:r>
            <a:endParaRPr lang="en-GB" sz="1600" dirty="0">
              <a:solidFill>
                <a:srgbClr val="33CC33"/>
              </a:solidFill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1225155" y="3608561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FF3300"/>
                </a:solidFill>
              </a:rPr>
              <a:t>NIR</a:t>
            </a:r>
            <a:endParaRPr lang="en-GB" sz="1600" dirty="0">
              <a:solidFill>
                <a:srgbClr val="FF3300"/>
              </a:solidFill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8154313" y="3449657"/>
            <a:ext cx="514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33CC33"/>
                </a:solidFill>
              </a:rPr>
              <a:t>VIS</a:t>
            </a:r>
            <a:endParaRPr lang="en-GB" sz="1600" dirty="0">
              <a:solidFill>
                <a:srgbClr val="33CC33"/>
              </a:solidFill>
            </a:endParaRPr>
          </a:p>
        </p:txBody>
      </p:sp>
      <p:sp>
        <p:nvSpPr>
          <p:cNvPr id="32" name="Textfeld 31"/>
          <p:cNvSpPr txBox="1"/>
          <p:nvPr/>
        </p:nvSpPr>
        <p:spPr>
          <a:xfrm>
            <a:off x="8076200" y="4471729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FF3300"/>
                </a:solidFill>
              </a:rPr>
              <a:t>NIR</a:t>
            </a:r>
            <a:endParaRPr lang="en-GB" sz="1600" dirty="0">
              <a:solidFill>
                <a:srgbClr val="FF3300"/>
              </a:solidFill>
            </a:endParaRPr>
          </a:p>
        </p:txBody>
      </p:sp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3026721" y="6148328"/>
            <a:ext cx="32704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000" dirty="0" smtClean="0">
                <a:solidFill>
                  <a:srgbClr val="92D050"/>
                </a:solidFill>
                <a:latin typeface="Arial" panose="020B0604020202020204" pitchFamily="34" charset="0"/>
              </a:rPr>
              <a:t>P</a:t>
            </a:r>
            <a:r>
              <a:rPr lang="en-US" altLang="de-DE" sz="2000" baseline="-25000" dirty="0" smtClean="0">
                <a:solidFill>
                  <a:srgbClr val="92D050"/>
                </a:solidFill>
                <a:latin typeface="Arial" panose="020B0604020202020204" pitchFamily="34" charset="0"/>
              </a:rPr>
              <a:t>VIS</a:t>
            </a:r>
            <a:r>
              <a:rPr lang="en-US" altLang="de-DE" sz="2000" dirty="0" smtClean="0">
                <a:solidFill>
                  <a:srgbClr val="92D050"/>
                </a:solidFill>
                <a:latin typeface="Arial" panose="020B0604020202020204" pitchFamily="34" charset="0"/>
              </a:rPr>
              <a:t> &lt; 470mW	</a:t>
            </a:r>
            <a:r>
              <a:rPr lang="en-US" altLang="de-DE" sz="2000" dirty="0" err="1" smtClean="0">
                <a:solidFill>
                  <a:srgbClr val="92D050"/>
                </a:solidFill>
                <a:latin typeface="Symbol" panose="05050102010706020507" pitchFamily="18" charset="2"/>
              </a:rPr>
              <a:t>w</a:t>
            </a:r>
            <a:r>
              <a:rPr lang="en-US" altLang="de-DE" sz="2000" baseline="-25000" dirty="0" err="1">
                <a:solidFill>
                  <a:srgbClr val="92D050"/>
                </a:solidFill>
                <a:latin typeface="Arial" panose="020B0604020202020204" pitchFamily="34" charset="0"/>
              </a:rPr>
              <a:t>VIS</a:t>
            </a:r>
            <a:r>
              <a:rPr lang="en-US" altLang="de-DE" sz="2000" dirty="0" smtClean="0">
                <a:solidFill>
                  <a:srgbClr val="92D050"/>
                </a:solidFill>
                <a:latin typeface="Symbol" panose="05050102010706020507" pitchFamily="18" charset="2"/>
              </a:rPr>
              <a:t> </a:t>
            </a:r>
            <a:r>
              <a:rPr lang="en-US" altLang="de-DE" sz="2000" dirty="0" smtClean="0">
                <a:solidFill>
                  <a:srgbClr val="92D050"/>
                </a:solidFill>
                <a:latin typeface="Arial" panose="020B0604020202020204" pitchFamily="34" charset="0"/>
              </a:rPr>
              <a:t>~ 4</a:t>
            </a:r>
            <a:r>
              <a:rPr lang="en-US" altLang="de-DE" sz="2000" dirty="0" smtClean="0">
                <a:solidFill>
                  <a:srgbClr val="92D050"/>
                </a:solidFill>
                <a:latin typeface="Symbol" panose="05050102010706020507" pitchFamily="18" charset="2"/>
              </a:rPr>
              <a:t>m</a:t>
            </a:r>
            <a:r>
              <a:rPr lang="en-US" altLang="de-DE" sz="2000" dirty="0" smtClean="0">
                <a:solidFill>
                  <a:srgbClr val="92D050"/>
                </a:solidFill>
                <a:latin typeface="Arial" panose="020B0604020202020204" pitchFamily="34" charset="0"/>
              </a:rPr>
              <a:t>m</a:t>
            </a:r>
            <a:endParaRPr lang="en-US" altLang="de-DE" sz="2000" dirty="0">
              <a:solidFill>
                <a:srgbClr val="92D050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3030822" y="5808421"/>
            <a:ext cx="35493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000" dirty="0" smtClean="0">
                <a:solidFill>
                  <a:srgbClr val="FF3300"/>
                </a:solidFill>
                <a:latin typeface="Arial" panose="020B0604020202020204" pitchFamily="34" charset="0"/>
              </a:rPr>
              <a:t>P</a:t>
            </a:r>
            <a:r>
              <a:rPr lang="en-US" altLang="de-DE" sz="2000" baseline="-25000" dirty="0" smtClean="0">
                <a:solidFill>
                  <a:srgbClr val="FF3300"/>
                </a:solidFill>
                <a:latin typeface="Arial" panose="020B0604020202020204" pitchFamily="34" charset="0"/>
              </a:rPr>
              <a:t>NIR</a:t>
            </a:r>
            <a:r>
              <a:rPr lang="en-US" altLang="de-DE" sz="2000" dirty="0" smtClean="0">
                <a:solidFill>
                  <a:srgbClr val="FF3300"/>
                </a:solidFill>
                <a:latin typeface="Arial" panose="020B0604020202020204" pitchFamily="34" charset="0"/>
              </a:rPr>
              <a:t> &lt;  65mW	</a:t>
            </a:r>
            <a:r>
              <a:rPr lang="en-US" altLang="de-DE" sz="2000" dirty="0" err="1" smtClean="0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de-DE" sz="2000" baseline="-25000" dirty="0" err="1" smtClean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NIR</a:t>
            </a:r>
            <a:r>
              <a:rPr lang="en-US" altLang="de-DE" sz="2000" dirty="0" smtClean="0">
                <a:solidFill>
                  <a:srgbClr val="FF3300"/>
                </a:solidFill>
                <a:latin typeface="Symbol" panose="05050102010706020507" pitchFamily="18" charset="2"/>
              </a:rPr>
              <a:t> </a:t>
            </a:r>
            <a:r>
              <a:rPr lang="en-US" altLang="de-DE" sz="2000" dirty="0" smtClean="0">
                <a:solidFill>
                  <a:srgbClr val="FF3300"/>
                </a:solidFill>
                <a:latin typeface="Arial" panose="020B0604020202020204" pitchFamily="34" charset="0"/>
              </a:rPr>
              <a:t>~ 4</a:t>
            </a:r>
            <a:r>
              <a:rPr lang="en-US" altLang="de-DE" sz="2000" dirty="0" smtClean="0">
                <a:solidFill>
                  <a:srgbClr val="FF3300"/>
                </a:solidFill>
                <a:latin typeface="Symbol" panose="05050102010706020507" pitchFamily="18" charset="2"/>
              </a:rPr>
              <a:t>m</a:t>
            </a:r>
            <a:r>
              <a:rPr lang="en-US" altLang="de-DE" sz="2000" dirty="0" smtClean="0">
                <a:solidFill>
                  <a:srgbClr val="FF3300"/>
                </a:solidFill>
                <a:latin typeface="Arial" panose="020B0604020202020204" pitchFamily="34" charset="0"/>
              </a:rPr>
              <a:t>m  </a:t>
            </a:r>
            <a:endParaRPr lang="en-US" altLang="de-DE" sz="2000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25" name="Geschweifte Klammer rechts 24"/>
          <p:cNvSpPr/>
          <p:nvPr/>
        </p:nvSpPr>
        <p:spPr bwMode="auto">
          <a:xfrm>
            <a:off x="2025947" y="3884107"/>
            <a:ext cx="79696" cy="276836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Geschweifte Klammer rechts 37"/>
          <p:cNvSpPr/>
          <p:nvPr/>
        </p:nvSpPr>
        <p:spPr bwMode="auto">
          <a:xfrm flipH="1">
            <a:off x="2677155" y="4416523"/>
            <a:ext cx="137352" cy="483875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7" name="Gerade Verbindung mit Pfeil 26"/>
          <p:cNvCxnSpPr/>
          <p:nvPr/>
        </p:nvCxnSpPr>
        <p:spPr bwMode="auto">
          <a:xfrm>
            <a:off x="2157978" y="4009943"/>
            <a:ext cx="395660" cy="622178"/>
          </a:xfrm>
          <a:prstGeom prst="straightConnector1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feld 32"/>
          <p:cNvSpPr txBox="1"/>
          <p:nvPr/>
        </p:nvSpPr>
        <p:spPr>
          <a:xfrm rot="20088548">
            <a:off x="806806" y="1447362"/>
            <a:ext cx="1056700" cy="461665"/>
          </a:xfrm>
          <a:prstGeom prst="rect">
            <a:avLst/>
          </a:prstGeom>
          <a:solidFill>
            <a:schemeClr val="bg1"/>
          </a:solidFill>
          <a:ln w="50800">
            <a:solidFill>
              <a:srgbClr val="01469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r>
              <a:rPr lang="en-US" dirty="0" smtClean="0"/>
              <a:t>ur try</a:t>
            </a:r>
            <a:endParaRPr lang="en-US" dirty="0"/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1093316" y="2173505"/>
            <a:ext cx="11256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400" b="1" u="sng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138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Ba</a:t>
            </a:r>
            <a:r>
              <a:rPr lang="en-US" altLang="de-DE" sz="2400" b="1" u="sng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de-DE" sz="2400" b="1" u="sng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7431776" y="2111958"/>
            <a:ext cx="8226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400" b="1" u="sng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87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Rb</a:t>
            </a:r>
          </a:p>
        </p:txBody>
      </p:sp>
    </p:spTree>
    <p:extLst>
      <p:ext uri="{BB962C8B-B14F-4D97-AF65-F5344CB8AC3E}">
        <p14:creationId xmlns:p14="http://schemas.microsoft.com/office/powerpoint/2010/main" val="1211157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Schätz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930"/>
            <a:ext cx="9164970" cy="540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0" y="5229225"/>
            <a:ext cx="9144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18039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4762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0" y="-9525"/>
            <a:ext cx="91440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8038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5796529"/>
            <a:ext cx="9144000" cy="1057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02336" y="1504844"/>
            <a:ext cx="955759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why?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de-DE" sz="2400" b="1" baseline="30000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baseline="30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basics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     </a:t>
            </a:r>
            <a:r>
              <a:rPr lang="en-US" altLang="de-DE" sz="2400" b="1" dirty="0" err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rf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+ hybrid traps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</a:t>
            </a:r>
            <a:r>
              <a:rPr lang="en-US" altLang="de-DE" sz="2400" b="1" baseline="30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asics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all optical ion 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traps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de-DE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how?  protocol  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challenges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endParaRPr lang="en-US" altLang="de-DE" sz="2400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experimental results: 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- sympathetic 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cooling 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(Ba</a:t>
            </a:r>
            <a:r>
              <a:rPr lang="en-US" altLang="de-DE" sz="2400" b="1" baseline="30000" dirty="0">
                <a:solidFill>
                  <a:schemeClr val="bg1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Rb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)		      - </a:t>
            </a:r>
            <a:r>
              <a:rPr lang="en-US" altLang="de-DE" sz="2400" b="1" u="sng" dirty="0" smtClean="0">
                <a:solidFill>
                  <a:schemeClr val="bg1"/>
                </a:solidFill>
                <a:latin typeface="Arial" panose="020B0604020202020204" pitchFamily="34" charset="0"/>
              </a:rPr>
              <a:t>pure   ODT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- controlling ion-atom interaction (Ba</a:t>
            </a:r>
            <a:r>
              <a:rPr lang="en-US" altLang="de-DE" sz="2400" b="1" baseline="30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Li) - </a:t>
            </a:r>
            <a:r>
              <a:rPr lang="en-US" altLang="de-DE" sz="2400" b="1" u="sng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still hybrid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endParaRPr lang="en-US" altLang="de-DE" sz="24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0" eaLnBrk="1" hangingPunct="1">
              <a:spcBef>
                <a:spcPct val="0"/>
              </a:spcBef>
              <a:buFont typeface="Wingdings" panose="05000000000000000000" pitchFamily="2" charset="2"/>
              <a:buChar char="è"/>
              <a:defRPr/>
            </a:pP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Whither TIAMO/</a:t>
            </a:r>
            <a:r>
              <a:rPr lang="en-US" altLang="de-DE" sz="2400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BaLiLaB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ions</a:t>
            </a:r>
            <a:b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- towards ultra-cold interaction/chemistry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- towards quantum phase transitions</a:t>
            </a:r>
            <a:endParaRPr lang="en-US" altLang="de-DE" sz="2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de-DE" sz="2400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55750" y="492194"/>
            <a:ext cx="4592638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4800" dirty="0">
                <a:solidFill>
                  <a:srgbClr val="FFFFFF"/>
                </a:solidFill>
                <a:latin typeface="Arial" panose="020B0604020202020204" pitchFamily="34" charset="0"/>
              </a:rPr>
              <a:t>TIAMO - Outline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7000" y="184219"/>
            <a:ext cx="662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400" dirty="0">
                <a:solidFill>
                  <a:srgbClr val="FFFFFF"/>
                </a:solidFill>
                <a:latin typeface="Arial" panose="020B0604020202020204" pitchFamily="34" charset="0"/>
              </a:rPr>
              <a:t>Trapping Ions in Atoms and Molecules Optically</a:t>
            </a:r>
          </a:p>
        </p:txBody>
      </p:sp>
    </p:spTree>
    <p:extLst>
      <p:ext uri="{BB962C8B-B14F-4D97-AF65-F5344CB8AC3E}">
        <p14:creationId xmlns:p14="http://schemas.microsoft.com/office/powerpoint/2010/main" val="41101079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/>
          <p:cNvSpPr>
            <a:spLocks noChangeArrowheads="1"/>
          </p:cNvSpPr>
          <p:nvPr/>
        </p:nvSpPr>
        <p:spPr bwMode="auto">
          <a:xfrm>
            <a:off x="3181350" y="819150"/>
            <a:ext cx="3581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21507" name="Text Box 6"/>
          <p:cNvSpPr txBox="1">
            <a:spLocks noChangeArrowheads="1"/>
          </p:cNvSpPr>
          <p:nvPr/>
        </p:nvSpPr>
        <p:spPr bwMode="auto">
          <a:xfrm>
            <a:off x="514350" y="1400175"/>
            <a:ext cx="361509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000" dirty="0">
                <a:latin typeface="Arial" panose="020B0604020202020204" pitchFamily="34" charset="0"/>
              </a:rPr>
              <a:t>- loading into Paul-trap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000" dirty="0" smtClean="0">
                <a:latin typeface="Arial" panose="020B0604020202020204" pitchFamily="34" charset="0"/>
              </a:rPr>
              <a:t>- Doppler cooling* (~ 0.5 </a:t>
            </a:r>
            <a:r>
              <a:rPr lang="en-US" altLang="de-DE" sz="2000" dirty="0" err="1" smtClean="0">
                <a:latin typeface="Arial" panose="020B0604020202020204" pitchFamily="34" charset="0"/>
              </a:rPr>
              <a:t>mK</a:t>
            </a:r>
            <a:r>
              <a:rPr lang="en-US" altLang="de-DE" sz="2000" dirty="0" smtClean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2000" dirty="0">
              <a:latin typeface="Arial" panose="020B0604020202020204" pitchFamily="34" charset="0"/>
            </a:endParaRPr>
          </a:p>
        </p:txBody>
      </p:sp>
      <p:grpSp>
        <p:nvGrpSpPr>
          <p:cNvPr id="21508" name="Group 7"/>
          <p:cNvGrpSpPr>
            <a:grpSpLocks/>
          </p:cNvGrpSpPr>
          <p:nvPr/>
        </p:nvGrpSpPr>
        <p:grpSpPr bwMode="auto">
          <a:xfrm>
            <a:off x="5543550" y="714375"/>
            <a:ext cx="3276600" cy="1865313"/>
            <a:chOff x="3312" y="462"/>
            <a:chExt cx="2064" cy="1175"/>
          </a:xfrm>
        </p:grpSpPr>
        <p:pic>
          <p:nvPicPr>
            <p:cNvPr id="21527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480"/>
              <a:ext cx="2016" cy="1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528" name="Rectangle 9"/>
            <p:cNvSpPr>
              <a:spLocks noChangeArrowheads="1"/>
            </p:cNvSpPr>
            <p:nvPr/>
          </p:nvSpPr>
          <p:spPr bwMode="auto">
            <a:xfrm>
              <a:off x="3312" y="462"/>
              <a:ext cx="240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latin typeface="Arial" panose="020B0604020202020204" pitchFamily="34" charset="0"/>
              </a:endParaRPr>
            </a:p>
          </p:txBody>
        </p:sp>
      </p:grpSp>
      <p:sp>
        <p:nvSpPr>
          <p:cNvPr id="21509" name="Rectangle 10"/>
          <p:cNvSpPr>
            <a:spLocks noChangeArrowheads="1"/>
          </p:cNvSpPr>
          <p:nvPr/>
        </p:nvSpPr>
        <p:spPr bwMode="auto">
          <a:xfrm>
            <a:off x="6991350" y="2495550"/>
            <a:ext cx="3810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21510" name="Text Box 11"/>
          <p:cNvSpPr txBox="1">
            <a:spLocks noChangeArrowheads="1"/>
          </p:cNvSpPr>
          <p:nvPr/>
        </p:nvSpPr>
        <p:spPr bwMode="auto">
          <a:xfrm>
            <a:off x="1885950" y="949325"/>
            <a:ext cx="379413" cy="482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400"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1618956" name="Group 12"/>
          <p:cNvGrpSpPr>
            <a:grpSpLocks/>
          </p:cNvGrpSpPr>
          <p:nvPr/>
        </p:nvGrpSpPr>
        <p:grpSpPr bwMode="auto">
          <a:xfrm>
            <a:off x="590550" y="2646359"/>
            <a:ext cx="8305800" cy="2462213"/>
            <a:chOff x="192" y="1679"/>
            <a:chExt cx="5232" cy="1551"/>
          </a:xfrm>
        </p:grpSpPr>
        <p:pic>
          <p:nvPicPr>
            <p:cNvPr id="21523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1872"/>
              <a:ext cx="2064" cy="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524" name="Text Box 14"/>
            <p:cNvSpPr txBox="1">
              <a:spLocks noChangeArrowheads="1"/>
            </p:cNvSpPr>
            <p:nvPr/>
          </p:nvSpPr>
          <p:spPr bwMode="auto">
            <a:xfrm>
              <a:off x="192" y="1965"/>
              <a:ext cx="270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000" dirty="0">
                  <a:latin typeface="Arial" panose="020B0604020202020204" pitchFamily="34" charset="0"/>
                </a:rPr>
                <a:t>- switching on the dipole trap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000" dirty="0">
                  <a:latin typeface="Arial" panose="020B0604020202020204" pitchFamily="34" charset="0"/>
                </a:rPr>
                <a:t>- switching off the Paul-trap (not DC)</a:t>
              </a:r>
            </a:p>
          </p:txBody>
        </p:sp>
        <p:sp>
          <p:nvSpPr>
            <p:cNvPr id="21525" name="Text Box 15"/>
            <p:cNvSpPr txBox="1">
              <a:spLocks noChangeArrowheads="1"/>
            </p:cNvSpPr>
            <p:nvPr/>
          </p:nvSpPr>
          <p:spPr bwMode="auto">
            <a:xfrm>
              <a:off x="214" y="2551"/>
              <a:ext cx="3033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000" dirty="0">
                  <a:latin typeface="Arial" panose="020B0604020202020204" pitchFamily="34" charset="0"/>
                </a:rPr>
                <a:t>- storing the ion optically </a:t>
              </a:r>
              <a:r>
                <a:rPr lang="en-US" altLang="de-DE" sz="2000" dirty="0" smtClean="0">
                  <a:latin typeface="Arial" panose="020B0604020202020204" pitchFamily="34" charset="0"/>
                </a:rPr>
                <a:t> for  </a:t>
              </a:r>
              <a:r>
                <a:rPr lang="en-US" altLang="de-DE" sz="2000" dirty="0" err="1" smtClean="0">
                  <a:latin typeface="Arial" panose="020B0604020202020204" pitchFamily="34" charset="0"/>
                </a:rPr>
                <a:t>t</a:t>
              </a:r>
              <a:r>
                <a:rPr lang="en-US" altLang="de-DE" sz="2000" baseline="-25000" dirty="0" err="1" smtClean="0">
                  <a:latin typeface="Arial" panose="020B0604020202020204" pitchFamily="34" charset="0"/>
                </a:rPr>
                <a:t>opt</a:t>
              </a:r>
              <a:r>
                <a:rPr lang="en-US" altLang="de-DE" sz="2000" dirty="0" smtClean="0">
                  <a:latin typeface="Arial" panose="020B0604020202020204" pitchFamily="34" charset="0"/>
                </a:rPr>
                <a:t> </a:t>
              </a:r>
              <a:r>
                <a:rPr lang="en-US" altLang="de-DE" sz="2000" dirty="0">
                  <a:latin typeface="Arial" panose="020B0604020202020204" pitchFamily="34" charset="0"/>
                </a:rPr>
                <a:t>= x </a:t>
              </a:r>
              <a:r>
                <a:rPr lang="en-US" altLang="de-DE" sz="2000" dirty="0" err="1" smtClean="0">
                  <a:latin typeface="Arial" panose="020B0604020202020204" pitchFamily="34" charset="0"/>
                </a:rPr>
                <a:t>ms</a:t>
              </a:r>
              <a:r>
                <a:rPr lang="en-US" altLang="de-DE" sz="2000" dirty="0" smtClean="0">
                  <a:latin typeface="Arial" panose="020B0604020202020204" pitchFamily="34" charset="0"/>
                </a:rPr>
                <a:t/>
              </a:r>
              <a:br>
                <a:rPr lang="en-US" altLang="de-DE" sz="2000" dirty="0" smtClean="0">
                  <a:latin typeface="Arial" panose="020B0604020202020204" pitchFamily="34" charset="0"/>
                </a:rPr>
              </a:br>
              <a:r>
                <a:rPr lang="en-US" altLang="de-DE" sz="2000" dirty="0" smtClean="0">
                  <a:latin typeface="Arial" panose="020B0604020202020204" pitchFamily="34" charset="0"/>
                </a:rPr>
                <a:t>                </a:t>
              </a:r>
              <a:r>
                <a:rPr lang="en-US" altLang="de-DE" sz="2000" b="1" dirty="0" smtClean="0">
                  <a:latin typeface="Arial" panose="020B0604020202020204" pitchFamily="34" charset="0"/>
                </a:rPr>
                <a:t>(experiments- absence of </a:t>
              </a:r>
              <a:r>
                <a:rPr lang="en-US" altLang="de-DE" sz="2000" b="1" dirty="0" err="1" smtClean="0">
                  <a:latin typeface="Arial" panose="020B0604020202020204" pitchFamily="34" charset="0"/>
                </a:rPr>
                <a:t>rf</a:t>
              </a:r>
              <a:r>
                <a:rPr lang="en-US" altLang="de-DE" sz="2000" b="1" dirty="0" smtClean="0">
                  <a:latin typeface="Arial" panose="020B0604020202020204" pitchFamily="34" charset="0"/>
                </a:rPr>
                <a:t>)</a:t>
              </a:r>
              <a:endParaRPr lang="en-US" altLang="de-DE" sz="20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de-DE" sz="2400" dirty="0">
                <a:latin typeface="Arial" panose="020B0604020202020204" pitchFamily="34" charset="0"/>
              </a:endParaRPr>
            </a:p>
          </p:txBody>
        </p:sp>
        <p:sp>
          <p:nvSpPr>
            <p:cNvPr id="21526" name="Text Box 16"/>
            <p:cNvSpPr txBox="1">
              <a:spLocks noChangeArrowheads="1"/>
            </p:cNvSpPr>
            <p:nvPr/>
          </p:nvSpPr>
          <p:spPr bwMode="auto">
            <a:xfrm>
              <a:off x="1008" y="1679"/>
              <a:ext cx="239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400" dirty="0"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618961" name="Group 17"/>
          <p:cNvGrpSpPr>
            <a:grpSpLocks/>
          </p:cNvGrpSpPr>
          <p:nvPr/>
        </p:nvGrpSpPr>
        <p:grpSpPr bwMode="auto">
          <a:xfrm>
            <a:off x="590550" y="4897438"/>
            <a:ext cx="8382000" cy="1865312"/>
            <a:chOff x="192" y="3097"/>
            <a:chExt cx="5280" cy="1175"/>
          </a:xfrm>
        </p:grpSpPr>
        <p:sp>
          <p:nvSpPr>
            <p:cNvPr id="21518" name="Text Box 18"/>
            <p:cNvSpPr txBox="1">
              <a:spLocks noChangeArrowheads="1"/>
            </p:cNvSpPr>
            <p:nvPr/>
          </p:nvSpPr>
          <p:spPr bwMode="auto">
            <a:xfrm>
              <a:off x="192" y="3410"/>
              <a:ext cx="1919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latin typeface="Arial" panose="020B0604020202020204" pitchFamily="34" charset="0"/>
                </a:rPr>
                <a:t>- switching Paul trap on </a:t>
              </a:r>
            </a:p>
            <a:p>
              <a:pPr eaLnBrk="1" hangingPunct="1">
                <a:spcBef>
                  <a:spcPct val="0"/>
                </a:spcBef>
                <a:buFontTx/>
                <a:buChar char="-"/>
              </a:pPr>
              <a:r>
                <a:rPr lang="en-US" altLang="de-DE" sz="2000">
                  <a:latin typeface="Arial" panose="020B0604020202020204" pitchFamily="34" charset="0"/>
                </a:rPr>
                <a:t> switching optical trap off</a:t>
              </a:r>
            </a:p>
            <a:p>
              <a:pPr eaLnBrk="1" hangingPunct="1">
                <a:spcBef>
                  <a:spcPct val="0"/>
                </a:spcBef>
                <a:buFontTx/>
                <a:buChar char="-"/>
              </a:pPr>
              <a:r>
                <a:rPr lang="en-US" altLang="de-DE" sz="2000">
                  <a:latin typeface="Arial" panose="020B0604020202020204" pitchFamily="34" charset="0"/>
                </a:rPr>
                <a:t> fluorescence detection</a:t>
              </a:r>
            </a:p>
          </p:txBody>
        </p:sp>
        <p:grpSp>
          <p:nvGrpSpPr>
            <p:cNvPr id="21519" name="Group 19"/>
            <p:cNvGrpSpPr>
              <a:grpSpLocks/>
            </p:cNvGrpSpPr>
            <p:nvPr/>
          </p:nvGrpSpPr>
          <p:grpSpPr bwMode="auto">
            <a:xfrm>
              <a:off x="3408" y="3097"/>
              <a:ext cx="2064" cy="1175"/>
              <a:chOff x="3312" y="462"/>
              <a:chExt cx="2064" cy="1175"/>
            </a:xfrm>
          </p:grpSpPr>
          <p:pic>
            <p:nvPicPr>
              <p:cNvPr id="21521" name="Picture 20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0" y="480"/>
                <a:ext cx="2016" cy="11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FF0000"/>
                        </a:gs>
                        <a:gs pos="100000">
                          <a:srgbClr val="760000"/>
                        </a:gs>
                      </a:gsLst>
                      <a:path path="rect">
                        <a:fillToRect r="100000" b="10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1522" name="Rectangle 21"/>
              <p:cNvSpPr>
                <a:spLocks noChangeArrowheads="1"/>
              </p:cNvSpPr>
              <p:nvPr/>
            </p:nvSpPr>
            <p:spPr bwMode="auto">
              <a:xfrm>
                <a:off x="3312" y="462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20" name="Text Box 22"/>
            <p:cNvSpPr txBox="1">
              <a:spLocks noChangeArrowheads="1"/>
            </p:cNvSpPr>
            <p:nvPr/>
          </p:nvSpPr>
          <p:spPr bwMode="auto">
            <a:xfrm>
              <a:off x="1008" y="3120"/>
              <a:ext cx="239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400">
                  <a:latin typeface="Arial" panose="020B0604020202020204" pitchFamily="34" charset="0"/>
                </a:rPr>
                <a:t>3</a:t>
              </a:r>
            </a:p>
          </p:txBody>
        </p:sp>
      </p:grpSp>
      <p:pic>
        <p:nvPicPr>
          <p:cNvPr id="21513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4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43688"/>
            <a:ext cx="914400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5" name="Picture 2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516" name="Text Box 3"/>
          <p:cNvSpPr txBox="1">
            <a:spLocks noChangeArrowheads="1"/>
          </p:cNvSpPr>
          <p:nvPr/>
        </p:nvSpPr>
        <p:spPr bwMode="auto">
          <a:xfrm>
            <a:off x="1403350" y="68263"/>
            <a:ext cx="62722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optical ion trapping – the protocol </a:t>
            </a:r>
          </a:p>
        </p:txBody>
      </p:sp>
      <p:pic>
        <p:nvPicPr>
          <p:cNvPr id="21517" name="Picture 26" descr="Kopie (4_blue) von Laseraufbau_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88400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95" y="2051604"/>
            <a:ext cx="4080364" cy="3005764"/>
          </a:xfrm>
          <a:prstGeom prst="rect">
            <a:avLst/>
          </a:prstGeom>
        </p:spPr>
      </p:pic>
      <p:pic>
        <p:nvPicPr>
          <p:cNvPr id="37890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3" name="Text Box 19"/>
          <p:cNvSpPr txBox="1">
            <a:spLocks noChangeArrowheads="1"/>
          </p:cNvSpPr>
          <p:nvPr/>
        </p:nvSpPr>
        <p:spPr bwMode="auto">
          <a:xfrm>
            <a:off x="1282144" y="134938"/>
            <a:ext cx="6229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>
                <a:solidFill>
                  <a:srgbClr val="FFFFFF"/>
                </a:solidFill>
                <a:latin typeface="Arial" panose="020B0604020202020204" pitchFamily="34" charset="0"/>
              </a:rPr>
              <a:t>o</a:t>
            </a:r>
            <a:r>
              <a:rPr kumimoji="0" lang="en-US" altLang="de-DE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nset</a:t>
            </a:r>
            <a:r>
              <a:rPr kumimoji="0" lang="en-US" altLang="de-DE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sympathetic cooling</a:t>
            </a:r>
            <a:endParaRPr kumimoji="0" lang="en-US" altLang="de-DE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7895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4906897" y="986164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 err="1" smtClean="0"/>
              <a:t>protocol</a:t>
            </a:r>
            <a:endParaRPr lang="en-GB" b="1" u="sng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8680" y="935254"/>
            <a:ext cx="1017835" cy="93609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4875" y="911576"/>
            <a:ext cx="1007591" cy="959808"/>
          </a:xfrm>
          <a:prstGeom prst="rect">
            <a:avLst/>
          </a:prstGeom>
        </p:spPr>
      </p:pic>
      <p:cxnSp>
        <p:nvCxnSpPr>
          <p:cNvPr id="6" name="Gerader Verbinder 5"/>
          <p:cNvCxnSpPr/>
          <p:nvPr/>
        </p:nvCxnSpPr>
        <p:spPr bwMode="auto">
          <a:xfrm>
            <a:off x="2418375" y="1865866"/>
            <a:ext cx="758468" cy="153615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54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Gerader Verbinder 13"/>
          <p:cNvCxnSpPr/>
          <p:nvPr/>
        </p:nvCxnSpPr>
        <p:spPr bwMode="auto">
          <a:xfrm flipH="1">
            <a:off x="3697838" y="1895022"/>
            <a:ext cx="372810" cy="124459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54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Ellipse 7"/>
          <p:cNvSpPr/>
          <p:nvPr/>
        </p:nvSpPr>
        <p:spPr bwMode="auto">
          <a:xfrm>
            <a:off x="5195500" y="1892453"/>
            <a:ext cx="478172" cy="258362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6633620" y="1752013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4943830" y="2986053"/>
            <a:ext cx="981512" cy="424791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Ellipse 20"/>
          <p:cNvSpPr/>
          <p:nvPr/>
        </p:nvSpPr>
        <p:spPr bwMode="auto">
          <a:xfrm>
            <a:off x="5350696" y="3116655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Ellipse 21"/>
          <p:cNvSpPr/>
          <p:nvPr/>
        </p:nvSpPr>
        <p:spPr bwMode="auto">
          <a:xfrm>
            <a:off x="4943830" y="2358829"/>
            <a:ext cx="981512" cy="424791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6021816" y="2483253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Gerader Verbinder 12"/>
          <p:cNvCxnSpPr/>
          <p:nvPr/>
        </p:nvCxnSpPr>
        <p:spPr bwMode="auto">
          <a:xfrm>
            <a:off x="4817998" y="2013579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r Verbinder 26"/>
          <p:cNvCxnSpPr/>
          <p:nvPr/>
        </p:nvCxnSpPr>
        <p:spPr bwMode="auto">
          <a:xfrm>
            <a:off x="4806820" y="2564457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Gerader Verbinder 27"/>
          <p:cNvCxnSpPr/>
          <p:nvPr/>
        </p:nvCxnSpPr>
        <p:spPr bwMode="auto">
          <a:xfrm>
            <a:off x="4771264" y="3208707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Gerader Verbinder 28"/>
          <p:cNvCxnSpPr/>
          <p:nvPr/>
        </p:nvCxnSpPr>
        <p:spPr bwMode="auto">
          <a:xfrm flipV="1">
            <a:off x="4758579" y="3487610"/>
            <a:ext cx="2526474" cy="22844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8575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extfeld 30"/>
          <p:cNvSpPr txBox="1"/>
          <p:nvPr/>
        </p:nvSpPr>
        <p:spPr>
          <a:xfrm>
            <a:off x="6041172" y="3521470"/>
            <a:ext cx="845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r</a:t>
            </a:r>
            <a:r>
              <a:rPr lang="de-DE" sz="2000" dirty="0" err="1" smtClean="0"/>
              <a:t>f</a:t>
            </a:r>
            <a:r>
              <a:rPr lang="de-DE" sz="2000" dirty="0" smtClean="0"/>
              <a:t> - off</a:t>
            </a:r>
            <a:endParaRPr lang="en-GB" sz="2000" dirty="0"/>
          </a:p>
        </p:txBody>
      </p:sp>
      <p:grpSp>
        <p:nvGrpSpPr>
          <p:cNvPr id="42" name="Gruppieren 41"/>
          <p:cNvGrpSpPr/>
          <p:nvPr/>
        </p:nvGrpSpPr>
        <p:grpSpPr>
          <a:xfrm>
            <a:off x="7137400" y="140140"/>
            <a:ext cx="1901825" cy="555625"/>
            <a:chOff x="6199027" y="908844"/>
            <a:chExt cx="1901825" cy="555625"/>
          </a:xfrm>
        </p:grpSpPr>
        <p:pic>
          <p:nvPicPr>
            <p:cNvPr id="43" name="Picture 32" descr="Kopie (5) von Laseraufbau_rot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9027" y="923131"/>
              <a:ext cx="809625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33" descr="Kopie (3) von Laseraufbau_c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5827" y="908844"/>
              <a:ext cx="835025" cy="555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6954677" y="943769"/>
              <a:ext cx="361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400" dirty="0">
                  <a:solidFill>
                    <a:schemeClr val="bg1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37894" name="Textfeld 37893"/>
          <p:cNvSpPr txBox="1"/>
          <p:nvPr/>
        </p:nvSpPr>
        <p:spPr>
          <a:xfrm>
            <a:off x="4936324" y="1594860"/>
            <a:ext cx="11320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MOT/ODT</a:t>
            </a:r>
            <a:endParaRPr lang="en-US" sz="1600" dirty="0"/>
          </a:p>
        </p:txBody>
      </p:sp>
      <p:sp>
        <p:nvSpPr>
          <p:cNvPr id="37899" name="Textfeld 37898"/>
          <p:cNvSpPr txBox="1"/>
          <p:nvPr/>
        </p:nvSpPr>
        <p:spPr>
          <a:xfrm>
            <a:off x="7050440" y="2361972"/>
            <a:ext cx="2201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~ 500 </a:t>
            </a:r>
            <a:r>
              <a:rPr lang="en-US" sz="2000" dirty="0" err="1" smtClean="0"/>
              <a:t>Rb</a:t>
            </a:r>
            <a:endParaRPr lang="en-US" sz="2000" dirty="0" smtClean="0"/>
          </a:p>
          <a:p>
            <a:r>
              <a:rPr lang="en-US" sz="2000" dirty="0" err="1" smtClean="0"/>
              <a:t>T</a:t>
            </a:r>
            <a:r>
              <a:rPr lang="en-US" sz="2000" baseline="30000" dirty="0" err="1" smtClean="0"/>
              <a:t>Ba</a:t>
            </a:r>
            <a:r>
              <a:rPr lang="en-US" sz="2000" baseline="30000" dirty="0" smtClean="0"/>
              <a:t> </a:t>
            </a:r>
            <a:r>
              <a:rPr lang="en-US" sz="2000" dirty="0"/>
              <a:t>~</a:t>
            </a:r>
            <a:r>
              <a:rPr lang="en-US" sz="2000" dirty="0" smtClean="0"/>
              <a:t> T</a:t>
            </a:r>
            <a:r>
              <a:rPr lang="en-US" sz="2000" baseline="-25000" dirty="0" smtClean="0"/>
              <a:t>D</a:t>
            </a:r>
            <a:r>
              <a:rPr lang="en-US" sz="2000" dirty="0" smtClean="0"/>
              <a:t> = 360µK</a:t>
            </a:r>
          </a:p>
          <a:p>
            <a:r>
              <a:rPr lang="en-US" sz="2000" dirty="0" err="1" smtClean="0"/>
              <a:t>T</a:t>
            </a:r>
            <a:r>
              <a:rPr lang="en-US" sz="2000" baseline="30000" dirty="0" err="1" smtClean="0"/>
              <a:t>Rb</a:t>
            </a:r>
            <a:r>
              <a:rPr lang="en-US" sz="2000" dirty="0" smtClean="0"/>
              <a:t> ~ 30(10)µK </a:t>
            </a:r>
            <a:endParaRPr lang="en-US" sz="2000" dirty="0"/>
          </a:p>
        </p:txBody>
      </p:sp>
      <p:cxnSp>
        <p:nvCxnSpPr>
          <p:cNvPr id="53" name="Gerade Verbindung mit Pfeil 52"/>
          <p:cNvCxnSpPr/>
          <p:nvPr/>
        </p:nvCxnSpPr>
        <p:spPr bwMode="auto">
          <a:xfrm flipH="1">
            <a:off x="6200977" y="2225685"/>
            <a:ext cx="333333" cy="252457"/>
          </a:xfrm>
          <a:prstGeom prst="straightConnector1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1" name="Textfeld 37900"/>
          <p:cNvSpPr txBox="1"/>
          <p:nvPr/>
        </p:nvSpPr>
        <p:spPr>
          <a:xfrm>
            <a:off x="6299374" y="1968666"/>
            <a:ext cx="901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Doppler</a:t>
            </a:r>
          </a:p>
          <a:p>
            <a:r>
              <a:rPr lang="en-US" sz="1600" dirty="0" smtClean="0">
                <a:solidFill>
                  <a:schemeClr val="accent2"/>
                </a:solidFill>
              </a:rPr>
              <a:t>cooling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41" name="Rechteck 40"/>
          <p:cNvSpPr/>
          <p:nvPr/>
        </p:nvSpPr>
        <p:spPr bwMode="auto">
          <a:xfrm>
            <a:off x="96283" y="2031719"/>
            <a:ext cx="363084" cy="1047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2" name="Group 93"/>
          <p:cNvGrpSpPr>
            <a:grpSpLocks/>
          </p:cNvGrpSpPr>
          <p:nvPr/>
        </p:nvGrpSpPr>
        <p:grpSpPr bwMode="auto">
          <a:xfrm>
            <a:off x="4943830" y="4082611"/>
            <a:ext cx="2897187" cy="2225675"/>
            <a:chOff x="3881" y="1700"/>
            <a:chExt cx="1825" cy="1402"/>
          </a:xfrm>
        </p:grpSpPr>
        <p:pic>
          <p:nvPicPr>
            <p:cNvPr id="33" name="Picture 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1" y="1914"/>
              <a:ext cx="1825" cy="1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4" name="Text Box 4"/>
            <p:cNvSpPr txBox="1">
              <a:spLocks noChangeArrowheads="1"/>
            </p:cNvSpPr>
            <p:nvPr/>
          </p:nvSpPr>
          <p:spPr bwMode="auto">
            <a:xfrm>
              <a:off x="4089" y="2599"/>
              <a:ext cx="592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39" tIns="40820" rIns="81639" bIns="40820"/>
            <a:lstStyle>
              <a:lvl1pPr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674688" indent="-260350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036638" indent="-207963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450975" indent="-206375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66900" indent="-207963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3241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813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385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957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de-CH" altLang="de-DE" sz="1600" b="1">
                  <a:solidFill>
                    <a:srgbClr val="FFFFFF"/>
                  </a:solidFill>
                </a:rPr>
                <a:t>trapped</a:t>
              </a:r>
            </a:p>
          </p:txBody>
        </p:sp>
        <p:sp>
          <p:nvSpPr>
            <p:cNvPr id="35" name="Text Box 5"/>
            <p:cNvSpPr txBox="1">
              <a:spLocks noChangeArrowheads="1"/>
            </p:cNvSpPr>
            <p:nvPr/>
          </p:nvSpPr>
          <p:spPr bwMode="auto">
            <a:xfrm>
              <a:off x="4902" y="2590"/>
              <a:ext cx="36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39" tIns="40820" rIns="81639" bIns="40820"/>
            <a:lstStyle>
              <a:lvl1pPr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674688" indent="-260350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036638" indent="-207963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450975" indent="-206375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66900" indent="-207963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3241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813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385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957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de-CH" altLang="de-DE" sz="1600" b="1">
                  <a:solidFill>
                    <a:srgbClr val="000000"/>
                  </a:solidFill>
                </a:rPr>
                <a:t>lost</a:t>
              </a:r>
            </a:p>
          </p:txBody>
        </p:sp>
        <p:sp>
          <p:nvSpPr>
            <p:cNvPr id="36" name="Text Box 6"/>
            <p:cNvSpPr txBox="1">
              <a:spLocks noChangeArrowheads="1"/>
            </p:cNvSpPr>
            <p:nvPr/>
          </p:nvSpPr>
          <p:spPr bwMode="auto">
            <a:xfrm>
              <a:off x="4513" y="2106"/>
              <a:ext cx="416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39" tIns="40820" rIns="81639" bIns="40820"/>
            <a:lstStyle>
              <a:lvl1pPr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674688" indent="-260350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036638" indent="-207963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450975" indent="-206375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66900" indent="-207963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3241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813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385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957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de-CH" altLang="de-DE" sz="1600" b="1">
                  <a:solidFill>
                    <a:srgbClr val="000000"/>
                  </a:solidFill>
                </a:rPr>
                <a:t>U</a:t>
              </a:r>
              <a:r>
                <a:rPr lang="de-CH" altLang="de-DE" sz="1600" b="1" baseline="-25000">
                  <a:solidFill>
                    <a:srgbClr val="000000"/>
                  </a:solidFill>
                </a:rPr>
                <a:t>opt</a:t>
              </a:r>
            </a:p>
          </p:txBody>
        </p:sp>
        <p:sp>
          <p:nvSpPr>
            <p:cNvPr id="37" name="Line 7"/>
            <p:cNvSpPr>
              <a:spLocks noChangeShapeType="1"/>
            </p:cNvSpPr>
            <p:nvPr/>
          </p:nvSpPr>
          <p:spPr bwMode="auto">
            <a:xfrm flipH="1">
              <a:off x="4704" y="2301"/>
              <a:ext cx="7" cy="323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 Box 9"/>
            <p:cNvSpPr txBox="1">
              <a:spLocks noChangeArrowheads="1"/>
            </p:cNvSpPr>
            <p:nvPr/>
          </p:nvSpPr>
          <p:spPr bwMode="auto">
            <a:xfrm>
              <a:off x="4072" y="1700"/>
              <a:ext cx="1505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39" tIns="40820" rIns="81639" bIns="40820"/>
            <a:lstStyle>
              <a:lvl1pPr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674688" indent="-260350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036638" indent="-207963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450975" indent="-206375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66900" indent="-207963" defTabSz="407988"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3241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813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385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95700" indent="-207963" defTabSz="407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06400" algn="l"/>
                  <a:tab pos="814388" algn="l"/>
                  <a:tab pos="1220788" algn="l"/>
                  <a:tab pos="1628775" algn="l"/>
                  <a:tab pos="2036763" algn="l"/>
                  <a:tab pos="2443163" algn="l"/>
                  <a:tab pos="2851150" algn="l"/>
                  <a:tab pos="3259138" algn="l"/>
                  <a:tab pos="3665538" algn="l"/>
                  <a:tab pos="4073525" algn="l"/>
                  <a:tab pos="4481513" algn="l"/>
                  <a:tab pos="4889500" algn="l"/>
                  <a:tab pos="5295900" algn="l"/>
                  <a:tab pos="5703888" algn="l"/>
                  <a:tab pos="6111875" algn="l"/>
                  <a:tab pos="6518275" algn="l"/>
                  <a:tab pos="6926263" algn="l"/>
                  <a:tab pos="7334250" algn="l"/>
                  <a:tab pos="7742238" algn="l"/>
                  <a:tab pos="81486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de-CH" altLang="de-DE" sz="2000" dirty="0" err="1" smtClean="0">
                  <a:solidFill>
                    <a:srgbClr val="000000"/>
                  </a:solidFill>
                </a:rPr>
                <a:t>cut</a:t>
              </a:r>
              <a:r>
                <a:rPr lang="de-CH" altLang="de-DE" sz="2000" dirty="0" smtClean="0">
                  <a:solidFill>
                    <a:srgbClr val="000000"/>
                  </a:solidFill>
                </a:rPr>
                <a:t>-off </a:t>
              </a:r>
              <a:r>
                <a:rPr lang="de-CH" altLang="de-DE" sz="2000" dirty="0" err="1" smtClean="0">
                  <a:solidFill>
                    <a:srgbClr val="000000"/>
                  </a:solidFill>
                </a:rPr>
                <a:t>model</a:t>
              </a:r>
              <a:r>
                <a:rPr lang="de-CH" altLang="de-DE" sz="2000" dirty="0" smtClean="0">
                  <a:solidFill>
                    <a:srgbClr val="000000"/>
                  </a:solidFill>
                </a:rPr>
                <a:t> in ODT:</a:t>
              </a:r>
              <a:endParaRPr lang="de-CH" altLang="de-DE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Rechteck 1"/>
          <p:cNvSpPr/>
          <p:nvPr/>
        </p:nvSpPr>
        <p:spPr>
          <a:xfrm>
            <a:off x="4703520" y="6200745"/>
            <a:ext cx="39597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altLang="de-DE" sz="2000" dirty="0" smtClean="0">
                <a:solidFill>
                  <a:srgbClr val="000000"/>
                </a:solidFill>
              </a:rPr>
              <a:t>++?</a:t>
            </a:r>
            <a:r>
              <a:rPr lang="de-CH" altLang="de-DE" sz="2000" dirty="0" err="1" smtClean="0">
                <a:solidFill>
                  <a:srgbClr val="000000"/>
                </a:solidFill>
              </a:rPr>
              <a:t>cooling</a:t>
            </a:r>
            <a:r>
              <a:rPr lang="de-CH" altLang="de-DE" sz="2000" dirty="0" smtClean="0">
                <a:solidFill>
                  <a:srgbClr val="000000"/>
                </a:solidFill>
              </a:rPr>
              <a:t> </a:t>
            </a:r>
            <a:r>
              <a:rPr lang="de-CH" altLang="de-DE" sz="2000" dirty="0" err="1" smtClean="0">
                <a:solidFill>
                  <a:srgbClr val="000000"/>
                </a:solidFill>
              </a:rPr>
              <a:t>by</a:t>
            </a:r>
            <a:r>
              <a:rPr lang="de-CH" altLang="de-DE" sz="2000" dirty="0" smtClean="0">
                <a:solidFill>
                  <a:srgbClr val="000000"/>
                </a:solidFill>
              </a:rPr>
              <a:t> </a:t>
            </a:r>
            <a:r>
              <a:rPr lang="de-CH" altLang="de-DE" sz="2000" dirty="0" err="1" smtClean="0">
                <a:solidFill>
                  <a:srgbClr val="000000"/>
                </a:solidFill>
              </a:rPr>
              <a:t>adiabatic</a:t>
            </a:r>
            <a:r>
              <a:rPr lang="de-CH" altLang="de-DE" sz="2000" dirty="0" smtClean="0">
                <a:solidFill>
                  <a:srgbClr val="000000"/>
                </a:solidFill>
              </a:rPr>
              <a:t> </a:t>
            </a:r>
            <a:r>
              <a:rPr lang="de-CH" altLang="de-DE" sz="2000" dirty="0" err="1" smtClean="0">
                <a:solidFill>
                  <a:srgbClr val="000000"/>
                </a:solidFill>
              </a:rPr>
              <a:t>transfer</a:t>
            </a:r>
            <a:r>
              <a:rPr lang="de-CH" altLang="de-DE" sz="2000" dirty="0" smtClean="0">
                <a:solidFill>
                  <a:srgbClr val="000000"/>
                </a:solidFill>
              </a:rPr>
              <a:t>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58533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95" y="1280210"/>
            <a:ext cx="4080364" cy="3005764"/>
          </a:xfrm>
          <a:prstGeom prst="rect">
            <a:avLst/>
          </a:prstGeom>
        </p:spPr>
      </p:pic>
      <p:pic>
        <p:nvPicPr>
          <p:cNvPr id="37890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3" name="Text Box 19"/>
          <p:cNvSpPr txBox="1">
            <a:spLocks noChangeArrowheads="1"/>
          </p:cNvSpPr>
          <p:nvPr/>
        </p:nvSpPr>
        <p:spPr bwMode="auto">
          <a:xfrm>
            <a:off x="1282144" y="134938"/>
            <a:ext cx="6229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>
                <a:solidFill>
                  <a:srgbClr val="FFFFFF"/>
                </a:solidFill>
                <a:latin typeface="Arial" panose="020B0604020202020204" pitchFamily="34" charset="0"/>
              </a:rPr>
              <a:t>o</a:t>
            </a:r>
            <a:r>
              <a:rPr kumimoji="0" lang="en-US" altLang="de-DE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nset</a:t>
            </a:r>
            <a:r>
              <a:rPr kumimoji="0" lang="en-US" altLang="de-DE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sympathetic cooling</a:t>
            </a:r>
            <a:endParaRPr kumimoji="0" lang="en-US" altLang="de-DE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7895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474" y="3887480"/>
            <a:ext cx="4329901" cy="2648081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4906897" y="986164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 err="1" smtClean="0"/>
              <a:t>protocol</a:t>
            </a:r>
            <a:endParaRPr lang="en-GB" b="1" u="sng" dirty="0"/>
          </a:p>
        </p:txBody>
      </p:sp>
      <p:sp>
        <p:nvSpPr>
          <p:cNvPr id="8" name="Ellipse 7"/>
          <p:cNvSpPr/>
          <p:nvPr/>
        </p:nvSpPr>
        <p:spPr bwMode="auto">
          <a:xfrm>
            <a:off x="5195500" y="1892453"/>
            <a:ext cx="478172" cy="258362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6633620" y="1752013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4943830" y="2986053"/>
            <a:ext cx="981512" cy="424791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Ellipse 20"/>
          <p:cNvSpPr/>
          <p:nvPr/>
        </p:nvSpPr>
        <p:spPr bwMode="auto">
          <a:xfrm>
            <a:off x="5350696" y="3116655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Ellipse 21"/>
          <p:cNvSpPr/>
          <p:nvPr/>
        </p:nvSpPr>
        <p:spPr bwMode="auto">
          <a:xfrm>
            <a:off x="4943830" y="2358829"/>
            <a:ext cx="981512" cy="424791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6021816" y="2483253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Gerader Verbinder 12"/>
          <p:cNvCxnSpPr/>
          <p:nvPr/>
        </p:nvCxnSpPr>
        <p:spPr bwMode="auto">
          <a:xfrm>
            <a:off x="4817998" y="2013579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r Verbinder 26"/>
          <p:cNvCxnSpPr/>
          <p:nvPr/>
        </p:nvCxnSpPr>
        <p:spPr bwMode="auto">
          <a:xfrm>
            <a:off x="4806820" y="2564457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Gerader Verbinder 27"/>
          <p:cNvCxnSpPr/>
          <p:nvPr/>
        </p:nvCxnSpPr>
        <p:spPr bwMode="auto">
          <a:xfrm>
            <a:off x="4771264" y="3208707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Gerader Verbinder 28"/>
          <p:cNvCxnSpPr/>
          <p:nvPr/>
        </p:nvCxnSpPr>
        <p:spPr bwMode="auto">
          <a:xfrm flipV="1">
            <a:off x="4758579" y="3487610"/>
            <a:ext cx="2526474" cy="22844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8575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extfeld 30"/>
          <p:cNvSpPr txBox="1"/>
          <p:nvPr/>
        </p:nvSpPr>
        <p:spPr>
          <a:xfrm>
            <a:off x="6041172" y="3521470"/>
            <a:ext cx="845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r</a:t>
            </a:r>
            <a:r>
              <a:rPr lang="de-DE" sz="2000" dirty="0" err="1" smtClean="0"/>
              <a:t>f</a:t>
            </a:r>
            <a:r>
              <a:rPr lang="de-DE" sz="2000" dirty="0" smtClean="0"/>
              <a:t> - off</a:t>
            </a:r>
            <a:endParaRPr lang="en-GB" sz="2000" dirty="0"/>
          </a:p>
        </p:txBody>
      </p:sp>
      <p:grpSp>
        <p:nvGrpSpPr>
          <p:cNvPr id="42" name="Gruppieren 41"/>
          <p:cNvGrpSpPr/>
          <p:nvPr/>
        </p:nvGrpSpPr>
        <p:grpSpPr>
          <a:xfrm>
            <a:off x="7137400" y="140140"/>
            <a:ext cx="1901825" cy="555625"/>
            <a:chOff x="6199027" y="908844"/>
            <a:chExt cx="1901825" cy="555625"/>
          </a:xfrm>
        </p:grpSpPr>
        <p:pic>
          <p:nvPicPr>
            <p:cNvPr id="43" name="Picture 32" descr="Kopie (5) von Laseraufbau_rot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9027" y="923131"/>
              <a:ext cx="809625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33" descr="Kopie (3) von Laseraufbau_c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5827" y="908844"/>
              <a:ext cx="835025" cy="555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6954677" y="943769"/>
              <a:ext cx="361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400" dirty="0">
                  <a:solidFill>
                    <a:schemeClr val="bg1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37894" name="Textfeld 37893"/>
          <p:cNvSpPr txBox="1"/>
          <p:nvPr/>
        </p:nvSpPr>
        <p:spPr>
          <a:xfrm>
            <a:off x="4936324" y="1594860"/>
            <a:ext cx="11320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MOT/ODT</a:t>
            </a:r>
            <a:endParaRPr lang="en-US" sz="1600" dirty="0"/>
          </a:p>
        </p:txBody>
      </p:sp>
      <p:sp>
        <p:nvSpPr>
          <p:cNvPr id="37899" name="Textfeld 37898"/>
          <p:cNvSpPr txBox="1"/>
          <p:nvPr/>
        </p:nvSpPr>
        <p:spPr>
          <a:xfrm>
            <a:off x="7050440" y="2361972"/>
            <a:ext cx="2201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~ 500 </a:t>
            </a:r>
            <a:r>
              <a:rPr lang="en-US" sz="2000" dirty="0" err="1" smtClean="0"/>
              <a:t>Rb</a:t>
            </a:r>
            <a:endParaRPr lang="en-US" sz="2000" dirty="0" smtClean="0"/>
          </a:p>
          <a:p>
            <a:r>
              <a:rPr lang="en-US" sz="2000" dirty="0" err="1" smtClean="0"/>
              <a:t>T</a:t>
            </a:r>
            <a:r>
              <a:rPr lang="en-US" sz="2000" baseline="30000" dirty="0" err="1" smtClean="0"/>
              <a:t>Ba</a:t>
            </a:r>
            <a:r>
              <a:rPr lang="en-US" sz="2000" baseline="30000" dirty="0" smtClean="0"/>
              <a:t> </a:t>
            </a:r>
            <a:r>
              <a:rPr lang="en-US" sz="2000" dirty="0"/>
              <a:t>~</a:t>
            </a:r>
            <a:r>
              <a:rPr lang="en-US" sz="2000" dirty="0" smtClean="0"/>
              <a:t> T</a:t>
            </a:r>
            <a:r>
              <a:rPr lang="en-US" sz="2000" baseline="-25000" dirty="0" smtClean="0"/>
              <a:t>D</a:t>
            </a:r>
            <a:r>
              <a:rPr lang="en-US" sz="2000" dirty="0" smtClean="0"/>
              <a:t> = 360µK</a:t>
            </a:r>
          </a:p>
          <a:p>
            <a:r>
              <a:rPr lang="en-US" sz="2000" dirty="0" err="1" smtClean="0"/>
              <a:t>T</a:t>
            </a:r>
            <a:r>
              <a:rPr lang="en-US" sz="2000" baseline="30000" dirty="0" err="1" smtClean="0"/>
              <a:t>Rb</a:t>
            </a:r>
            <a:r>
              <a:rPr lang="en-US" sz="2000" dirty="0" smtClean="0"/>
              <a:t> ~ 30(10)µK </a:t>
            </a:r>
            <a:endParaRPr lang="en-US" sz="2000" dirty="0"/>
          </a:p>
        </p:txBody>
      </p:sp>
      <p:cxnSp>
        <p:nvCxnSpPr>
          <p:cNvPr id="53" name="Gerade Verbindung mit Pfeil 52"/>
          <p:cNvCxnSpPr/>
          <p:nvPr/>
        </p:nvCxnSpPr>
        <p:spPr bwMode="auto">
          <a:xfrm flipH="1">
            <a:off x="6200977" y="2225685"/>
            <a:ext cx="333333" cy="252457"/>
          </a:xfrm>
          <a:prstGeom prst="straightConnector1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1" name="Textfeld 37900"/>
          <p:cNvSpPr txBox="1"/>
          <p:nvPr/>
        </p:nvSpPr>
        <p:spPr>
          <a:xfrm>
            <a:off x="6299374" y="1968666"/>
            <a:ext cx="901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Doppler</a:t>
            </a:r>
          </a:p>
          <a:p>
            <a:r>
              <a:rPr lang="en-US" sz="1600" dirty="0" smtClean="0">
                <a:solidFill>
                  <a:schemeClr val="accent2"/>
                </a:solidFill>
              </a:rPr>
              <a:t>cooling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96283" y="4274303"/>
            <a:ext cx="2443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</a:t>
            </a:r>
            <a:r>
              <a:rPr lang="en-US" b="1" u="sng" dirty="0" smtClean="0"/>
              <a:t>urrent results:</a:t>
            </a:r>
            <a:endParaRPr lang="en-US" b="1" u="sng" dirty="0"/>
          </a:p>
        </p:txBody>
      </p:sp>
      <p:sp>
        <p:nvSpPr>
          <p:cNvPr id="7" name="Textfeld 6"/>
          <p:cNvSpPr txBox="1"/>
          <p:nvPr/>
        </p:nvSpPr>
        <p:spPr>
          <a:xfrm>
            <a:off x="715993" y="4704025"/>
            <a:ext cx="31710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+ one collision on average</a:t>
            </a:r>
          </a:p>
          <a:p>
            <a:r>
              <a:rPr lang="en-US" sz="2000" dirty="0" smtClean="0"/>
              <a:t>~ </a:t>
            </a:r>
            <a:r>
              <a:rPr lang="en-US" sz="2000" dirty="0" err="1" smtClean="0">
                <a:latin typeface="Symbol" panose="05050102010706020507" pitchFamily="18" charset="2"/>
              </a:rPr>
              <a:t>G</a:t>
            </a:r>
            <a:r>
              <a:rPr lang="en-US" sz="2000" baseline="-25000" dirty="0" err="1" smtClean="0"/>
              <a:t>Langevin</a:t>
            </a:r>
            <a:r>
              <a:rPr lang="en-US" sz="2000" dirty="0" smtClean="0"/>
              <a:t>~ 1.5 10</a:t>
            </a:r>
            <a:r>
              <a:rPr lang="en-US" sz="2000" baseline="30000" dirty="0" smtClean="0"/>
              <a:t>3</a:t>
            </a:r>
            <a:r>
              <a:rPr lang="en-US" sz="2000" dirty="0" smtClean="0"/>
              <a:t>  s</a:t>
            </a:r>
            <a:r>
              <a:rPr lang="en-US" sz="2000" baseline="30000" dirty="0" smtClean="0"/>
              <a:t>-1 </a:t>
            </a:r>
            <a:r>
              <a:rPr lang="en-US" sz="2000" dirty="0" smtClean="0"/>
              <a:t>@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</a:t>
            </a:r>
            <a:r>
              <a:rPr lang="en-US" sz="2000" dirty="0" err="1" smtClean="0"/>
              <a:t>n</a:t>
            </a:r>
            <a:r>
              <a:rPr lang="en-US" sz="2000" baseline="-25000" dirty="0" err="1" smtClean="0"/>
              <a:t>Rb</a:t>
            </a:r>
            <a:r>
              <a:rPr lang="en-US" sz="2000" dirty="0"/>
              <a:t> </a:t>
            </a:r>
            <a:r>
              <a:rPr lang="en-US" sz="2000" dirty="0" smtClean="0"/>
              <a:t>      ~    5 10</a:t>
            </a:r>
            <a:r>
              <a:rPr lang="en-US" sz="2000" baseline="30000" dirty="0" smtClean="0"/>
              <a:t>11</a:t>
            </a:r>
            <a:r>
              <a:rPr lang="en-US" sz="2000" dirty="0" smtClean="0"/>
              <a:t> cm</a:t>
            </a:r>
            <a:r>
              <a:rPr lang="en-US" sz="2000" baseline="30000" dirty="0" smtClean="0"/>
              <a:t>-3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96283" y="1216996"/>
            <a:ext cx="363084" cy="1047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Textfeld 32"/>
          <p:cNvSpPr txBox="1"/>
          <p:nvPr/>
        </p:nvSpPr>
        <p:spPr>
          <a:xfrm>
            <a:off x="4888106" y="3964180"/>
            <a:ext cx="1957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accent2"/>
                </a:solidFill>
              </a:rPr>
              <a:t>with </a:t>
            </a:r>
            <a:r>
              <a:rPr lang="en-US" sz="2000" dirty="0" err="1" smtClean="0">
                <a:solidFill>
                  <a:schemeClr val="accent2"/>
                </a:solidFill>
              </a:rPr>
              <a:t>Rb</a:t>
            </a:r>
            <a:endParaRPr lang="en-US" sz="2000" dirty="0" smtClean="0">
              <a:solidFill>
                <a:schemeClr val="accent2"/>
              </a:solidFill>
            </a:endParaRPr>
          </a:p>
          <a:p>
            <a:r>
              <a:rPr lang="en-US" sz="2000" dirty="0" smtClean="0">
                <a:solidFill>
                  <a:schemeClr val="accent2"/>
                </a:solidFill>
              </a:rPr>
              <a:t>T</a:t>
            </a:r>
            <a:r>
              <a:rPr lang="en-US" sz="2000" baseline="-25000" dirty="0" smtClean="0">
                <a:solidFill>
                  <a:schemeClr val="accent2"/>
                </a:solidFill>
              </a:rPr>
              <a:t>D</a:t>
            </a:r>
            <a:r>
              <a:rPr lang="en-US" sz="2000" dirty="0" smtClean="0">
                <a:solidFill>
                  <a:schemeClr val="accent2"/>
                </a:solidFill>
              </a:rPr>
              <a:t>~ </a:t>
            </a:r>
            <a:r>
              <a:rPr lang="en-US" sz="2000" dirty="0">
                <a:solidFill>
                  <a:srgbClr val="3333CC"/>
                </a:solidFill>
              </a:rPr>
              <a:t>259(10)</a:t>
            </a:r>
            <a:r>
              <a:rPr lang="en-US" sz="2000" dirty="0" smtClean="0">
                <a:solidFill>
                  <a:schemeClr val="accent2"/>
                </a:solidFill>
              </a:rPr>
              <a:t>µK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6299374" y="5256521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without </a:t>
            </a:r>
            <a:r>
              <a:rPr lang="en-US" sz="2000" dirty="0" err="1" smtClean="0">
                <a:solidFill>
                  <a:srgbClr val="FF0000"/>
                </a:solidFill>
              </a:rPr>
              <a:t>Rb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000" dirty="0" smtClean="0">
                <a:solidFill>
                  <a:srgbClr val="FF0000"/>
                </a:solidFill>
              </a:rPr>
              <a:t>T~357(22)µK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6233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95" y="1280210"/>
            <a:ext cx="4080364" cy="3005764"/>
          </a:xfrm>
          <a:prstGeom prst="rect">
            <a:avLst/>
          </a:prstGeom>
        </p:spPr>
      </p:pic>
      <p:pic>
        <p:nvPicPr>
          <p:cNvPr id="37890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3" name="Text Box 19"/>
          <p:cNvSpPr txBox="1">
            <a:spLocks noChangeArrowheads="1"/>
          </p:cNvSpPr>
          <p:nvPr/>
        </p:nvSpPr>
        <p:spPr bwMode="auto">
          <a:xfrm>
            <a:off x="1282144" y="134938"/>
            <a:ext cx="6229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>
                <a:solidFill>
                  <a:srgbClr val="FFFFFF"/>
                </a:solidFill>
                <a:latin typeface="Arial" panose="020B0604020202020204" pitchFamily="34" charset="0"/>
              </a:rPr>
              <a:t>o</a:t>
            </a:r>
            <a:r>
              <a:rPr kumimoji="0" lang="en-US" altLang="de-DE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nset</a:t>
            </a:r>
            <a:r>
              <a:rPr kumimoji="0" lang="en-US" altLang="de-DE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sympathetic cooling</a:t>
            </a:r>
            <a:endParaRPr kumimoji="0" lang="en-US" altLang="de-DE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7895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474" y="3887480"/>
            <a:ext cx="4329901" cy="2648081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4906897" y="986164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 err="1" smtClean="0"/>
              <a:t>protocol</a:t>
            </a:r>
            <a:endParaRPr lang="en-GB" b="1" u="sng" dirty="0"/>
          </a:p>
        </p:txBody>
      </p:sp>
      <p:sp>
        <p:nvSpPr>
          <p:cNvPr id="8" name="Ellipse 7"/>
          <p:cNvSpPr/>
          <p:nvPr/>
        </p:nvSpPr>
        <p:spPr bwMode="auto">
          <a:xfrm>
            <a:off x="5195500" y="1892453"/>
            <a:ext cx="478172" cy="258362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6633620" y="1752013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4943830" y="2986053"/>
            <a:ext cx="981512" cy="424791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Ellipse 20"/>
          <p:cNvSpPr/>
          <p:nvPr/>
        </p:nvSpPr>
        <p:spPr bwMode="auto">
          <a:xfrm>
            <a:off x="5350696" y="3116655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Ellipse 21"/>
          <p:cNvSpPr/>
          <p:nvPr/>
        </p:nvSpPr>
        <p:spPr bwMode="auto">
          <a:xfrm>
            <a:off x="4943830" y="2358829"/>
            <a:ext cx="981512" cy="424791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6021816" y="2483253"/>
            <a:ext cx="167780" cy="163585"/>
          </a:xfrm>
          <a:prstGeom prst="ellipse">
            <a:avLst/>
          </a:prstGeom>
          <a:gradFill rotWithShape="0">
            <a:gsLst>
              <a:gs pos="61000">
                <a:schemeClr val="accent6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Gerader Verbinder 12"/>
          <p:cNvCxnSpPr/>
          <p:nvPr/>
        </p:nvCxnSpPr>
        <p:spPr bwMode="auto">
          <a:xfrm>
            <a:off x="4817998" y="2013579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r Verbinder 26"/>
          <p:cNvCxnSpPr/>
          <p:nvPr/>
        </p:nvCxnSpPr>
        <p:spPr bwMode="auto">
          <a:xfrm>
            <a:off x="4806820" y="2564457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Gerader Verbinder 27"/>
          <p:cNvCxnSpPr/>
          <p:nvPr/>
        </p:nvCxnSpPr>
        <p:spPr bwMode="auto">
          <a:xfrm>
            <a:off x="4771264" y="3208707"/>
            <a:ext cx="2030136" cy="0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Gerader Verbinder 28"/>
          <p:cNvCxnSpPr/>
          <p:nvPr/>
        </p:nvCxnSpPr>
        <p:spPr bwMode="auto">
          <a:xfrm flipV="1">
            <a:off x="4758579" y="3487610"/>
            <a:ext cx="2526474" cy="22844"/>
          </a:xfrm>
          <a:prstGeom prst="lin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8575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extfeld 30"/>
          <p:cNvSpPr txBox="1"/>
          <p:nvPr/>
        </p:nvSpPr>
        <p:spPr>
          <a:xfrm>
            <a:off x="6041172" y="3521470"/>
            <a:ext cx="845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r</a:t>
            </a:r>
            <a:r>
              <a:rPr lang="de-DE" sz="2000" dirty="0" err="1" smtClean="0"/>
              <a:t>f</a:t>
            </a:r>
            <a:r>
              <a:rPr lang="de-DE" sz="2000" dirty="0" smtClean="0"/>
              <a:t> - off</a:t>
            </a:r>
            <a:endParaRPr lang="en-GB" sz="2000" dirty="0"/>
          </a:p>
        </p:txBody>
      </p:sp>
      <p:grpSp>
        <p:nvGrpSpPr>
          <p:cNvPr id="42" name="Gruppieren 41"/>
          <p:cNvGrpSpPr/>
          <p:nvPr/>
        </p:nvGrpSpPr>
        <p:grpSpPr>
          <a:xfrm>
            <a:off x="7137400" y="140140"/>
            <a:ext cx="1901825" cy="555625"/>
            <a:chOff x="6199027" y="908844"/>
            <a:chExt cx="1901825" cy="555625"/>
          </a:xfrm>
        </p:grpSpPr>
        <p:pic>
          <p:nvPicPr>
            <p:cNvPr id="43" name="Picture 32" descr="Kopie (5) von Laseraufbau_rot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9027" y="923131"/>
              <a:ext cx="809625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33" descr="Kopie (3) von Laseraufbau_c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5827" y="908844"/>
              <a:ext cx="835025" cy="555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6954677" y="943769"/>
              <a:ext cx="361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400" dirty="0">
                  <a:solidFill>
                    <a:schemeClr val="bg1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37889" name="Textfeld 37888"/>
          <p:cNvSpPr txBox="1"/>
          <p:nvPr/>
        </p:nvSpPr>
        <p:spPr>
          <a:xfrm>
            <a:off x="4888106" y="3964180"/>
            <a:ext cx="1957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accent2"/>
                </a:solidFill>
              </a:rPr>
              <a:t>with </a:t>
            </a:r>
            <a:r>
              <a:rPr lang="en-US" sz="2000" dirty="0" err="1" smtClean="0">
                <a:solidFill>
                  <a:schemeClr val="accent2"/>
                </a:solidFill>
              </a:rPr>
              <a:t>Rb</a:t>
            </a:r>
            <a:endParaRPr lang="en-US" sz="2000" dirty="0" smtClean="0">
              <a:solidFill>
                <a:schemeClr val="accent2"/>
              </a:solidFill>
            </a:endParaRPr>
          </a:p>
          <a:p>
            <a:r>
              <a:rPr lang="en-US" sz="2000" dirty="0" smtClean="0">
                <a:solidFill>
                  <a:schemeClr val="accent2"/>
                </a:solidFill>
              </a:rPr>
              <a:t>T</a:t>
            </a:r>
            <a:r>
              <a:rPr lang="en-US" sz="2000" baseline="-25000" dirty="0" smtClean="0">
                <a:solidFill>
                  <a:schemeClr val="accent2"/>
                </a:solidFill>
              </a:rPr>
              <a:t>D</a:t>
            </a:r>
            <a:r>
              <a:rPr lang="en-US" sz="2000" dirty="0" smtClean="0">
                <a:solidFill>
                  <a:schemeClr val="accent2"/>
                </a:solidFill>
              </a:rPr>
              <a:t>~ </a:t>
            </a:r>
            <a:r>
              <a:rPr lang="en-US" sz="2000" dirty="0">
                <a:solidFill>
                  <a:srgbClr val="3333CC"/>
                </a:solidFill>
              </a:rPr>
              <a:t>259(10)</a:t>
            </a:r>
            <a:r>
              <a:rPr lang="en-US" sz="2000" dirty="0" smtClean="0">
                <a:solidFill>
                  <a:schemeClr val="accent2"/>
                </a:solidFill>
              </a:rPr>
              <a:t>µK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47" name="Textfeld 46"/>
          <p:cNvSpPr txBox="1"/>
          <p:nvPr/>
        </p:nvSpPr>
        <p:spPr>
          <a:xfrm>
            <a:off x="6299374" y="5256521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without </a:t>
            </a:r>
            <a:r>
              <a:rPr lang="en-US" sz="2000" dirty="0" err="1" smtClean="0">
                <a:solidFill>
                  <a:srgbClr val="FF0000"/>
                </a:solidFill>
              </a:rPr>
              <a:t>Rb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000" dirty="0" smtClean="0">
                <a:solidFill>
                  <a:srgbClr val="FF0000"/>
                </a:solidFill>
              </a:rPr>
              <a:t>T~357(22)µK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7894" name="Textfeld 37893"/>
          <p:cNvSpPr txBox="1"/>
          <p:nvPr/>
        </p:nvSpPr>
        <p:spPr>
          <a:xfrm>
            <a:off x="4936324" y="1594860"/>
            <a:ext cx="11320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MOT/ODT</a:t>
            </a:r>
            <a:endParaRPr lang="en-US" sz="1600" dirty="0"/>
          </a:p>
        </p:txBody>
      </p:sp>
      <p:sp>
        <p:nvSpPr>
          <p:cNvPr id="37899" name="Textfeld 37898"/>
          <p:cNvSpPr txBox="1"/>
          <p:nvPr/>
        </p:nvSpPr>
        <p:spPr>
          <a:xfrm>
            <a:off x="7050440" y="2361972"/>
            <a:ext cx="2201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~ 500 </a:t>
            </a:r>
            <a:r>
              <a:rPr lang="en-US" sz="2000" dirty="0" err="1" smtClean="0"/>
              <a:t>Rb</a:t>
            </a:r>
            <a:endParaRPr lang="en-US" sz="2000" dirty="0" smtClean="0"/>
          </a:p>
          <a:p>
            <a:r>
              <a:rPr lang="en-US" sz="2000" dirty="0" err="1" smtClean="0">
                <a:solidFill>
                  <a:srgbClr val="FF0000"/>
                </a:solidFill>
              </a:rPr>
              <a:t>T</a:t>
            </a:r>
            <a:r>
              <a:rPr lang="en-US" sz="2000" baseline="30000" dirty="0" err="1" smtClean="0">
                <a:solidFill>
                  <a:srgbClr val="FF0000"/>
                </a:solidFill>
              </a:rPr>
              <a:t>Ba</a:t>
            </a:r>
            <a:r>
              <a:rPr lang="en-US" sz="2000" baseline="30000" dirty="0" smtClean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~</a:t>
            </a:r>
            <a:r>
              <a:rPr lang="en-US" sz="2000" dirty="0" smtClean="0">
                <a:solidFill>
                  <a:srgbClr val="FF0000"/>
                </a:solidFill>
              </a:rPr>
              <a:t> T</a:t>
            </a:r>
            <a:r>
              <a:rPr lang="en-US" sz="2000" baseline="-25000" dirty="0" smtClean="0">
                <a:solidFill>
                  <a:srgbClr val="FF0000"/>
                </a:solidFill>
              </a:rPr>
              <a:t>D</a:t>
            </a:r>
            <a:r>
              <a:rPr lang="en-US" sz="2000" dirty="0" smtClean="0">
                <a:solidFill>
                  <a:srgbClr val="FF0000"/>
                </a:solidFill>
              </a:rPr>
              <a:t> = 360µK</a:t>
            </a:r>
          </a:p>
          <a:p>
            <a:r>
              <a:rPr lang="en-US" sz="2000" dirty="0" err="1" smtClean="0"/>
              <a:t>T</a:t>
            </a:r>
            <a:r>
              <a:rPr lang="en-US" sz="2000" baseline="30000" dirty="0" err="1" smtClean="0"/>
              <a:t>Rb</a:t>
            </a:r>
            <a:r>
              <a:rPr lang="en-US" sz="2000" dirty="0" smtClean="0"/>
              <a:t> ~ 30(10)µK </a:t>
            </a:r>
            <a:endParaRPr lang="en-US" sz="2000" dirty="0"/>
          </a:p>
        </p:txBody>
      </p:sp>
      <p:cxnSp>
        <p:nvCxnSpPr>
          <p:cNvPr id="53" name="Gerade Verbindung mit Pfeil 52"/>
          <p:cNvCxnSpPr/>
          <p:nvPr/>
        </p:nvCxnSpPr>
        <p:spPr bwMode="auto">
          <a:xfrm flipH="1">
            <a:off x="6200977" y="2225685"/>
            <a:ext cx="333333" cy="252457"/>
          </a:xfrm>
          <a:prstGeom prst="straightConnector1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1" name="Textfeld 37900"/>
          <p:cNvSpPr txBox="1"/>
          <p:nvPr/>
        </p:nvSpPr>
        <p:spPr>
          <a:xfrm>
            <a:off x="6299374" y="1968666"/>
            <a:ext cx="901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2"/>
                </a:solidFill>
              </a:rPr>
              <a:t>Doppler</a:t>
            </a:r>
          </a:p>
          <a:p>
            <a:r>
              <a:rPr lang="en-US" sz="1600" dirty="0" smtClean="0">
                <a:solidFill>
                  <a:schemeClr val="accent2"/>
                </a:solidFill>
              </a:rPr>
              <a:t>cooling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96283" y="4274303"/>
            <a:ext cx="4065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</a:t>
            </a:r>
            <a:r>
              <a:rPr lang="en-US" b="1" u="sng" dirty="0" smtClean="0"/>
              <a:t>urrent </a:t>
            </a:r>
            <a:r>
              <a:rPr lang="en-US" b="1" u="sng" dirty="0" smtClean="0">
                <a:solidFill>
                  <a:srgbClr val="FF0000"/>
                </a:solidFill>
              </a:rPr>
              <a:t>limitations</a:t>
            </a:r>
            <a:r>
              <a:rPr lang="en-US" b="1" u="sng" dirty="0" smtClean="0"/>
              <a:t>/results:</a:t>
            </a:r>
            <a:endParaRPr lang="en-US" b="1" u="sng" dirty="0"/>
          </a:p>
        </p:txBody>
      </p:sp>
      <p:sp>
        <p:nvSpPr>
          <p:cNvPr id="7" name="Textfeld 6"/>
          <p:cNvSpPr txBox="1"/>
          <p:nvPr/>
        </p:nvSpPr>
        <p:spPr>
          <a:xfrm>
            <a:off x="715993" y="4704025"/>
            <a:ext cx="40783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+ one collision on average</a:t>
            </a:r>
          </a:p>
          <a:p>
            <a:r>
              <a:rPr lang="en-US" sz="2000" dirty="0" smtClean="0"/>
              <a:t>~ </a:t>
            </a:r>
            <a:r>
              <a:rPr lang="en-US" sz="2000" dirty="0" err="1" smtClean="0">
                <a:latin typeface="Symbol" panose="05050102010706020507" pitchFamily="18" charset="2"/>
              </a:rPr>
              <a:t>G</a:t>
            </a:r>
            <a:r>
              <a:rPr lang="en-US" sz="2000" baseline="-25000" dirty="0" err="1" smtClean="0"/>
              <a:t>Langevin</a:t>
            </a:r>
            <a:r>
              <a:rPr lang="en-US" sz="2000" dirty="0" smtClean="0"/>
              <a:t>~ 1.5 10</a:t>
            </a:r>
            <a:r>
              <a:rPr lang="en-US" sz="2000" baseline="30000" dirty="0" smtClean="0"/>
              <a:t>3</a:t>
            </a:r>
            <a:r>
              <a:rPr lang="en-US" sz="2000" dirty="0" smtClean="0"/>
              <a:t>  s</a:t>
            </a:r>
            <a:r>
              <a:rPr lang="en-US" sz="2000" baseline="30000" dirty="0" smtClean="0"/>
              <a:t>-1 </a:t>
            </a:r>
            <a:r>
              <a:rPr lang="en-US" sz="2000" dirty="0" smtClean="0"/>
              <a:t>@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</a:t>
            </a:r>
            <a:r>
              <a:rPr lang="en-US" sz="2000" dirty="0" err="1" smtClean="0"/>
              <a:t>n</a:t>
            </a:r>
            <a:r>
              <a:rPr lang="en-US" sz="2000" baseline="-25000" dirty="0" err="1" smtClean="0"/>
              <a:t>Rb</a:t>
            </a:r>
            <a:r>
              <a:rPr lang="en-US" sz="2000" dirty="0"/>
              <a:t> </a:t>
            </a:r>
            <a:r>
              <a:rPr lang="en-US" sz="2000" dirty="0" smtClean="0"/>
              <a:t>      ~    5 10</a:t>
            </a:r>
            <a:r>
              <a:rPr lang="en-US" sz="2000" baseline="30000" dirty="0" smtClean="0"/>
              <a:t>11</a:t>
            </a:r>
            <a:r>
              <a:rPr lang="en-US" sz="2000" dirty="0" smtClean="0"/>
              <a:t> cm</a:t>
            </a:r>
            <a:r>
              <a:rPr lang="en-US" sz="2000" baseline="30000" dirty="0" smtClean="0"/>
              <a:t>-3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-- photo assisted (P</a:t>
            </a:r>
            <a:r>
              <a:rPr lang="en-US" sz="2000" baseline="-25000" dirty="0" smtClean="0">
                <a:solidFill>
                  <a:srgbClr val="FF0000"/>
                </a:solidFill>
              </a:rPr>
              <a:t>NIR/VIS</a:t>
            </a:r>
            <a:r>
              <a:rPr lang="en-US" sz="2000" dirty="0" smtClean="0">
                <a:solidFill>
                  <a:srgbClr val="FF0000"/>
                </a:solidFill>
              </a:rPr>
              <a:t> &gt;)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-- beam pointing (</a:t>
            </a:r>
            <a:r>
              <a:rPr lang="en-US" sz="2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r>
              <a:rPr lang="en-US" sz="2000" dirty="0" smtClean="0">
                <a:solidFill>
                  <a:srgbClr val="FF0000"/>
                </a:solidFill>
              </a:rPr>
              <a:t> &lt; 4µm)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&gt; density fluctuation (3 body loss)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96283" y="1216996"/>
            <a:ext cx="363084" cy="1047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4" name="Gruppieren 33"/>
          <p:cNvGrpSpPr/>
          <p:nvPr/>
        </p:nvGrpSpPr>
        <p:grpSpPr>
          <a:xfrm rot="19641887">
            <a:off x="915560" y="2068372"/>
            <a:ext cx="2359331" cy="1069597"/>
            <a:chOff x="6265575" y="2625978"/>
            <a:chExt cx="2359331" cy="1069597"/>
          </a:xfrm>
        </p:grpSpPr>
        <p:sp>
          <p:nvSpPr>
            <p:cNvPr id="36" name="Rechteck 35"/>
            <p:cNvSpPr/>
            <p:nvPr/>
          </p:nvSpPr>
          <p:spPr bwMode="auto">
            <a:xfrm>
              <a:off x="6386245" y="2625978"/>
              <a:ext cx="2168321" cy="1069597"/>
            </a:xfrm>
            <a:prstGeom prst="rect">
              <a:avLst/>
            </a:prstGeom>
            <a:solidFill>
              <a:schemeClr val="bg1"/>
            </a:solidFill>
            <a:ln w="508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Textfeld 36"/>
            <p:cNvSpPr txBox="1"/>
            <p:nvPr/>
          </p:nvSpPr>
          <p:spPr>
            <a:xfrm>
              <a:off x="6265575" y="2674976"/>
              <a:ext cx="235933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o</a:t>
              </a:r>
              <a:r>
                <a:rPr lang="en-US" sz="2000" dirty="0" smtClean="0"/>
                <a:t>nset of </a:t>
              </a:r>
              <a:r>
                <a:rPr lang="en-US" sz="2000" dirty="0" err="1" smtClean="0"/>
                <a:t>symapthetic</a:t>
              </a:r>
              <a:r>
                <a:rPr lang="en-US" sz="2000" dirty="0" smtClean="0"/>
                <a:t> </a:t>
              </a:r>
            </a:p>
            <a:p>
              <a:pPr algn="ctr"/>
              <a:r>
                <a:rPr lang="en-US" sz="2000" dirty="0"/>
                <a:t>c</a:t>
              </a:r>
              <a:r>
                <a:rPr lang="en-US" sz="2000" dirty="0" smtClean="0"/>
                <a:t>ooling in ODT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24465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Schätz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930"/>
            <a:ext cx="9164970" cy="540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0" y="5229225"/>
            <a:ext cx="9144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18039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4762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0" y="-9525"/>
            <a:ext cx="91440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8038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5796529"/>
            <a:ext cx="9144000" cy="1057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3961" y="1504844"/>
            <a:ext cx="955759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why?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de-DE" sz="2400" b="1" baseline="30000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baseline="30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basics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     </a:t>
            </a:r>
            <a:r>
              <a:rPr lang="en-US" altLang="de-DE" sz="2400" b="1" dirty="0" err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rf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+ hybrid traps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</a:t>
            </a:r>
            <a:r>
              <a:rPr lang="en-US" altLang="de-DE" sz="2400" b="1" baseline="30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asics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all optical ion 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traps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de-DE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how?  protocol  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challenges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endParaRPr lang="en-US" altLang="de-DE" sz="2400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experimental results: 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- sympathetic 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cooling 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(Ba</a:t>
            </a:r>
            <a:r>
              <a:rPr lang="en-US" altLang="de-DE" sz="2400" b="1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Rb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)		      - </a:t>
            </a:r>
            <a:r>
              <a:rPr lang="en-US" altLang="de-DE" sz="2400" b="1" u="sng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pure   ODT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- controlling ion-atom interaction (Ba</a:t>
            </a:r>
            <a:r>
              <a:rPr lang="en-US" altLang="de-DE" sz="2400" b="1" baseline="30000" dirty="0" smtClean="0">
                <a:solidFill>
                  <a:schemeClr val="bg1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Li) - </a:t>
            </a:r>
            <a:r>
              <a:rPr lang="en-US" altLang="de-DE" sz="2400" b="1" u="sng" dirty="0" smtClean="0">
                <a:solidFill>
                  <a:schemeClr val="bg1"/>
                </a:solidFill>
                <a:latin typeface="Arial" panose="020B0604020202020204" pitchFamily="34" charset="0"/>
              </a:rPr>
              <a:t>still hybrid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                                                                                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+ some basics</a:t>
            </a:r>
          </a:p>
          <a:p>
            <a:pPr lvl="0" eaLnBrk="1" hangingPunct="1">
              <a:spcBef>
                <a:spcPct val="0"/>
              </a:spcBef>
              <a:buFont typeface="Wingdings" panose="05000000000000000000" pitchFamily="2" charset="2"/>
              <a:buChar char="è"/>
              <a:defRPr/>
            </a:pP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Whither TIAMO/</a:t>
            </a:r>
            <a:r>
              <a:rPr lang="en-US" altLang="de-DE" sz="2400" b="1" dirty="0" err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BaLiLaB</a:t>
            </a: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ions</a:t>
            </a:r>
            <a:b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en-US" altLang="de-DE" sz="24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- towards ultra-cold interaction/chemistry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- towards quantum phase transitions</a:t>
            </a:r>
            <a:endParaRPr lang="en-US" altLang="de-DE" sz="2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de-DE" sz="2400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55750" y="492194"/>
            <a:ext cx="4592638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4800" dirty="0">
                <a:solidFill>
                  <a:srgbClr val="FFFFFF"/>
                </a:solidFill>
                <a:latin typeface="Arial" panose="020B0604020202020204" pitchFamily="34" charset="0"/>
              </a:rPr>
              <a:t>TIAMO - Outline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7000" y="184219"/>
            <a:ext cx="662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400" dirty="0">
                <a:solidFill>
                  <a:srgbClr val="FFFFFF"/>
                </a:solidFill>
                <a:latin typeface="Arial" panose="020B0604020202020204" pitchFamily="34" charset="0"/>
              </a:rPr>
              <a:t>Trapping Ions in Atoms and Molecules Optically</a:t>
            </a:r>
          </a:p>
        </p:txBody>
      </p:sp>
      <p:pic>
        <p:nvPicPr>
          <p:cNvPr id="10" name="Picture 2" descr="C:\Users\Pascal\Desktop\Group.jp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35731" y="1525817"/>
            <a:ext cx="4968721" cy="241847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feld 10"/>
          <p:cNvSpPr txBox="1"/>
          <p:nvPr/>
        </p:nvSpPr>
        <p:spPr>
          <a:xfrm>
            <a:off x="5583860" y="2358746"/>
            <a:ext cx="861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+ 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TOM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miley 11"/>
          <p:cNvSpPr/>
          <p:nvPr/>
        </p:nvSpPr>
        <p:spPr bwMode="auto">
          <a:xfrm>
            <a:off x="5680381" y="1835706"/>
            <a:ext cx="592453" cy="628650"/>
          </a:xfrm>
          <a:prstGeom prst="smileyFac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Smiley 12"/>
          <p:cNvSpPr/>
          <p:nvPr/>
        </p:nvSpPr>
        <p:spPr bwMode="auto">
          <a:xfrm>
            <a:off x="1684775" y="1635895"/>
            <a:ext cx="592453" cy="628650"/>
          </a:xfrm>
          <a:prstGeom prst="smileyFac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Smiley 13"/>
          <p:cNvSpPr/>
          <p:nvPr/>
        </p:nvSpPr>
        <p:spPr bwMode="auto">
          <a:xfrm>
            <a:off x="3706031" y="1460934"/>
            <a:ext cx="592453" cy="628650"/>
          </a:xfrm>
          <a:prstGeom prst="smileyFac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256565" y="1517515"/>
            <a:ext cx="1511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+Joachim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250794" y="1572216"/>
            <a:ext cx="889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+Wei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6107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62277" name="Text Box 5"/>
          <p:cNvSpPr txBox="1">
            <a:spLocks noChangeArrowheads="1"/>
          </p:cNvSpPr>
          <p:nvPr/>
        </p:nvSpPr>
        <p:spPr bwMode="auto">
          <a:xfrm>
            <a:off x="1331617" y="134938"/>
            <a:ext cx="7143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FF0000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3200" dirty="0">
                <a:solidFill>
                  <a:schemeClr val="bg1"/>
                </a:solidFill>
              </a:rPr>
              <a:t>c</a:t>
            </a:r>
            <a:r>
              <a:rPr lang="en-US" altLang="en-US" sz="3200" dirty="0" smtClean="0">
                <a:solidFill>
                  <a:schemeClr val="bg1"/>
                </a:solidFill>
              </a:rPr>
              <a:t>ollision/scattering: in a nut shell</a:t>
            </a:r>
            <a:endParaRPr lang="en-US" alt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11415" y="1432518"/>
            <a:ext cx="24064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>
              <a:buFont typeface="Symbol" panose="05050102010706020507" pitchFamily="18" charset="2"/>
              <a:buChar char="Y"/>
            </a:pPr>
            <a:r>
              <a:rPr lang="en-US" sz="2000" dirty="0" smtClean="0"/>
              <a:t>- wave function</a:t>
            </a:r>
          </a:p>
          <a:p>
            <a:pPr algn="ctr"/>
            <a:r>
              <a:rPr lang="en-US" sz="2000" dirty="0" smtClean="0"/>
              <a:t>(</a:t>
            </a:r>
            <a:r>
              <a:rPr lang="en-US" sz="2000" u="sng" dirty="0" smtClean="0"/>
              <a:t>energy</a:t>
            </a:r>
            <a:r>
              <a:rPr lang="en-US" sz="2000" dirty="0" smtClean="0"/>
              <a:t> and </a:t>
            </a:r>
            <a:r>
              <a:rPr lang="en-US" sz="2000" u="sng" dirty="0" smtClean="0"/>
              <a:t>phase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11" name="AutoShape 29"/>
          <p:cNvSpPr>
            <a:spLocks noChangeArrowheads="1"/>
          </p:cNvSpPr>
          <p:nvPr/>
        </p:nvSpPr>
        <p:spPr bwMode="auto">
          <a:xfrm>
            <a:off x="2602916" y="1917002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3125898" y="1464462"/>
            <a:ext cx="24641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u="sng" dirty="0" smtClean="0"/>
              <a:t>elastic</a:t>
            </a:r>
            <a:r>
              <a:rPr lang="en-US" sz="2000" dirty="0" smtClean="0"/>
              <a:t> collision</a:t>
            </a:r>
          </a:p>
          <a:p>
            <a:pPr algn="ctr"/>
            <a:r>
              <a:rPr lang="en-US" sz="2000" dirty="0" smtClean="0"/>
              <a:t>(no internal change)</a:t>
            </a:r>
            <a:endParaRPr lang="en-US" sz="2000" dirty="0"/>
          </a:p>
        </p:txBody>
      </p:sp>
      <p:sp>
        <p:nvSpPr>
          <p:cNvPr id="14" name="Textfeld 13"/>
          <p:cNvSpPr txBox="1"/>
          <p:nvPr/>
        </p:nvSpPr>
        <p:spPr>
          <a:xfrm>
            <a:off x="6165299" y="1434604"/>
            <a:ext cx="29787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n</a:t>
            </a:r>
            <a:r>
              <a:rPr lang="en-US" sz="2000" dirty="0" smtClean="0"/>
              <a:t>o energy change</a:t>
            </a:r>
          </a:p>
          <a:p>
            <a:pPr algn="ctr"/>
            <a:r>
              <a:rPr lang="en-US" sz="2000" u="sng" dirty="0"/>
              <a:t>p</a:t>
            </a:r>
            <a:r>
              <a:rPr lang="en-US" sz="2000" u="sng" dirty="0" smtClean="0"/>
              <a:t>hase</a:t>
            </a:r>
            <a:r>
              <a:rPr lang="en-US" sz="2000" dirty="0" smtClean="0"/>
              <a:t> of </a:t>
            </a:r>
            <a:r>
              <a:rPr lang="en-US" sz="2000" dirty="0" smtClean="0">
                <a:latin typeface="Symbol" panose="05050102010706020507" pitchFamily="18" charset="2"/>
              </a:rPr>
              <a:t>Y</a:t>
            </a:r>
            <a:r>
              <a:rPr lang="en-US" sz="2000" dirty="0" smtClean="0"/>
              <a:t> must change</a:t>
            </a:r>
            <a:endParaRPr lang="en-US" sz="2000" dirty="0"/>
          </a:p>
        </p:txBody>
      </p:sp>
      <p:sp>
        <p:nvSpPr>
          <p:cNvPr id="17" name="AutoShape 29"/>
          <p:cNvSpPr>
            <a:spLocks noChangeArrowheads="1"/>
          </p:cNvSpPr>
          <p:nvPr/>
        </p:nvSpPr>
        <p:spPr bwMode="auto">
          <a:xfrm>
            <a:off x="5619925" y="1907735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hteck 4"/>
          <p:cNvSpPr/>
          <p:nvPr/>
        </p:nvSpPr>
        <p:spPr bwMode="auto">
          <a:xfrm>
            <a:off x="269238" y="1343608"/>
            <a:ext cx="2288894" cy="1000421"/>
          </a:xfrm>
          <a:prstGeom prst="rect">
            <a:avLst/>
          </a:prstGeom>
          <a:noFill/>
          <a:ln w="28575" cap="flat" cmpd="sng" algn="ctr">
            <a:solidFill>
              <a:srgbClr val="0146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3172003" y="1349292"/>
            <a:ext cx="2358354" cy="1000421"/>
          </a:xfrm>
          <a:prstGeom prst="rect">
            <a:avLst/>
          </a:prstGeom>
          <a:noFill/>
          <a:ln w="28575" cap="flat" cmpd="sng" algn="ctr">
            <a:solidFill>
              <a:srgbClr val="0146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6241361" y="1350648"/>
            <a:ext cx="2835460" cy="1000421"/>
          </a:xfrm>
          <a:prstGeom prst="rect">
            <a:avLst/>
          </a:prstGeom>
          <a:noFill/>
          <a:ln w="28575" cap="flat" cmpd="sng" algn="ctr">
            <a:solidFill>
              <a:srgbClr val="0146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Grafik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482" y="2553886"/>
            <a:ext cx="4768948" cy="403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3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/>
        </p:nvGrpSpPr>
        <p:grpSpPr>
          <a:xfrm>
            <a:off x="1948457" y="3007659"/>
            <a:ext cx="3766709" cy="2827606"/>
            <a:chOff x="1948457" y="3007659"/>
            <a:chExt cx="3766709" cy="2827606"/>
          </a:xfrm>
        </p:grpSpPr>
        <p:pic>
          <p:nvPicPr>
            <p:cNvPr id="2" name="Grafik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2311" y="3007659"/>
              <a:ext cx="3502855" cy="2827606"/>
            </a:xfrm>
            <a:prstGeom prst="rect">
              <a:avLst/>
            </a:prstGeom>
          </p:spPr>
        </p:pic>
        <p:sp>
          <p:nvSpPr>
            <p:cNvPr id="22" name="Textfeld 21"/>
            <p:cNvSpPr txBox="1"/>
            <p:nvPr/>
          </p:nvSpPr>
          <p:spPr>
            <a:xfrm rot="16200000">
              <a:off x="1293951" y="3915106"/>
              <a:ext cx="17091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b</a:t>
              </a:r>
              <a:r>
                <a:rPr lang="en-US" sz="2000" dirty="0" smtClean="0"/>
                <a:t>ox potential </a:t>
              </a:r>
              <a:endParaRPr lang="en-US" sz="2000" dirty="0"/>
            </a:p>
          </p:txBody>
        </p:sp>
      </p:grpSp>
      <p:pic>
        <p:nvPicPr>
          <p:cNvPr id="14622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62277" name="Text Box 5"/>
          <p:cNvSpPr txBox="1">
            <a:spLocks noChangeArrowheads="1"/>
          </p:cNvSpPr>
          <p:nvPr/>
        </p:nvSpPr>
        <p:spPr bwMode="auto">
          <a:xfrm>
            <a:off x="1331617" y="134938"/>
            <a:ext cx="7143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FF0000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3200" dirty="0">
                <a:solidFill>
                  <a:schemeClr val="bg1"/>
                </a:solidFill>
              </a:rPr>
              <a:t>c</a:t>
            </a:r>
            <a:r>
              <a:rPr lang="en-US" altLang="en-US" sz="3200" dirty="0" smtClean="0">
                <a:solidFill>
                  <a:schemeClr val="bg1"/>
                </a:solidFill>
              </a:rPr>
              <a:t>ollision/scattering: in a nut shell</a:t>
            </a:r>
            <a:endParaRPr lang="en-US" alt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11415" y="1432518"/>
            <a:ext cx="24064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>
              <a:buFont typeface="Symbol" panose="05050102010706020507" pitchFamily="18" charset="2"/>
              <a:buChar char="Y"/>
            </a:pPr>
            <a:r>
              <a:rPr lang="en-US" sz="2000" dirty="0" smtClean="0"/>
              <a:t>- wave function</a:t>
            </a:r>
          </a:p>
          <a:p>
            <a:pPr algn="ctr"/>
            <a:r>
              <a:rPr lang="en-US" sz="2000" dirty="0" smtClean="0"/>
              <a:t>(</a:t>
            </a:r>
            <a:r>
              <a:rPr lang="en-US" sz="2000" u="sng" dirty="0" smtClean="0"/>
              <a:t>energy</a:t>
            </a:r>
            <a:r>
              <a:rPr lang="en-US" sz="2000" dirty="0" smtClean="0"/>
              <a:t> and </a:t>
            </a:r>
            <a:r>
              <a:rPr lang="en-US" sz="2000" u="sng" dirty="0" smtClean="0"/>
              <a:t>phase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11" name="AutoShape 29"/>
          <p:cNvSpPr>
            <a:spLocks noChangeArrowheads="1"/>
          </p:cNvSpPr>
          <p:nvPr/>
        </p:nvSpPr>
        <p:spPr bwMode="auto">
          <a:xfrm>
            <a:off x="2602916" y="1917002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3125898" y="1464462"/>
            <a:ext cx="24641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u="sng" dirty="0" smtClean="0"/>
              <a:t>elastic</a:t>
            </a:r>
            <a:r>
              <a:rPr lang="en-US" sz="2000" dirty="0" smtClean="0"/>
              <a:t> collision</a:t>
            </a:r>
          </a:p>
          <a:p>
            <a:pPr algn="ctr"/>
            <a:r>
              <a:rPr lang="en-US" sz="2000" dirty="0" smtClean="0"/>
              <a:t>(no internal change)</a:t>
            </a:r>
            <a:endParaRPr lang="en-US" sz="2000" dirty="0"/>
          </a:p>
        </p:txBody>
      </p:sp>
      <p:sp>
        <p:nvSpPr>
          <p:cNvPr id="14" name="Textfeld 13"/>
          <p:cNvSpPr txBox="1"/>
          <p:nvPr/>
        </p:nvSpPr>
        <p:spPr>
          <a:xfrm>
            <a:off x="6165299" y="1434604"/>
            <a:ext cx="29787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n</a:t>
            </a:r>
            <a:r>
              <a:rPr lang="en-US" sz="2000" dirty="0" smtClean="0"/>
              <a:t>o energy change</a:t>
            </a:r>
          </a:p>
          <a:p>
            <a:pPr algn="ctr"/>
            <a:r>
              <a:rPr lang="en-US" sz="2000" u="sng" dirty="0"/>
              <a:t>p</a:t>
            </a:r>
            <a:r>
              <a:rPr lang="en-US" sz="2000" u="sng" dirty="0" smtClean="0"/>
              <a:t>hase</a:t>
            </a:r>
            <a:r>
              <a:rPr lang="en-US" sz="2000" dirty="0" smtClean="0"/>
              <a:t> of </a:t>
            </a:r>
            <a:r>
              <a:rPr lang="en-US" sz="2000" dirty="0" smtClean="0">
                <a:latin typeface="Symbol" panose="05050102010706020507" pitchFamily="18" charset="2"/>
              </a:rPr>
              <a:t>Y</a:t>
            </a:r>
            <a:r>
              <a:rPr lang="en-US" sz="2000" dirty="0" smtClean="0"/>
              <a:t> must change</a:t>
            </a:r>
            <a:endParaRPr lang="en-US" sz="2000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2952842" y="2566543"/>
            <a:ext cx="3090911" cy="3785886"/>
            <a:chOff x="2952842" y="2566543"/>
            <a:chExt cx="3090911" cy="3785886"/>
          </a:xfrm>
        </p:grpSpPr>
        <p:sp>
          <p:nvSpPr>
            <p:cNvPr id="9" name="Textfeld 8"/>
            <p:cNvSpPr txBox="1"/>
            <p:nvPr/>
          </p:nvSpPr>
          <p:spPr>
            <a:xfrm>
              <a:off x="2952842" y="5952319"/>
              <a:ext cx="30909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“deepening” the potential </a:t>
              </a:r>
              <a:endParaRPr lang="en-US" sz="2000" dirty="0"/>
            </a:p>
          </p:txBody>
        </p:sp>
        <p:sp>
          <p:nvSpPr>
            <p:cNvPr id="12" name="AutoShape 29"/>
            <p:cNvSpPr>
              <a:spLocks noChangeArrowheads="1"/>
            </p:cNvSpPr>
            <p:nvPr/>
          </p:nvSpPr>
          <p:spPr bwMode="auto">
            <a:xfrm rot="5400000">
              <a:off x="3398799" y="3570580"/>
              <a:ext cx="519113" cy="152400"/>
            </a:xfrm>
            <a:prstGeom prst="rightArrow">
              <a:avLst>
                <a:gd name="adj1" fmla="val 50000"/>
                <a:gd name="adj2" fmla="val 85156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AutoShape 29"/>
            <p:cNvSpPr>
              <a:spLocks noChangeArrowheads="1"/>
            </p:cNvSpPr>
            <p:nvPr/>
          </p:nvSpPr>
          <p:spPr bwMode="auto">
            <a:xfrm rot="5400000">
              <a:off x="3398798" y="4432267"/>
              <a:ext cx="519113" cy="152400"/>
            </a:xfrm>
            <a:prstGeom prst="rightArrow">
              <a:avLst>
                <a:gd name="adj1" fmla="val 50000"/>
                <a:gd name="adj2" fmla="val 85156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3503779" y="2566543"/>
              <a:ext cx="15648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</a:t>
              </a:r>
              <a:r>
                <a:rPr lang="en-US" sz="2000" dirty="0" smtClean="0"/>
                <a:t>tep by step</a:t>
              </a:r>
              <a:endParaRPr lang="en-US" sz="2000" dirty="0"/>
            </a:p>
          </p:txBody>
        </p:sp>
      </p:grpSp>
      <p:sp>
        <p:nvSpPr>
          <p:cNvPr id="17" name="AutoShape 29"/>
          <p:cNvSpPr>
            <a:spLocks noChangeArrowheads="1"/>
          </p:cNvSpPr>
          <p:nvPr/>
        </p:nvSpPr>
        <p:spPr bwMode="auto">
          <a:xfrm>
            <a:off x="5619925" y="1907735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hteck 4"/>
          <p:cNvSpPr/>
          <p:nvPr/>
        </p:nvSpPr>
        <p:spPr bwMode="auto">
          <a:xfrm>
            <a:off x="269238" y="1343608"/>
            <a:ext cx="2288894" cy="1000421"/>
          </a:xfrm>
          <a:prstGeom prst="rect">
            <a:avLst/>
          </a:prstGeom>
          <a:noFill/>
          <a:ln w="28575" cap="flat" cmpd="sng" algn="ctr">
            <a:solidFill>
              <a:srgbClr val="0146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3172003" y="1349292"/>
            <a:ext cx="2358354" cy="1000421"/>
          </a:xfrm>
          <a:prstGeom prst="rect">
            <a:avLst/>
          </a:prstGeom>
          <a:noFill/>
          <a:ln w="28575" cap="flat" cmpd="sng" algn="ctr">
            <a:solidFill>
              <a:srgbClr val="0146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6241361" y="1350648"/>
            <a:ext cx="2835460" cy="1000421"/>
          </a:xfrm>
          <a:prstGeom prst="rect">
            <a:avLst/>
          </a:prstGeom>
          <a:noFill/>
          <a:ln w="28575" cap="flat" cmpd="sng" algn="ctr">
            <a:solidFill>
              <a:srgbClr val="0146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3" name="Gruppieren 22"/>
          <p:cNvGrpSpPr/>
          <p:nvPr/>
        </p:nvGrpSpPr>
        <p:grpSpPr>
          <a:xfrm>
            <a:off x="4038289" y="3597197"/>
            <a:ext cx="1492068" cy="369332"/>
            <a:chOff x="4038289" y="3597197"/>
            <a:chExt cx="1492068" cy="369332"/>
          </a:xfrm>
        </p:grpSpPr>
        <p:cxnSp>
          <p:nvCxnSpPr>
            <p:cNvPr id="18" name="Gerade Verbindung mit Pfeil 17"/>
            <p:cNvCxnSpPr/>
            <p:nvPr/>
          </p:nvCxnSpPr>
          <p:spPr bwMode="auto">
            <a:xfrm flipH="1" flipV="1">
              <a:off x="4038289" y="3901178"/>
              <a:ext cx="1492068" cy="3732"/>
            </a:xfrm>
            <a:prstGeom prst="straightConnector1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Textfeld 20"/>
            <p:cNvSpPr txBox="1"/>
            <p:nvPr/>
          </p:nvSpPr>
          <p:spPr>
            <a:xfrm>
              <a:off x="4516461" y="3597197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1" dirty="0" err="1" smtClean="0">
                  <a:latin typeface="+mj-lt"/>
                </a:rPr>
                <a:t>E</a:t>
              </a:r>
              <a:r>
                <a:rPr lang="en-US" sz="1050" i="1" dirty="0" err="1" smtClean="0">
                  <a:latin typeface="+mj-lt"/>
                </a:rPr>
                <a:t>coll</a:t>
              </a:r>
              <a:endParaRPr lang="en-US" sz="1050" i="1" dirty="0">
                <a:latin typeface="+mj-lt"/>
              </a:endParaRPr>
            </a:p>
          </p:txBody>
        </p:sp>
      </p:grpSp>
      <p:grpSp>
        <p:nvGrpSpPr>
          <p:cNvPr id="25" name="Gruppieren 24"/>
          <p:cNvGrpSpPr/>
          <p:nvPr/>
        </p:nvGrpSpPr>
        <p:grpSpPr>
          <a:xfrm>
            <a:off x="5682209" y="4010571"/>
            <a:ext cx="3349187" cy="707886"/>
            <a:chOff x="5682209" y="4010571"/>
            <a:chExt cx="3349187" cy="707886"/>
          </a:xfrm>
        </p:grpSpPr>
        <p:sp>
          <p:nvSpPr>
            <p:cNvPr id="28" name="Textfeld 27"/>
            <p:cNvSpPr txBox="1"/>
            <p:nvPr/>
          </p:nvSpPr>
          <p:spPr>
            <a:xfrm>
              <a:off x="5682209" y="4010571"/>
              <a:ext cx="334918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algn="ctr">
                <a:buFont typeface="Symbol" panose="05050102010706020507" pitchFamily="18" charset="2"/>
                <a:buChar char="Y"/>
              </a:pPr>
              <a:r>
                <a:rPr lang="en-US" sz="2000" dirty="0"/>
                <a:t> </a:t>
              </a:r>
              <a:r>
                <a:rPr lang="en-US" sz="2000" dirty="0" smtClean="0"/>
                <a:t>   -   wave function</a:t>
              </a:r>
            </a:p>
            <a:p>
              <a:pPr algn="ctr"/>
              <a:r>
                <a:rPr lang="en-US" sz="2000" dirty="0" smtClean="0"/>
                <a:t>(continuous + differentiable)</a:t>
              </a:r>
              <a:endParaRPr lang="en-US" sz="2000" dirty="0"/>
            </a:p>
          </p:txBody>
        </p:sp>
        <p:sp>
          <p:nvSpPr>
            <p:cNvPr id="24" name="Textfeld 23"/>
            <p:cNvSpPr txBox="1"/>
            <p:nvPr/>
          </p:nvSpPr>
          <p:spPr>
            <a:xfrm>
              <a:off x="6202992" y="4188284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1,2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1101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62277" name="Text Box 5"/>
          <p:cNvSpPr txBox="1">
            <a:spLocks noChangeArrowheads="1"/>
          </p:cNvSpPr>
          <p:nvPr/>
        </p:nvSpPr>
        <p:spPr bwMode="auto">
          <a:xfrm>
            <a:off x="1018112" y="134938"/>
            <a:ext cx="78011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FF0000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3200" dirty="0">
                <a:solidFill>
                  <a:schemeClr val="bg1"/>
                </a:solidFill>
              </a:rPr>
              <a:t>c</a:t>
            </a:r>
            <a:r>
              <a:rPr lang="en-US" altLang="en-US" sz="3200" dirty="0" smtClean="0">
                <a:solidFill>
                  <a:schemeClr val="bg1"/>
                </a:solidFill>
              </a:rPr>
              <a:t>ollision: scattering – resonances</a:t>
            </a:r>
            <a:endParaRPr lang="en-US" altLang="en-US" sz="3200" dirty="0">
              <a:solidFill>
                <a:schemeClr val="bg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75" y="1330265"/>
            <a:ext cx="1740500" cy="133988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3589" y="1330265"/>
            <a:ext cx="1590456" cy="132037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3677" y="1447477"/>
            <a:ext cx="1554446" cy="1164334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1490" y="1456479"/>
            <a:ext cx="1548445" cy="1155332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3302" y="1475425"/>
            <a:ext cx="1554446" cy="118534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1234" y="3149946"/>
            <a:ext cx="1614464" cy="1497430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>
          <a:xfrm>
            <a:off x="2600280" y="3060925"/>
            <a:ext cx="33586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linking phase </a:t>
            </a:r>
            <a:r>
              <a:rPr lang="en-US" sz="2000" dirty="0">
                <a:latin typeface="Symbol" panose="05050102010706020507" pitchFamily="18" charset="2"/>
              </a:rPr>
              <a:t>Y</a:t>
            </a:r>
            <a:r>
              <a:rPr lang="en-US" sz="2000" dirty="0"/>
              <a:t> </a:t>
            </a:r>
            <a:endParaRPr lang="en-US" sz="2000" dirty="0" smtClean="0"/>
          </a:p>
          <a:p>
            <a:pPr algn="ctr"/>
            <a:r>
              <a:rPr lang="en-US" sz="2000" dirty="0" smtClean="0"/>
              <a:t>scattering length </a:t>
            </a:r>
            <a:r>
              <a:rPr lang="en-US" sz="2000" i="1" dirty="0" smtClean="0"/>
              <a:t>a</a:t>
            </a:r>
            <a:r>
              <a:rPr lang="en-US" sz="2000" dirty="0" smtClean="0"/>
              <a:t>: “</a:t>
            </a:r>
            <a:r>
              <a:rPr lang="en-US" sz="2000" dirty="0"/>
              <a:t>sin(</a:t>
            </a:r>
            <a:r>
              <a:rPr lang="en-US" sz="2000" i="1" dirty="0" err="1"/>
              <a:t>ka</a:t>
            </a:r>
            <a:r>
              <a:rPr lang="en-US" sz="2000" dirty="0"/>
              <a:t>)”</a:t>
            </a:r>
          </a:p>
          <a:p>
            <a:pPr algn="ctr"/>
            <a:endParaRPr lang="en-US" sz="2000" dirty="0" smtClean="0"/>
          </a:p>
        </p:txBody>
      </p:sp>
      <p:sp>
        <p:nvSpPr>
          <p:cNvPr id="21" name="Textfeld 20"/>
          <p:cNvSpPr txBox="1"/>
          <p:nvPr/>
        </p:nvSpPr>
        <p:spPr>
          <a:xfrm>
            <a:off x="2784499" y="2604477"/>
            <a:ext cx="3090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“deepening” the potential </a:t>
            </a:r>
            <a:endParaRPr lang="en-US" sz="2000" dirty="0"/>
          </a:p>
        </p:txBody>
      </p:sp>
      <p:sp>
        <p:nvSpPr>
          <p:cNvPr id="12" name="Ellipse 11"/>
          <p:cNvSpPr/>
          <p:nvPr/>
        </p:nvSpPr>
        <p:spPr bwMode="auto">
          <a:xfrm>
            <a:off x="692671" y="2204209"/>
            <a:ext cx="256134" cy="242616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6687948" y="2124197"/>
            <a:ext cx="256134" cy="24261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Ellipse 23"/>
          <p:cNvSpPr/>
          <p:nvPr/>
        </p:nvSpPr>
        <p:spPr bwMode="auto">
          <a:xfrm>
            <a:off x="2050840" y="2152869"/>
            <a:ext cx="256134" cy="242616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Ellipse 24"/>
          <p:cNvSpPr/>
          <p:nvPr/>
        </p:nvSpPr>
        <p:spPr bwMode="auto">
          <a:xfrm flipV="1">
            <a:off x="3928945" y="1587127"/>
            <a:ext cx="378065" cy="252870"/>
          </a:xfrm>
          <a:prstGeom prst="ellips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0" y="2531464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Symbol" panose="05050102010706020507" pitchFamily="18" charset="2"/>
              </a:rPr>
              <a:t>Y</a:t>
            </a:r>
            <a:r>
              <a:rPr lang="en-US" sz="2000" dirty="0" smtClean="0"/>
              <a:t> - wave function</a:t>
            </a:r>
          </a:p>
          <a:p>
            <a:r>
              <a:rPr lang="en-US" sz="2000" dirty="0"/>
              <a:t>e</a:t>
            </a:r>
            <a:r>
              <a:rPr lang="en-US" sz="2000" dirty="0" smtClean="0"/>
              <a:t>nergy and phase</a:t>
            </a:r>
            <a:endParaRPr lang="en-US" sz="2000" dirty="0"/>
          </a:p>
        </p:txBody>
      </p:sp>
      <p:sp>
        <p:nvSpPr>
          <p:cNvPr id="28" name="AutoShape 29"/>
          <p:cNvSpPr>
            <a:spLocks noChangeArrowheads="1"/>
          </p:cNvSpPr>
          <p:nvPr/>
        </p:nvSpPr>
        <p:spPr bwMode="auto">
          <a:xfrm>
            <a:off x="2306974" y="2743723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AutoShape 29"/>
          <p:cNvSpPr>
            <a:spLocks noChangeArrowheads="1"/>
          </p:cNvSpPr>
          <p:nvPr/>
        </p:nvSpPr>
        <p:spPr bwMode="auto">
          <a:xfrm>
            <a:off x="5785686" y="2733007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Gruppieren 29"/>
          <p:cNvGrpSpPr/>
          <p:nvPr/>
        </p:nvGrpSpPr>
        <p:grpSpPr>
          <a:xfrm>
            <a:off x="1089025" y="3743966"/>
            <a:ext cx="4495862" cy="2827606"/>
            <a:chOff x="1148393" y="3007659"/>
            <a:chExt cx="4495862" cy="2827606"/>
          </a:xfrm>
        </p:grpSpPr>
        <p:pic>
          <p:nvPicPr>
            <p:cNvPr id="31" name="Grafik 3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41400" y="3007659"/>
              <a:ext cx="3502855" cy="2827606"/>
            </a:xfrm>
            <a:prstGeom prst="rect">
              <a:avLst/>
            </a:prstGeom>
          </p:spPr>
        </p:pic>
        <p:sp>
          <p:nvSpPr>
            <p:cNvPr id="32" name="Textfeld 31"/>
            <p:cNvSpPr txBox="1"/>
            <p:nvPr/>
          </p:nvSpPr>
          <p:spPr>
            <a:xfrm>
              <a:off x="1148393" y="3277792"/>
              <a:ext cx="17379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Box potential 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923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62277" name="Text Box 5"/>
          <p:cNvSpPr txBox="1">
            <a:spLocks noChangeArrowheads="1"/>
          </p:cNvSpPr>
          <p:nvPr/>
        </p:nvSpPr>
        <p:spPr bwMode="auto">
          <a:xfrm>
            <a:off x="1018112" y="134938"/>
            <a:ext cx="78011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FF0000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3200" dirty="0">
                <a:solidFill>
                  <a:schemeClr val="bg1"/>
                </a:solidFill>
              </a:rPr>
              <a:t>c</a:t>
            </a:r>
            <a:r>
              <a:rPr lang="en-US" altLang="en-US" sz="3200" dirty="0" smtClean="0">
                <a:solidFill>
                  <a:schemeClr val="bg1"/>
                </a:solidFill>
              </a:rPr>
              <a:t>ollision: scattering –</a:t>
            </a:r>
            <a:r>
              <a:rPr lang="en-US" altLang="en-US" sz="3200" dirty="0">
                <a:solidFill>
                  <a:schemeClr val="bg1"/>
                </a:solidFill>
              </a:rPr>
              <a:t> r</a:t>
            </a:r>
            <a:r>
              <a:rPr lang="en-US" altLang="en-US" sz="3200" dirty="0" smtClean="0">
                <a:solidFill>
                  <a:schemeClr val="bg1"/>
                </a:solidFill>
              </a:rPr>
              <a:t>esonances</a:t>
            </a:r>
            <a:endParaRPr lang="en-US" altLang="en-US" sz="3200" dirty="0">
              <a:solidFill>
                <a:schemeClr val="bg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75" y="1154861"/>
            <a:ext cx="1740500" cy="133988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3589" y="1154861"/>
            <a:ext cx="1590456" cy="132037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3677" y="1272073"/>
            <a:ext cx="1554446" cy="1164334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1490" y="1281075"/>
            <a:ext cx="1548445" cy="1155332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3302" y="1300021"/>
            <a:ext cx="1554446" cy="118534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1234" y="3149946"/>
            <a:ext cx="1614464" cy="149743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2802" y="2902840"/>
            <a:ext cx="4913802" cy="2944623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5460" y="5622415"/>
            <a:ext cx="2120178" cy="752935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>
          <a:xfrm rot="16200000">
            <a:off x="766243" y="4013202"/>
            <a:ext cx="2064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dirty="0" smtClean="0"/>
              <a:t>cattering length</a:t>
            </a:r>
            <a:endParaRPr lang="en-US" sz="2000" dirty="0"/>
          </a:p>
        </p:txBody>
      </p:sp>
      <p:sp>
        <p:nvSpPr>
          <p:cNvPr id="20" name="Textfeld 19"/>
          <p:cNvSpPr txBox="1"/>
          <p:nvPr/>
        </p:nvSpPr>
        <p:spPr>
          <a:xfrm>
            <a:off x="3344569" y="5709373"/>
            <a:ext cx="30011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dirty="0" smtClean="0"/>
              <a:t>cattering cross-section:</a:t>
            </a:r>
          </a:p>
          <a:p>
            <a:r>
              <a:rPr lang="en-US" sz="2000" dirty="0"/>
              <a:t>t</a:t>
            </a:r>
            <a:r>
              <a:rPr lang="en-US" sz="2000" dirty="0" smtClean="0"/>
              <a:t>he “size” of the atom/ion</a:t>
            </a:r>
            <a:endParaRPr lang="en-US" sz="2000" dirty="0"/>
          </a:p>
        </p:txBody>
      </p:sp>
      <p:sp>
        <p:nvSpPr>
          <p:cNvPr id="21" name="Textfeld 20"/>
          <p:cNvSpPr txBox="1"/>
          <p:nvPr/>
        </p:nvSpPr>
        <p:spPr>
          <a:xfrm>
            <a:off x="2784499" y="2429073"/>
            <a:ext cx="3090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“deepening” the potential </a:t>
            </a:r>
            <a:endParaRPr lang="en-US" sz="2000" dirty="0"/>
          </a:p>
        </p:txBody>
      </p:sp>
      <p:sp>
        <p:nvSpPr>
          <p:cNvPr id="12" name="Ellipse 11"/>
          <p:cNvSpPr/>
          <p:nvPr/>
        </p:nvSpPr>
        <p:spPr bwMode="auto">
          <a:xfrm>
            <a:off x="692671" y="2028805"/>
            <a:ext cx="256134" cy="242616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6687948" y="1948793"/>
            <a:ext cx="256134" cy="24261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Ellipse 23"/>
          <p:cNvSpPr/>
          <p:nvPr/>
        </p:nvSpPr>
        <p:spPr bwMode="auto">
          <a:xfrm>
            <a:off x="2050840" y="1977465"/>
            <a:ext cx="256134" cy="242616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Ellipse 24"/>
          <p:cNvSpPr/>
          <p:nvPr/>
        </p:nvSpPr>
        <p:spPr bwMode="auto">
          <a:xfrm flipV="1">
            <a:off x="3928945" y="1411723"/>
            <a:ext cx="378065" cy="252870"/>
          </a:xfrm>
          <a:prstGeom prst="ellips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0" y="235606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Symbol" panose="05050102010706020507" pitchFamily="18" charset="2"/>
              </a:rPr>
              <a:t>Y</a:t>
            </a:r>
            <a:r>
              <a:rPr lang="en-US" sz="2000" dirty="0" smtClean="0"/>
              <a:t> - wave function</a:t>
            </a:r>
          </a:p>
          <a:p>
            <a:r>
              <a:rPr lang="en-US" sz="2000" dirty="0"/>
              <a:t>e</a:t>
            </a:r>
            <a:r>
              <a:rPr lang="en-US" sz="2000" dirty="0" smtClean="0"/>
              <a:t>nergy and phase</a:t>
            </a:r>
            <a:endParaRPr lang="en-US" sz="2000" dirty="0"/>
          </a:p>
        </p:txBody>
      </p:sp>
      <p:sp>
        <p:nvSpPr>
          <p:cNvPr id="28" name="AutoShape 29"/>
          <p:cNvSpPr>
            <a:spLocks noChangeArrowheads="1"/>
          </p:cNvSpPr>
          <p:nvPr/>
        </p:nvSpPr>
        <p:spPr bwMode="auto">
          <a:xfrm>
            <a:off x="2306974" y="2568319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AutoShape 29"/>
          <p:cNvSpPr>
            <a:spLocks noChangeArrowheads="1"/>
          </p:cNvSpPr>
          <p:nvPr/>
        </p:nvSpPr>
        <p:spPr bwMode="auto">
          <a:xfrm>
            <a:off x="5785686" y="2557603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0" name="Grafik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3150" y="4470607"/>
            <a:ext cx="708586" cy="571992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 bwMode="auto">
          <a:xfrm>
            <a:off x="3224660" y="2902840"/>
            <a:ext cx="2996992" cy="2471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3214877" y="2747556"/>
            <a:ext cx="444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ymbol" panose="05050102010706020507" pitchFamily="18" charset="2"/>
              </a:rPr>
              <a:t>n</a:t>
            </a:r>
            <a:r>
              <a:rPr lang="en-US" sz="1400" dirty="0" smtClean="0">
                <a:solidFill>
                  <a:srgbClr val="FF0000"/>
                </a:solidFill>
              </a:rPr>
              <a:t>o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2" name="Textfeld 31"/>
          <p:cNvSpPr txBox="1"/>
          <p:nvPr/>
        </p:nvSpPr>
        <p:spPr>
          <a:xfrm>
            <a:off x="4425839" y="273994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n</a:t>
            </a:r>
            <a:r>
              <a:rPr lang="en-US" sz="11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3" name="Textfeld 32"/>
          <p:cNvSpPr txBox="1"/>
          <p:nvPr/>
        </p:nvSpPr>
        <p:spPr>
          <a:xfrm>
            <a:off x="5577615" y="273922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n</a:t>
            </a:r>
            <a:r>
              <a:rPr lang="en-US" sz="11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950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62277" name="Text Box 5"/>
          <p:cNvSpPr txBox="1">
            <a:spLocks noChangeArrowheads="1"/>
          </p:cNvSpPr>
          <p:nvPr/>
        </p:nvSpPr>
        <p:spPr bwMode="auto">
          <a:xfrm>
            <a:off x="816575" y="134938"/>
            <a:ext cx="77156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FF0000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3200" dirty="0">
                <a:solidFill>
                  <a:schemeClr val="bg1"/>
                </a:solidFill>
              </a:rPr>
              <a:t>c</a:t>
            </a:r>
            <a:r>
              <a:rPr lang="en-US" altLang="en-US" sz="3200" dirty="0" smtClean="0">
                <a:solidFill>
                  <a:schemeClr val="bg1"/>
                </a:solidFill>
              </a:rPr>
              <a:t>ollisions: tuning resonances (2 channels)</a:t>
            </a:r>
            <a:endParaRPr lang="en-US" altLang="en-US" sz="3200" dirty="0">
              <a:solidFill>
                <a:schemeClr val="bg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51" y="2687193"/>
            <a:ext cx="3810689" cy="2160001"/>
          </a:xfrm>
          <a:prstGeom prst="rect">
            <a:avLst/>
          </a:prstGeom>
        </p:spPr>
      </p:pic>
      <p:sp>
        <p:nvSpPr>
          <p:cNvPr id="14" name="Textfeld 13"/>
          <p:cNvSpPr txBox="1"/>
          <p:nvPr/>
        </p:nvSpPr>
        <p:spPr>
          <a:xfrm>
            <a:off x="1552133" y="1700718"/>
            <a:ext cx="27414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q</a:t>
            </a:r>
            <a:r>
              <a:rPr lang="en-US" sz="2000" dirty="0" smtClean="0"/>
              <a:t>uasi-bound state</a:t>
            </a:r>
          </a:p>
          <a:p>
            <a:pPr algn="ctr"/>
            <a:r>
              <a:rPr lang="en-US" sz="2000" dirty="0" smtClean="0"/>
              <a:t>=</a:t>
            </a:r>
          </a:p>
          <a:p>
            <a:r>
              <a:rPr lang="en-US" sz="2000" dirty="0" smtClean="0"/>
              <a:t>“enhanced” interaction</a:t>
            </a:r>
            <a:endParaRPr lang="en-US" sz="2000" dirty="0"/>
          </a:p>
        </p:txBody>
      </p:sp>
      <p:sp>
        <p:nvSpPr>
          <p:cNvPr id="18" name="Textfeld 17"/>
          <p:cNvSpPr txBox="1"/>
          <p:nvPr/>
        </p:nvSpPr>
        <p:spPr>
          <a:xfrm>
            <a:off x="1117623" y="5102389"/>
            <a:ext cx="3610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different internal states (spins)</a:t>
            </a:r>
          </a:p>
          <a:p>
            <a:r>
              <a:rPr lang="en-US" sz="2000" dirty="0"/>
              <a:t>d</a:t>
            </a:r>
            <a:r>
              <a:rPr lang="en-US" sz="2000" dirty="0" smtClean="0"/>
              <a:t>ifferent magnetic moments</a:t>
            </a:r>
          </a:p>
        </p:txBody>
      </p:sp>
      <p:grpSp>
        <p:nvGrpSpPr>
          <p:cNvPr id="9" name="Gruppieren 8"/>
          <p:cNvGrpSpPr/>
          <p:nvPr/>
        </p:nvGrpSpPr>
        <p:grpSpPr>
          <a:xfrm>
            <a:off x="5264492" y="1144512"/>
            <a:ext cx="3540159" cy="3771841"/>
            <a:chOff x="5264492" y="1790188"/>
            <a:chExt cx="3540159" cy="3771841"/>
          </a:xfrm>
        </p:grpSpPr>
        <p:sp>
          <p:nvSpPr>
            <p:cNvPr id="19" name="Textfeld 18"/>
            <p:cNvSpPr txBox="1"/>
            <p:nvPr/>
          </p:nvSpPr>
          <p:spPr>
            <a:xfrm>
              <a:off x="5357874" y="1790188"/>
              <a:ext cx="344677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ion-atom </a:t>
              </a:r>
            </a:p>
            <a:p>
              <a:r>
                <a:rPr lang="en-US" sz="2000" dirty="0" smtClean="0"/>
                <a:t>(molecular potential energy)</a:t>
              </a:r>
              <a:r>
                <a:rPr lang="en-US" dirty="0" smtClean="0"/>
                <a:t> </a:t>
              </a:r>
              <a:endParaRPr lang="en-US" dirty="0"/>
            </a:p>
          </p:txBody>
        </p:sp>
        <p:pic>
          <p:nvPicPr>
            <p:cNvPr id="20" name="Grafik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4492" y="2530441"/>
              <a:ext cx="2968283" cy="3031588"/>
            </a:xfrm>
            <a:prstGeom prst="rect">
              <a:avLst/>
            </a:prstGeom>
          </p:spPr>
        </p:pic>
      </p:grpSp>
      <p:grpSp>
        <p:nvGrpSpPr>
          <p:cNvPr id="21" name="Gruppieren 20"/>
          <p:cNvGrpSpPr/>
          <p:nvPr/>
        </p:nvGrpSpPr>
        <p:grpSpPr>
          <a:xfrm>
            <a:off x="6065552" y="3691870"/>
            <a:ext cx="1558131" cy="943118"/>
            <a:chOff x="820738" y="3134002"/>
            <a:chExt cx="1558131" cy="943118"/>
          </a:xfrm>
        </p:grpSpPr>
        <p:grpSp>
          <p:nvGrpSpPr>
            <p:cNvPr id="22" name="Gruppieren 21"/>
            <p:cNvGrpSpPr/>
            <p:nvPr/>
          </p:nvGrpSpPr>
          <p:grpSpPr>
            <a:xfrm>
              <a:off x="1490665" y="3214685"/>
              <a:ext cx="80963" cy="281508"/>
              <a:chOff x="1490665" y="3214685"/>
              <a:chExt cx="80963" cy="281508"/>
            </a:xfrm>
          </p:grpSpPr>
          <p:cxnSp>
            <p:nvCxnSpPr>
              <p:cNvPr id="30" name="Gerade Verbindung mit Pfeil 29"/>
              <p:cNvCxnSpPr/>
              <p:nvPr/>
            </p:nvCxnSpPr>
            <p:spPr bwMode="auto">
              <a:xfrm flipV="1">
                <a:off x="1490665" y="3214685"/>
                <a:ext cx="2381" cy="271462"/>
              </a:xfrm>
              <a:prstGeom prst="straightConnector1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46275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Gerade Verbindung mit Pfeil 30"/>
              <p:cNvCxnSpPr/>
              <p:nvPr/>
            </p:nvCxnSpPr>
            <p:spPr bwMode="auto">
              <a:xfrm>
                <a:off x="1571628" y="3227112"/>
                <a:ext cx="0" cy="269081"/>
              </a:xfrm>
              <a:prstGeom prst="straightConnector1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46275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3" name="Gruppieren 22"/>
            <p:cNvGrpSpPr/>
            <p:nvPr/>
          </p:nvGrpSpPr>
          <p:grpSpPr>
            <a:xfrm>
              <a:off x="1954137" y="3216313"/>
              <a:ext cx="98740" cy="271462"/>
              <a:chOff x="1954137" y="3216313"/>
              <a:chExt cx="98740" cy="271462"/>
            </a:xfrm>
          </p:grpSpPr>
          <p:cxnSp>
            <p:nvCxnSpPr>
              <p:cNvPr id="28" name="Gerade Verbindung mit Pfeil 27"/>
              <p:cNvCxnSpPr/>
              <p:nvPr/>
            </p:nvCxnSpPr>
            <p:spPr bwMode="auto">
              <a:xfrm flipV="1">
                <a:off x="1954137" y="3216313"/>
                <a:ext cx="2381" cy="271462"/>
              </a:xfrm>
              <a:prstGeom prst="straightConnector1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46275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" name="Gerade Verbindung mit Pfeil 28"/>
              <p:cNvCxnSpPr/>
              <p:nvPr/>
            </p:nvCxnSpPr>
            <p:spPr bwMode="auto">
              <a:xfrm flipV="1">
                <a:off x="2050496" y="3216313"/>
                <a:ext cx="2381" cy="271462"/>
              </a:xfrm>
              <a:prstGeom prst="straightConnector1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46275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4" name="Textfeld 23"/>
            <p:cNvSpPr txBox="1"/>
            <p:nvPr/>
          </p:nvSpPr>
          <p:spPr>
            <a:xfrm>
              <a:off x="1393404" y="3707788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/>
                <a:t>e</a:t>
              </a:r>
              <a:r>
                <a:rPr lang="en-US" sz="1800" baseline="30000" dirty="0" smtClean="0"/>
                <a:t>-</a:t>
              </a:r>
              <a:r>
                <a:rPr lang="en-US" sz="1800" dirty="0" smtClean="0"/>
                <a:t>spin</a:t>
              </a:r>
              <a:endParaRPr lang="en-US" sz="1800" dirty="0"/>
            </a:p>
          </p:txBody>
        </p:sp>
        <p:sp>
          <p:nvSpPr>
            <p:cNvPr id="25" name="Ellipse 24"/>
            <p:cNvSpPr/>
            <p:nvPr/>
          </p:nvSpPr>
          <p:spPr bwMode="auto">
            <a:xfrm>
              <a:off x="1217088" y="3134002"/>
              <a:ext cx="1161781" cy="923648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26" name="Gerade Verbindung mit Pfeil 25"/>
            <p:cNvCxnSpPr/>
            <p:nvPr/>
          </p:nvCxnSpPr>
          <p:spPr bwMode="auto">
            <a:xfrm flipH="1">
              <a:off x="900113" y="3650599"/>
              <a:ext cx="295221" cy="142242"/>
            </a:xfrm>
            <a:prstGeom prst="straightConnector1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mit Pfeil 26"/>
            <p:cNvCxnSpPr/>
            <p:nvPr/>
          </p:nvCxnSpPr>
          <p:spPr bwMode="auto">
            <a:xfrm flipH="1" flipV="1">
              <a:off x="820738" y="3430458"/>
              <a:ext cx="377247" cy="90449"/>
            </a:xfrm>
            <a:prstGeom prst="straightConnector1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95444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62277" name="Text Box 5"/>
          <p:cNvSpPr txBox="1">
            <a:spLocks noChangeArrowheads="1"/>
          </p:cNvSpPr>
          <p:nvPr/>
        </p:nvSpPr>
        <p:spPr bwMode="auto">
          <a:xfrm>
            <a:off x="1089025" y="134938"/>
            <a:ext cx="7143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FF0000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3200" dirty="0" smtClean="0">
                <a:solidFill>
                  <a:schemeClr val="bg1"/>
                </a:solidFill>
              </a:rPr>
              <a:t>Collisions: Tuning Resonances</a:t>
            </a:r>
            <a:endParaRPr lang="en-US" altLang="en-US" sz="3200" dirty="0">
              <a:solidFill>
                <a:schemeClr val="bg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5" y="2687193"/>
            <a:ext cx="3810689" cy="2160001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475" y="4759698"/>
            <a:ext cx="1970169" cy="139326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424" y="3117692"/>
            <a:ext cx="1806896" cy="140687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926" y="1545944"/>
            <a:ext cx="1806896" cy="1404153"/>
          </a:xfrm>
          <a:prstGeom prst="rect">
            <a:avLst/>
          </a:prstGeom>
        </p:spPr>
      </p:pic>
      <p:sp>
        <p:nvSpPr>
          <p:cNvPr id="14" name="Textfeld 13"/>
          <p:cNvSpPr txBox="1"/>
          <p:nvPr/>
        </p:nvSpPr>
        <p:spPr>
          <a:xfrm>
            <a:off x="969907" y="1700718"/>
            <a:ext cx="27414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q</a:t>
            </a:r>
            <a:r>
              <a:rPr lang="en-US" sz="2000" dirty="0" smtClean="0"/>
              <a:t>uasi-bound state</a:t>
            </a:r>
          </a:p>
          <a:p>
            <a:pPr algn="ctr"/>
            <a:r>
              <a:rPr lang="en-US" sz="2000" dirty="0" smtClean="0"/>
              <a:t>=</a:t>
            </a:r>
          </a:p>
          <a:p>
            <a:r>
              <a:rPr lang="en-US" sz="2000" dirty="0" smtClean="0"/>
              <a:t>“enhanced” interaction</a:t>
            </a:r>
            <a:endParaRPr lang="en-US" sz="2000" dirty="0"/>
          </a:p>
        </p:txBody>
      </p:sp>
      <p:sp>
        <p:nvSpPr>
          <p:cNvPr id="18" name="Textfeld 17"/>
          <p:cNvSpPr txBox="1"/>
          <p:nvPr/>
        </p:nvSpPr>
        <p:spPr>
          <a:xfrm>
            <a:off x="535397" y="5102389"/>
            <a:ext cx="3610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different internal states (spins)</a:t>
            </a:r>
          </a:p>
          <a:p>
            <a:r>
              <a:rPr lang="en-US" sz="2000" dirty="0"/>
              <a:t>d</a:t>
            </a:r>
            <a:r>
              <a:rPr lang="en-US" sz="2000" dirty="0" smtClean="0"/>
              <a:t>ifferent magnetic moments</a:t>
            </a:r>
          </a:p>
        </p:txBody>
      </p:sp>
      <p:sp>
        <p:nvSpPr>
          <p:cNvPr id="16" name="Textfeld 15"/>
          <p:cNvSpPr txBox="1"/>
          <p:nvPr/>
        </p:nvSpPr>
        <p:spPr>
          <a:xfrm rot="16200000">
            <a:off x="6080088" y="3567138"/>
            <a:ext cx="3233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</a:t>
            </a:r>
            <a:r>
              <a:rPr lang="en-US" sz="2000" dirty="0" smtClean="0"/>
              <a:t>uning B-field/Zeeman shift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5124891" y="2848647"/>
            <a:ext cx="356188" cy="2084448"/>
            <a:chOff x="5124891" y="2848647"/>
            <a:chExt cx="356188" cy="2084448"/>
          </a:xfrm>
        </p:grpSpPr>
        <p:sp>
          <p:nvSpPr>
            <p:cNvPr id="15" name="AutoShape 29"/>
            <p:cNvSpPr>
              <a:spLocks noChangeArrowheads="1"/>
            </p:cNvSpPr>
            <p:nvPr/>
          </p:nvSpPr>
          <p:spPr bwMode="auto">
            <a:xfrm rot="5400000">
              <a:off x="5037276" y="3032004"/>
              <a:ext cx="519113" cy="152400"/>
            </a:xfrm>
            <a:prstGeom prst="rightArrow">
              <a:avLst>
                <a:gd name="adj1" fmla="val 50000"/>
                <a:gd name="adj2" fmla="val 85156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AutoShape 29"/>
            <p:cNvSpPr>
              <a:spLocks noChangeArrowheads="1"/>
            </p:cNvSpPr>
            <p:nvPr/>
          </p:nvSpPr>
          <p:spPr bwMode="auto">
            <a:xfrm rot="5400000">
              <a:off x="5037276" y="4597339"/>
              <a:ext cx="519113" cy="152400"/>
            </a:xfrm>
            <a:prstGeom prst="rightArrow">
              <a:avLst>
                <a:gd name="adj1" fmla="val 50000"/>
                <a:gd name="adj2" fmla="val 85156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Textfeld 18"/>
            <p:cNvSpPr txBox="1"/>
            <p:nvPr/>
          </p:nvSpPr>
          <p:spPr>
            <a:xfrm>
              <a:off x="5124891" y="3690816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644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2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62277" name="Text Box 5"/>
          <p:cNvSpPr txBox="1">
            <a:spLocks noChangeArrowheads="1"/>
          </p:cNvSpPr>
          <p:nvPr/>
        </p:nvSpPr>
        <p:spPr bwMode="auto">
          <a:xfrm>
            <a:off x="1089025" y="134938"/>
            <a:ext cx="7143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FF0000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3200" dirty="0" smtClean="0">
                <a:solidFill>
                  <a:schemeClr val="bg1"/>
                </a:solidFill>
              </a:rPr>
              <a:t>Collisions: Tuning Resonances</a:t>
            </a:r>
            <a:endParaRPr lang="en-US" altLang="en-US" sz="3200" dirty="0">
              <a:solidFill>
                <a:schemeClr val="bg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5" y="2687193"/>
            <a:ext cx="3810689" cy="2160001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983" y="1711062"/>
            <a:ext cx="1970169" cy="139326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871" y="1512911"/>
            <a:ext cx="1806896" cy="140687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685" y="3133042"/>
            <a:ext cx="2955220" cy="208536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748" y="4675688"/>
            <a:ext cx="2542252" cy="75597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2647" y="5625097"/>
            <a:ext cx="1948494" cy="691965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 rot="16200000">
            <a:off x="3467134" y="3936770"/>
            <a:ext cx="2064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dirty="0" smtClean="0"/>
              <a:t>cattering length</a:t>
            </a:r>
            <a:endParaRPr lang="en-US" sz="2000" dirty="0"/>
          </a:p>
        </p:txBody>
      </p:sp>
      <p:sp>
        <p:nvSpPr>
          <p:cNvPr id="14" name="Textfeld 13"/>
          <p:cNvSpPr txBox="1"/>
          <p:nvPr/>
        </p:nvSpPr>
        <p:spPr>
          <a:xfrm>
            <a:off x="861672" y="1225907"/>
            <a:ext cx="27414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q</a:t>
            </a:r>
            <a:r>
              <a:rPr lang="en-US" sz="2000" dirty="0" smtClean="0"/>
              <a:t>uasi-bound state</a:t>
            </a:r>
          </a:p>
          <a:p>
            <a:pPr algn="ctr"/>
            <a:r>
              <a:rPr lang="en-US" sz="2000" dirty="0" smtClean="0"/>
              <a:t>=</a:t>
            </a:r>
          </a:p>
          <a:p>
            <a:r>
              <a:rPr lang="en-US" sz="2000" dirty="0" smtClean="0"/>
              <a:t>“enhanced” interaction</a:t>
            </a:r>
            <a:endParaRPr lang="en-US" sz="2000" dirty="0"/>
          </a:p>
        </p:txBody>
      </p:sp>
      <p:sp>
        <p:nvSpPr>
          <p:cNvPr id="16" name="AutoShape 29"/>
          <p:cNvSpPr>
            <a:spLocks noChangeArrowheads="1"/>
          </p:cNvSpPr>
          <p:nvPr/>
        </p:nvSpPr>
        <p:spPr bwMode="auto">
          <a:xfrm>
            <a:off x="4972065" y="1393113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AutoShape 29"/>
          <p:cNvSpPr>
            <a:spLocks noChangeArrowheads="1"/>
          </p:cNvSpPr>
          <p:nvPr/>
        </p:nvSpPr>
        <p:spPr bwMode="auto">
          <a:xfrm>
            <a:off x="6841224" y="1382096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5962892" y="1269258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780" y="1778149"/>
            <a:ext cx="1806896" cy="140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1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697" y="5720958"/>
            <a:ext cx="1012874" cy="446649"/>
          </a:xfrm>
          <a:prstGeom prst="rect">
            <a:avLst/>
          </a:prstGeom>
        </p:spPr>
      </p:pic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5" name="Text Box 23"/>
          <p:cNvSpPr txBox="1">
            <a:spLocks noChangeArrowheads="1"/>
          </p:cNvSpPr>
          <p:nvPr/>
        </p:nvSpPr>
        <p:spPr bwMode="auto">
          <a:xfrm>
            <a:off x="698500" y="-13778"/>
            <a:ext cx="775335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800" dirty="0">
                <a:solidFill>
                  <a:schemeClr val="bg1"/>
                </a:solidFill>
                <a:latin typeface="Arial" panose="020B0604020202020204" pitchFamily="34" charset="0"/>
              </a:rPr>
              <a:t>c</a:t>
            </a:r>
            <a:r>
              <a:rPr lang="en-US" altLang="de-DE" sz="2800" dirty="0" smtClean="0">
                <a:solidFill>
                  <a:schemeClr val="bg1"/>
                </a:solidFill>
                <a:latin typeface="Arial" panose="020B0604020202020204" pitchFamily="34" charset="0"/>
              </a:rPr>
              <a:t>ontrolling  ion-atom interaction (hybrid trap)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de-DE" sz="2800" dirty="0" smtClean="0">
                <a:solidFill>
                  <a:schemeClr val="bg1"/>
                </a:solidFill>
                <a:latin typeface="Arial" panose="020B0604020202020204" pitchFamily="34" charset="0"/>
              </a:rPr>
              <a:t>                  </a:t>
            </a:r>
            <a:r>
              <a:rPr lang="en-US" altLang="de-DE" sz="28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Ba</a:t>
            </a:r>
            <a:r>
              <a:rPr lang="en-US" altLang="de-DE" sz="2800" baseline="300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8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Li</a:t>
            </a:r>
            <a:r>
              <a:rPr lang="en-US" altLang="de-DE" sz="2800" dirty="0" smtClean="0">
                <a:solidFill>
                  <a:schemeClr val="bg1"/>
                </a:solidFill>
                <a:latin typeface="Arial" panose="020B0604020202020204" pitchFamily="34" charset="0"/>
              </a:rPr>
              <a:t>   [</a:t>
            </a:r>
            <a:r>
              <a:rPr lang="en-US" altLang="de-DE" sz="28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BaLiLaB</a:t>
            </a:r>
            <a:r>
              <a:rPr lang="en-US" altLang="de-DE" sz="2800" dirty="0" smtClean="0">
                <a:solidFill>
                  <a:schemeClr val="bg1"/>
                </a:solidFill>
                <a:latin typeface="Arial" panose="020B0604020202020204" pitchFamily="34" charset="0"/>
              </a:rPr>
              <a:t>]</a:t>
            </a:r>
            <a:endParaRPr lang="en-US" altLang="de-DE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55306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8" name="Picture 30" descr="Kopie (4_blue) von Laseraufbau_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3293217" y="4430700"/>
            <a:ext cx="400622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                </a:t>
            </a:r>
            <a:r>
              <a:rPr lang="en-US" sz="1800" u="sng" dirty="0" smtClean="0"/>
              <a:t>generic:</a:t>
            </a:r>
            <a:r>
              <a:rPr lang="en-US" sz="1800" dirty="0" smtClean="0"/>
              <a:t> </a:t>
            </a:r>
          </a:p>
          <a:p>
            <a:endParaRPr lang="en-US" sz="1800" dirty="0" smtClean="0"/>
          </a:p>
          <a:p>
            <a:r>
              <a:rPr lang="en-US" sz="1800" dirty="0"/>
              <a:t> </a:t>
            </a:r>
            <a:r>
              <a:rPr lang="en-US" sz="1800" dirty="0" smtClean="0"/>
              <a:t>       - different asymptotes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       - density of vibrational states</a:t>
            </a:r>
          </a:p>
          <a:p>
            <a:r>
              <a:rPr lang="en-US" sz="1800" dirty="0" smtClean="0"/>
              <a:t>        - </a:t>
            </a:r>
            <a:r>
              <a:rPr lang="en-US" sz="1800" dirty="0" err="1" smtClean="0"/>
              <a:t>typ</a:t>
            </a:r>
            <a:r>
              <a:rPr lang="en-US" sz="1800" dirty="0" smtClean="0"/>
              <a:t>! scattering length</a:t>
            </a:r>
          </a:p>
          <a:p>
            <a:r>
              <a:rPr lang="en-US" sz="1800" dirty="0" smtClean="0"/>
              <a:t>	</a:t>
            </a:r>
          </a:p>
          <a:p>
            <a:r>
              <a:rPr lang="en-US" sz="1800" dirty="0" smtClean="0"/>
              <a:t>        - energy scale		: 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625" y="1852119"/>
            <a:ext cx="2524567" cy="1953756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961248" y="1311455"/>
            <a:ext cx="3317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 smtClean="0"/>
              <a:t>Feshbach</a:t>
            </a:r>
            <a:r>
              <a:rPr lang="en-US" sz="2000" dirty="0" smtClean="0"/>
              <a:t> resonances</a:t>
            </a:r>
          </a:p>
          <a:p>
            <a:pPr algn="ctr"/>
            <a:r>
              <a:rPr lang="en-US" sz="2000" dirty="0" smtClean="0"/>
              <a:t>(nuclear physics)</a:t>
            </a:r>
            <a:endParaRPr lang="en-US" sz="2000" dirty="0"/>
          </a:p>
        </p:txBody>
      </p:sp>
      <p:sp>
        <p:nvSpPr>
          <p:cNvPr id="24" name="Textfeld 23"/>
          <p:cNvSpPr txBox="1"/>
          <p:nvPr/>
        </p:nvSpPr>
        <p:spPr>
          <a:xfrm>
            <a:off x="6340763" y="6558938"/>
            <a:ext cx="2846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>
                <a:solidFill>
                  <a:schemeClr val="bg1"/>
                </a:solidFill>
              </a:rPr>
              <a:t>Tomza</a:t>
            </a:r>
            <a:r>
              <a:rPr lang="en-US" sz="1400" dirty="0" smtClean="0">
                <a:solidFill>
                  <a:schemeClr val="bg1"/>
                </a:solidFill>
              </a:rPr>
              <a:t> et al. </a:t>
            </a:r>
            <a:r>
              <a:rPr lang="en-US" sz="1400" dirty="0" err="1" smtClean="0">
                <a:solidFill>
                  <a:schemeClr val="bg1"/>
                </a:solidFill>
              </a:rPr>
              <a:t>Rev.Mod:phys</a:t>
            </a:r>
            <a:r>
              <a:rPr lang="en-US" sz="1400" dirty="0" smtClean="0">
                <a:solidFill>
                  <a:schemeClr val="bg1"/>
                </a:solidFill>
              </a:rPr>
              <a:t>(2019)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045" y="1530491"/>
            <a:ext cx="3421600" cy="2337866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0658" y="6176851"/>
            <a:ext cx="1069145" cy="411480"/>
          </a:xfrm>
          <a:prstGeom prst="rect">
            <a:avLst/>
          </a:prstGeom>
        </p:spPr>
      </p:pic>
      <p:grpSp>
        <p:nvGrpSpPr>
          <p:cNvPr id="14" name="Gruppieren 13"/>
          <p:cNvGrpSpPr/>
          <p:nvPr/>
        </p:nvGrpSpPr>
        <p:grpSpPr>
          <a:xfrm>
            <a:off x="36395" y="4326452"/>
            <a:ext cx="9523355" cy="2146231"/>
            <a:chOff x="36395" y="4326452"/>
            <a:chExt cx="9523355" cy="2146231"/>
          </a:xfrm>
        </p:grpSpPr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12717" y="4928396"/>
              <a:ext cx="1702191" cy="1522828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71703" y="4932271"/>
              <a:ext cx="1716258" cy="1540412"/>
            </a:xfrm>
            <a:prstGeom prst="rect">
              <a:avLst/>
            </a:prstGeom>
          </p:spPr>
        </p:pic>
        <p:sp>
          <p:nvSpPr>
            <p:cNvPr id="32" name="Textfeld 31"/>
            <p:cNvSpPr txBox="1"/>
            <p:nvPr/>
          </p:nvSpPr>
          <p:spPr>
            <a:xfrm>
              <a:off x="36395" y="4326452"/>
              <a:ext cx="39582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u="sng" dirty="0" smtClean="0"/>
                <a:t>atom-atom   </a:t>
              </a:r>
              <a:endParaRPr lang="en-US" sz="2000" u="sng" dirty="0"/>
            </a:p>
            <a:p>
              <a:pPr algn="ctr"/>
              <a:r>
                <a:rPr lang="en-US" sz="2000" dirty="0"/>
                <a:t>interaction (</a:t>
              </a:r>
              <a:r>
                <a:rPr lang="en-US" sz="2000" u="sng" dirty="0" smtClean="0"/>
                <a:t>van der Waals </a:t>
              </a:r>
              <a:r>
                <a:rPr lang="en-US" sz="2000" u="sng" dirty="0"/>
                <a:t>~ 1/r</a:t>
              </a:r>
              <a:r>
                <a:rPr lang="en-US" sz="2000" u="sng" baseline="30000" dirty="0"/>
                <a:t>6</a:t>
              </a:r>
              <a:r>
                <a:rPr lang="en-US" sz="2000" dirty="0"/>
                <a:t>)</a:t>
              </a:r>
            </a:p>
          </p:txBody>
        </p:sp>
        <p:sp>
          <p:nvSpPr>
            <p:cNvPr id="33" name="Textfeld 32"/>
            <p:cNvSpPr txBox="1"/>
            <p:nvPr/>
          </p:nvSpPr>
          <p:spPr>
            <a:xfrm>
              <a:off x="5601481" y="4419073"/>
              <a:ext cx="39582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u="sng" dirty="0" smtClean="0"/>
                <a:t>ion-atom</a:t>
              </a:r>
              <a:r>
                <a:rPr lang="en-US" sz="2000" dirty="0" smtClean="0"/>
                <a:t> interaction </a:t>
              </a:r>
              <a:r>
                <a:rPr lang="en-US" sz="2000" u="sng" dirty="0" smtClean="0"/>
                <a:t>(~1/r</a:t>
              </a:r>
              <a:r>
                <a:rPr lang="en-US" sz="2000" u="sng" baseline="30000" dirty="0"/>
                <a:t>4</a:t>
              </a:r>
              <a:r>
                <a:rPr lang="en-US" sz="2000" dirty="0" smtClean="0"/>
                <a:t>)</a:t>
              </a:r>
              <a:endParaRPr lang="en-US" sz="2000" dirty="0"/>
            </a:p>
          </p:txBody>
        </p:sp>
      </p:grpSp>
      <p:grpSp>
        <p:nvGrpSpPr>
          <p:cNvPr id="27" name="Gruppieren 26"/>
          <p:cNvGrpSpPr/>
          <p:nvPr/>
        </p:nvGrpSpPr>
        <p:grpSpPr>
          <a:xfrm>
            <a:off x="5037283" y="1820334"/>
            <a:ext cx="2732786" cy="1198982"/>
            <a:chOff x="5968159" y="1501173"/>
            <a:chExt cx="2732786" cy="1198982"/>
          </a:xfrm>
        </p:grpSpPr>
        <p:cxnSp>
          <p:nvCxnSpPr>
            <p:cNvPr id="8" name="Gerade Verbindung mit Pfeil 7"/>
            <p:cNvCxnSpPr/>
            <p:nvPr/>
          </p:nvCxnSpPr>
          <p:spPr bwMode="auto">
            <a:xfrm>
              <a:off x="5968159" y="1802969"/>
              <a:ext cx="2479722" cy="0"/>
            </a:xfrm>
            <a:prstGeom prst="straightConnector1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25400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r Verbinder 14"/>
            <p:cNvCxnSpPr/>
            <p:nvPr/>
          </p:nvCxnSpPr>
          <p:spPr bwMode="auto">
            <a:xfrm>
              <a:off x="8448679" y="1660358"/>
              <a:ext cx="0" cy="611207"/>
            </a:xfrm>
            <a:prstGeom prst="lin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222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Textfeld 16"/>
            <p:cNvSpPr txBox="1"/>
            <p:nvPr/>
          </p:nvSpPr>
          <p:spPr>
            <a:xfrm>
              <a:off x="8074074" y="150117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/>
                <a:t>R*</a:t>
              </a:r>
              <a:endParaRPr lang="en-US" sz="1800" dirty="0"/>
            </a:p>
          </p:txBody>
        </p:sp>
        <p:cxnSp>
          <p:nvCxnSpPr>
            <p:cNvPr id="39" name="Gerade Verbindung mit Pfeil 38"/>
            <p:cNvCxnSpPr/>
            <p:nvPr/>
          </p:nvCxnSpPr>
          <p:spPr bwMode="auto">
            <a:xfrm flipV="1">
              <a:off x="7859108" y="2460066"/>
              <a:ext cx="251430" cy="2534"/>
            </a:xfrm>
            <a:prstGeom prst="straightConnector1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25400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Gerader Verbinder 42"/>
            <p:cNvCxnSpPr/>
            <p:nvPr/>
          </p:nvCxnSpPr>
          <p:spPr bwMode="auto">
            <a:xfrm>
              <a:off x="8120064" y="2514602"/>
              <a:ext cx="0" cy="185553"/>
            </a:xfrm>
            <a:prstGeom prst="lin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222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" name="Textfeld 46"/>
            <p:cNvSpPr txBox="1"/>
            <p:nvPr/>
          </p:nvSpPr>
          <p:spPr>
            <a:xfrm>
              <a:off x="8272623" y="2299357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E</a:t>
              </a:r>
              <a:r>
                <a:rPr lang="en-US" sz="1800" dirty="0" smtClean="0"/>
                <a:t>*</a:t>
              </a:r>
              <a:endParaRPr lang="en-US" sz="1800" dirty="0"/>
            </a:p>
          </p:txBody>
        </p:sp>
      </p:grpSp>
      <p:grpSp>
        <p:nvGrpSpPr>
          <p:cNvPr id="9" name="Gruppieren 8"/>
          <p:cNvGrpSpPr/>
          <p:nvPr/>
        </p:nvGrpSpPr>
        <p:grpSpPr>
          <a:xfrm rot="20739422">
            <a:off x="5140458" y="3267145"/>
            <a:ext cx="3753192" cy="955282"/>
            <a:chOff x="6610188" y="3576796"/>
            <a:chExt cx="3753192" cy="955282"/>
          </a:xfrm>
        </p:grpSpPr>
        <p:sp>
          <p:nvSpPr>
            <p:cNvPr id="7" name="Rechteck 6"/>
            <p:cNvSpPr/>
            <p:nvPr/>
          </p:nvSpPr>
          <p:spPr bwMode="auto">
            <a:xfrm>
              <a:off x="6610188" y="3576796"/>
              <a:ext cx="3753192" cy="955282"/>
            </a:xfrm>
            <a:prstGeom prst="rect">
              <a:avLst/>
            </a:prstGeom>
            <a:solidFill>
              <a:schemeClr val="bg1"/>
            </a:solidFill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Textfeld 5"/>
            <p:cNvSpPr txBox="1"/>
            <p:nvPr/>
          </p:nvSpPr>
          <p:spPr>
            <a:xfrm>
              <a:off x="6652788" y="3619287"/>
              <a:ext cx="36679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R*</a:t>
              </a:r>
              <a:r>
                <a:rPr lang="en-US" baseline="-25000" dirty="0" smtClean="0"/>
                <a:t>ion-atom</a:t>
              </a:r>
              <a:r>
                <a:rPr lang="en-US" dirty="0" smtClean="0"/>
                <a:t> &gt; 10   R*</a:t>
              </a:r>
              <a:r>
                <a:rPr lang="en-US" baseline="-25000" dirty="0" smtClean="0"/>
                <a:t>atom-atom</a:t>
              </a:r>
            </a:p>
            <a:p>
              <a:r>
                <a:rPr lang="en-US" dirty="0" smtClean="0"/>
                <a:t>E*</a:t>
              </a:r>
              <a:r>
                <a:rPr lang="en-US" baseline="-25000" dirty="0" smtClean="0"/>
                <a:t>ion-atom</a:t>
              </a:r>
              <a:r>
                <a:rPr lang="en-US" dirty="0" smtClean="0"/>
                <a:t> &lt; 10</a:t>
              </a:r>
              <a:r>
                <a:rPr lang="en-US" baseline="30000" dirty="0" smtClean="0"/>
                <a:t>-2</a:t>
              </a:r>
              <a:r>
                <a:rPr lang="en-US" dirty="0" smtClean="0"/>
                <a:t> E*</a:t>
              </a:r>
              <a:r>
                <a:rPr lang="en-US" baseline="-25000" dirty="0" smtClean="0"/>
                <a:t>atom-atom</a:t>
              </a:r>
              <a:endParaRPr lang="en-US" dirty="0"/>
            </a:p>
          </p:txBody>
        </p:sp>
      </p:grpSp>
      <p:sp>
        <p:nvSpPr>
          <p:cNvPr id="41" name="Textfeld 40"/>
          <p:cNvSpPr txBox="1"/>
          <p:nvPr/>
        </p:nvSpPr>
        <p:spPr>
          <a:xfrm>
            <a:off x="4641772" y="1136134"/>
            <a:ext cx="3760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</a:t>
            </a:r>
            <a:r>
              <a:rPr lang="en-US" sz="2000" dirty="0" smtClean="0"/>
              <a:t>ngular momentum contribution  </a:t>
            </a:r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318" y="2830119"/>
            <a:ext cx="2964494" cy="802884"/>
          </a:xfrm>
          <a:prstGeom prst="rect">
            <a:avLst/>
          </a:prstGeom>
        </p:spPr>
      </p:pic>
      <p:sp>
        <p:nvSpPr>
          <p:cNvPr id="30" name="Ellipse 29"/>
          <p:cNvSpPr/>
          <p:nvPr/>
        </p:nvSpPr>
        <p:spPr bwMode="auto">
          <a:xfrm>
            <a:off x="3682526" y="2716192"/>
            <a:ext cx="542929" cy="67792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Ellipse 30"/>
          <p:cNvSpPr/>
          <p:nvPr/>
        </p:nvSpPr>
        <p:spPr bwMode="auto">
          <a:xfrm>
            <a:off x="3604895" y="2732742"/>
            <a:ext cx="1196817" cy="65391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78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41" grpId="0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5" name="Text Box 23"/>
          <p:cNvSpPr txBox="1">
            <a:spLocks noChangeArrowheads="1"/>
          </p:cNvSpPr>
          <p:nvPr/>
        </p:nvSpPr>
        <p:spPr bwMode="auto">
          <a:xfrm>
            <a:off x="698500" y="153988"/>
            <a:ext cx="775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embedding ion and atoms in hybrid trap </a:t>
            </a:r>
          </a:p>
        </p:txBody>
      </p:sp>
      <p:pic>
        <p:nvPicPr>
          <p:cNvPr id="55306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8" name="Picture 30" descr="Kopie (4_blue) von Laseraufbau_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07" y="1294867"/>
            <a:ext cx="6085299" cy="237116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482" y="1719707"/>
            <a:ext cx="2488569" cy="1925897"/>
          </a:xfrm>
          <a:prstGeom prst="rect">
            <a:avLst/>
          </a:prstGeom>
        </p:spPr>
      </p:pic>
      <p:sp>
        <p:nvSpPr>
          <p:cNvPr id="19" name="Untertitel 2"/>
          <p:cNvSpPr txBox="1"/>
          <p:nvPr/>
        </p:nvSpPr>
        <p:spPr>
          <a:xfrm>
            <a:off x="3709233" y="3981368"/>
            <a:ext cx="5669553" cy="26794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0803" tIns="50401" rIns="100803" bIns="50401" anchor="ctr" anchorCtr="0" compatLnSpc="0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0" cap="none" spc="0" baseline="0" dirty="0" smtClean="0">
                <a:uFillTx/>
                <a:ea typeface="Noto Sans CJK SC" pitchFamily="2"/>
                <a:cs typeface="Arial" panose="020B0604020202020204" pitchFamily="34" charset="0"/>
              </a:rPr>
              <a:t>20x10</a:t>
            </a:r>
            <a:r>
              <a:rPr lang="en-US" sz="2000" b="0" i="0" u="none" strike="noStrike" kern="0" cap="none" spc="0" baseline="30000" dirty="0" smtClean="0">
                <a:uFillTx/>
                <a:ea typeface="Noto Sans CJK SC" pitchFamily="2"/>
                <a:cs typeface="Arial" panose="020B0604020202020204" pitchFamily="34" charset="0"/>
              </a:rPr>
              <a:t>3  6</a:t>
            </a:r>
            <a:r>
              <a:rPr lang="en-US" sz="2000" b="0" i="0" u="none" strike="noStrike" kern="0" cap="none" spc="0" baseline="0" dirty="0" smtClean="0">
                <a:uFillTx/>
                <a:ea typeface="Noto Sans CJK SC" pitchFamily="2"/>
                <a:cs typeface="Arial" panose="020B0604020202020204" pitchFamily="34" charset="0"/>
              </a:rPr>
              <a:t>Li spin state |2&gt;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0" cap="none" spc="0" baseline="0" dirty="0" err="1" smtClean="0">
                <a:uFillTx/>
                <a:ea typeface="Noto Sans CJK SC" pitchFamily="2"/>
                <a:cs typeface="Arial" panose="020B0604020202020204" pitchFamily="34" charset="0"/>
              </a:rPr>
              <a:t>T</a:t>
            </a:r>
            <a:r>
              <a:rPr lang="en-US" sz="2000" b="0" i="0" u="none" strike="noStrike" kern="0" cap="none" spc="0" baseline="-25000" dirty="0" err="1" smtClean="0">
                <a:uFillTx/>
                <a:ea typeface="Noto Sans CJK SC" pitchFamily="2"/>
                <a:cs typeface="Arial" panose="020B0604020202020204" pitchFamily="34" charset="0"/>
              </a:rPr>
              <a:t>Li</a:t>
            </a:r>
            <a:r>
              <a:rPr lang="en-US" sz="2000" b="0" i="0" u="none" strike="noStrike" kern="0" cap="none" spc="0" baseline="0" dirty="0" smtClean="0">
                <a:uFillTx/>
                <a:ea typeface="Noto Sans CJK SC" pitchFamily="2"/>
                <a:cs typeface="Arial" panose="020B0604020202020204" pitchFamily="34" charset="0"/>
              </a:rPr>
              <a:t> ~ 1µK ~ 0.6 T</a:t>
            </a:r>
            <a:r>
              <a:rPr lang="en-US" sz="2000" b="0" i="0" u="none" strike="noStrike" kern="0" cap="none" spc="0" baseline="-25000" dirty="0" smtClean="0">
                <a:uFillTx/>
                <a:ea typeface="Noto Sans CJK SC" pitchFamily="2"/>
                <a:cs typeface="Arial" panose="020B0604020202020204" pitchFamily="34" charset="0"/>
              </a:rPr>
              <a:t>F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>
                <a:ea typeface="Noto Sans CJK SC" pitchFamily="2"/>
                <a:cs typeface="Arial" panose="020B0604020202020204" pitchFamily="34" charset="0"/>
              </a:rPr>
              <a:t>a</a:t>
            </a:r>
            <a:r>
              <a:rPr lang="en-US" sz="2000" b="0" i="0" u="none" strike="noStrike" kern="0" cap="none" spc="0" baseline="0" dirty="0" smtClean="0">
                <a:uFillTx/>
                <a:ea typeface="Noto Sans CJK SC" pitchFamily="2"/>
                <a:cs typeface="Arial" panose="020B0604020202020204" pitchFamily="34" charset="0"/>
              </a:rPr>
              <a:t>tomic peak density ~ 10</a:t>
            </a:r>
            <a:r>
              <a:rPr lang="en-US" sz="2000" b="0" i="0" u="none" strike="noStrike" kern="0" cap="none" spc="0" baseline="30000" dirty="0" smtClean="0">
                <a:uFillTx/>
                <a:ea typeface="Noto Sans CJK SC" pitchFamily="2"/>
                <a:cs typeface="Arial" panose="020B0604020202020204" pitchFamily="34" charset="0"/>
              </a:rPr>
              <a:t>12 </a:t>
            </a:r>
            <a:r>
              <a:rPr lang="en-US" sz="2000" b="0" i="0" u="none" strike="noStrike" kern="0" cap="none" spc="0" baseline="0" dirty="0" smtClean="0">
                <a:uFillTx/>
                <a:ea typeface="Noto Sans CJK SC" pitchFamily="2"/>
                <a:cs typeface="Arial" panose="020B0604020202020204" pitchFamily="34" charset="0"/>
              </a:rPr>
              <a:t>cm</a:t>
            </a:r>
            <a:r>
              <a:rPr lang="en-US" sz="2000" b="0" i="0" u="none" strike="noStrike" kern="0" cap="none" spc="0" baseline="30000" dirty="0" smtClean="0">
                <a:uFillTx/>
                <a:ea typeface="Noto Sans CJK SC" pitchFamily="2"/>
                <a:cs typeface="Arial" panose="020B0604020202020204" pitchFamily="34" charset="0"/>
              </a:rPr>
              <a:t>-3</a:t>
            </a:r>
          </a:p>
          <a:p>
            <a:pPr marL="457200" indent="-457200" eaLnBrk="1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kern="0" dirty="0">
                <a:ea typeface="Noto Sans CJK SC" pitchFamily="2"/>
                <a:cs typeface="Arial" panose="020B0604020202020204" pitchFamily="34" charset="0"/>
              </a:rPr>
              <a:t>~ 100 </a:t>
            </a:r>
            <a:r>
              <a:rPr lang="de-DE" sz="2000" kern="0" dirty="0" err="1">
                <a:ea typeface="Noto Sans CJK SC" pitchFamily="2"/>
                <a:cs typeface="Arial" panose="020B0604020202020204" pitchFamily="34" charset="0"/>
              </a:rPr>
              <a:t>collisions</a:t>
            </a:r>
            <a:r>
              <a:rPr lang="de-DE" sz="2000" kern="0" dirty="0">
                <a:ea typeface="Noto Sans CJK SC" pitchFamily="2"/>
                <a:cs typeface="Arial" panose="020B0604020202020204" pitchFamily="34" charset="0"/>
              </a:rPr>
              <a:t> </a:t>
            </a:r>
            <a:r>
              <a:rPr lang="de-DE" sz="2000" kern="0" dirty="0" err="1">
                <a:ea typeface="Noto Sans CJK SC" pitchFamily="2"/>
                <a:cs typeface="Arial" panose="020B0604020202020204" pitchFamily="34" charset="0"/>
              </a:rPr>
              <a:t>for</a:t>
            </a:r>
            <a:r>
              <a:rPr lang="de-DE" sz="2000" kern="0" dirty="0">
                <a:ea typeface="Noto Sans CJK SC" pitchFamily="2"/>
                <a:cs typeface="Arial" panose="020B0604020202020204" pitchFamily="34" charset="0"/>
              </a:rPr>
              <a:t> </a:t>
            </a:r>
            <a:r>
              <a:rPr lang="de-DE" sz="2000" kern="0" dirty="0" err="1">
                <a:ea typeface="Noto Sans CJK SC" pitchFamily="2"/>
                <a:cs typeface="Arial" panose="020B0604020202020204" pitchFamily="34" charset="0"/>
              </a:rPr>
              <a:t>thermalization</a:t>
            </a:r>
            <a:endParaRPr lang="de-DE" sz="2000" kern="0" dirty="0">
              <a:ea typeface="Noto Sans CJK SC" pitchFamily="2"/>
              <a:cs typeface="Arial" panose="020B0604020202020204" pitchFamily="34" charset="0"/>
            </a:endParaRPr>
          </a:p>
          <a:p>
            <a:pPr marL="457200" indent="-457200" eaLnBrk="1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kern="0" dirty="0" smtClean="0">
                <a:ea typeface="Noto Sans CJK SC" pitchFamily="2"/>
                <a:cs typeface="Arial" panose="020B0604020202020204" pitchFamily="34" charset="0"/>
              </a:rPr>
              <a:t>final „</a:t>
            </a:r>
            <a:r>
              <a:rPr lang="de-DE" sz="2000" kern="0" dirty="0" err="1" smtClean="0">
                <a:ea typeface="Noto Sans CJK SC" pitchFamily="2"/>
                <a:cs typeface="Arial" panose="020B0604020202020204" pitchFamily="34" charset="0"/>
              </a:rPr>
              <a:t>Temp</a:t>
            </a:r>
            <a:r>
              <a:rPr lang="de-DE" sz="2000" kern="0" dirty="0" smtClean="0">
                <a:ea typeface="Noto Sans CJK SC" pitchFamily="2"/>
                <a:cs typeface="Arial" panose="020B0604020202020204" pitchFamily="34" charset="0"/>
              </a:rPr>
              <a:t>“: </a:t>
            </a:r>
            <a:r>
              <a:rPr lang="de-DE" sz="2000" kern="0" dirty="0">
                <a:ea typeface="Noto Sans CJK SC" pitchFamily="2"/>
                <a:cs typeface="Arial" panose="020B0604020202020204" pitchFamily="34" charset="0"/>
              </a:rPr>
              <a:t>~ 100µK </a:t>
            </a:r>
            <a:r>
              <a:rPr lang="de-DE" sz="2000" kern="0" dirty="0" smtClean="0">
                <a:ea typeface="Noto Sans CJK SC" pitchFamily="2"/>
                <a:cs typeface="Arial" panose="020B0604020202020204" pitchFamily="34" charset="0"/>
              </a:rPr>
              <a:t/>
            </a:r>
            <a:br>
              <a:rPr lang="de-DE" sz="2000" kern="0" dirty="0" smtClean="0">
                <a:ea typeface="Noto Sans CJK SC" pitchFamily="2"/>
                <a:cs typeface="Arial" panose="020B0604020202020204" pitchFamily="34" charset="0"/>
              </a:rPr>
            </a:br>
            <a:r>
              <a:rPr lang="de-DE" sz="2000" kern="0" dirty="0" smtClean="0">
                <a:ea typeface="Noto Sans CJK SC" pitchFamily="2"/>
                <a:cs typeface="Arial" panose="020B0604020202020204" pitchFamily="34" charset="0"/>
              </a:rPr>
              <a:t>→ </a:t>
            </a:r>
            <a:r>
              <a:rPr lang="de-DE" sz="2000" kern="0" dirty="0" err="1" smtClean="0">
                <a:ea typeface="Noto Sans CJK SC" pitchFamily="2"/>
                <a:cs typeface="Arial" panose="020B0604020202020204" pitchFamily="34" charset="0"/>
              </a:rPr>
              <a:t>collision</a:t>
            </a:r>
            <a:r>
              <a:rPr lang="de-DE" sz="2000" kern="0" dirty="0" smtClean="0">
                <a:ea typeface="Noto Sans CJK SC" pitchFamily="2"/>
                <a:cs typeface="Arial" panose="020B0604020202020204" pitchFamily="34" charset="0"/>
              </a:rPr>
              <a:t> </a:t>
            </a:r>
            <a:r>
              <a:rPr lang="de-DE" sz="2000" kern="0" dirty="0" err="1">
                <a:ea typeface="Noto Sans CJK SC" pitchFamily="2"/>
                <a:cs typeface="Arial" panose="020B0604020202020204" pitchFamily="34" charset="0"/>
              </a:rPr>
              <a:t>energy</a:t>
            </a:r>
            <a:r>
              <a:rPr lang="de-DE" sz="2000" kern="0" dirty="0">
                <a:ea typeface="Noto Sans CJK SC" pitchFamily="2"/>
                <a:cs typeface="Arial" panose="020B0604020202020204" pitchFamily="34" charset="0"/>
              </a:rPr>
              <a:t> ~ </a:t>
            </a:r>
            <a:r>
              <a:rPr lang="de-DE" sz="2000" kern="0" dirty="0" smtClean="0">
                <a:ea typeface="Noto Sans CJK SC" pitchFamily="2"/>
                <a:cs typeface="Arial" panose="020B0604020202020204" pitchFamily="34" charset="0"/>
              </a:rPr>
              <a:t>15-30 </a:t>
            </a:r>
            <a:r>
              <a:rPr lang="de-DE" sz="2000" kern="0" dirty="0">
                <a:ea typeface="Noto Sans CJK SC" pitchFamily="2"/>
                <a:cs typeface="Arial" panose="020B0604020202020204" pitchFamily="34" charset="0"/>
              </a:rPr>
              <a:t>µK 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0" cap="none" spc="0" dirty="0">
              <a:uFillTx/>
              <a:ea typeface="Noto Sans CJK SC" pitchFamily="2"/>
              <a:cs typeface="Arial" panose="020B0604020202020204" pitchFamily="34" charset="0"/>
            </a:endParaRPr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801" y="4485629"/>
            <a:ext cx="2334970" cy="1621677"/>
          </a:xfrm>
          <a:prstGeom prst="rect">
            <a:avLst/>
          </a:prstGeom>
        </p:spPr>
      </p:pic>
      <p:sp>
        <p:nvSpPr>
          <p:cNvPr id="2" name="Textfeld 1"/>
          <p:cNvSpPr txBox="1"/>
          <p:nvPr/>
        </p:nvSpPr>
        <p:spPr>
          <a:xfrm>
            <a:off x="1423987" y="3981368"/>
            <a:ext cx="1941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 smtClean="0"/>
              <a:t>6</a:t>
            </a:r>
            <a:r>
              <a:rPr lang="en-US" dirty="0" smtClean="0"/>
              <a:t>Li (fermion)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8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5" name="Text Box 23"/>
          <p:cNvSpPr txBox="1">
            <a:spLocks noChangeArrowheads="1"/>
          </p:cNvSpPr>
          <p:nvPr/>
        </p:nvSpPr>
        <p:spPr bwMode="auto">
          <a:xfrm>
            <a:off x="698500" y="153988"/>
            <a:ext cx="775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embedding ion and atoms in hybrid trap </a:t>
            </a:r>
          </a:p>
        </p:txBody>
      </p:sp>
      <p:pic>
        <p:nvPicPr>
          <p:cNvPr id="55306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8" name="Picture 30" descr="Kopie (4_blue) von Laseraufbau_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07" y="1294867"/>
            <a:ext cx="6085299" cy="237116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482" y="1719707"/>
            <a:ext cx="2488569" cy="1925897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210" y="4476487"/>
            <a:ext cx="2663800" cy="1943363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3688" y="5001583"/>
            <a:ext cx="1026942" cy="1276643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5775" y="5285530"/>
            <a:ext cx="1266092" cy="671732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1144512" y="4306089"/>
            <a:ext cx="19367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      inelastic</a:t>
            </a:r>
          </a:p>
          <a:p>
            <a:r>
              <a:rPr lang="en-US" sz="2000" dirty="0"/>
              <a:t>t</a:t>
            </a:r>
            <a:r>
              <a:rPr lang="en-US" sz="2000" dirty="0" smtClean="0"/>
              <a:t>hree-body loss</a:t>
            </a:r>
            <a:endParaRPr lang="en-US" sz="2000" dirty="0"/>
          </a:p>
        </p:txBody>
      </p:sp>
      <p:sp>
        <p:nvSpPr>
          <p:cNvPr id="20" name="Textfeld 19"/>
          <p:cNvSpPr txBox="1"/>
          <p:nvPr/>
        </p:nvSpPr>
        <p:spPr>
          <a:xfrm>
            <a:off x="6048678" y="4331104"/>
            <a:ext cx="26068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           elastic </a:t>
            </a:r>
          </a:p>
          <a:p>
            <a:r>
              <a:rPr lang="en-US" sz="2000" dirty="0" smtClean="0"/>
              <a:t>(sympathetic cooling)</a:t>
            </a:r>
            <a:endParaRPr lang="en-US" sz="2000" dirty="0"/>
          </a:p>
        </p:txBody>
      </p:sp>
      <p:sp>
        <p:nvSpPr>
          <p:cNvPr id="6" name="Textfeld 5"/>
          <p:cNvSpPr txBox="1"/>
          <p:nvPr/>
        </p:nvSpPr>
        <p:spPr>
          <a:xfrm>
            <a:off x="1381781" y="4895454"/>
            <a:ext cx="58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en-US" sz="3200" baseline="-25000" dirty="0" smtClean="0">
                <a:solidFill>
                  <a:srgbClr val="FF0000"/>
                </a:solidFill>
              </a:rPr>
              <a:t>3</a:t>
            </a:r>
            <a:endParaRPr lang="en-US" sz="3200" baseline="-25000" dirty="0">
              <a:solidFill>
                <a:srgbClr val="FF0000"/>
              </a:solidFill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7492505" y="4809121"/>
            <a:ext cx="58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Symbol" panose="05050102010706020507" pitchFamily="18" charset="2"/>
              </a:rPr>
              <a:t>s</a:t>
            </a:r>
            <a:r>
              <a:rPr lang="en-US" sz="3200" baseline="-25000" dirty="0" smtClean="0">
                <a:solidFill>
                  <a:schemeClr val="accent2"/>
                </a:solidFill>
              </a:rPr>
              <a:t>2</a:t>
            </a:r>
            <a:endParaRPr lang="en-US" sz="3200" baseline="-25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70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5" name="Text Box 23"/>
          <p:cNvSpPr txBox="1">
            <a:spLocks noChangeArrowheads="1"/>
          </p:cNvSpPr>
          <p:nvPr/>
        </p:nvSpPr>
        <p:spPr bwMode="auto">
          <a:xfrm>
            <a:off x="698500" y="153988"/>
            <a:ext cx="775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embedding ion and atoms in hybrid trap </a:t>
            </a:r>
          </a:p>
        </p:txBody>
      </p:sp>
      <p:pic>
        <p:nvPicPr>
          <p:cNvPr id="55306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8" name="Picture 30" descr="Kopie (4_blue) von Laseraufbau_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07" y="1294867"/>
            <a:ext cx="6085299" cy="237116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482" y="1719707"/>
            <a:ext cx="2488569" cy="1925897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07" y="3820616"/>
            <a:ext cx="2663800" cy="1943363"/>
          </a:xfrm>
          <a:prstGeom prst="rect">
            <a:avLst/>
          </a:prstGeom>
        </p:spPr>
      </p:pic>
      <p:grpSp>
        <p:nvGrpSpPr>
          <p:cNvPr id="2" name="Gruppieren 1"/>
          <p:cNvGrpSpPr/>
          <p:nvPr/>
        </p:nvGrpSpPr>
        <p:grpSpPr>
          <a:xfrm>
            <a:off x="4692930" y="4245998"/>
            <a:ext cx="3469022" cy="2071459"/>
            <a:chOff x="4692930" y="4245998"/>
            <a:chExt cx="3469022" cy="2071459"/>
          </a:xfrm>
        </p:grpSpPr>
        <p:pic>
          <p:nvPicPr>
            <p:cNvPr id="19" name="Grafik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32811" y="4265266"/>
              <a:ext cx="3029141" cy="1701610"/>
            </a:xfrm>
            <a:prstGeom prst="rect">
              <a:avLst/>
            </a:prstGeom>
          </p:spPr>
        </p:pic>
        <p:pic>
          <p:nvPicPr>
            <p:cNvPr id="25" name="Grafik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2930" y="4245998"/>
              <a:ext cx="310657" cy="1517981"/>
            </a:xfrm>
            <a:prstGeom prst="rect">
              <a:avLst/>
            </a:prstGeom>
          </p:spPr>
        </p:pic>
        <p:pic>
          <p:nvPicPr>
            <p:cNvPr id="26" name="Grafik 2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24531" y="6058383"/>
              <a:ext cx="1727164" cy="2590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586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5" name="Text Box 23"/>
          <p:cNvSpPr txBox="1">
            <a:spLocks noChangeArrowheads="1"/>
          </p:cNvSpPr>
          <p:nvPr/>
        </p:nvSpPr>
        <p:spPr bwMode="auto">
          <a:xfrm>
            <a:off x="698500" y="153988"/>
            <a:ext cx="775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embedding ion and atoms in hybrid trap </a:t>
            </a:r>
          </a:p>
        </p:txBody>
      </p:sp>
      <p:pic>
        <p:nvPicPr>
          <p:cNvPr id="55306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8" name="Picture 30" descr="Kopie (4_blue) von Laseraufbau_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07" y="1294867"/>
            <a:ext cx="6085299" cy="237116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482" y="1719707"/>
            <a:ext cx="2488569" cy="1925897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07" y="3820616"/>
            <a:ext cx="2663800" cy="194336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59" y="3900195"/>
            <a:ext cx="2405575" cy="1332914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5110" y="2893632"/>
            <a:ext cx="2363372" cy="1325880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4695" y="5233109"/>
            <a:ext cx="2349305" cy="1315329"/>
          </a:xfrm>
          <a:prstGeom prst="rect">
            <a:avLst/>
          </a:prstGeom>
        </p:spPr>
      </p:pic>
      <p:grpSp>
        <p:nvGrpSpPr>
          <p:cNvPr id="2" name="Gruppieren 1"/>
          <p:cNvGrpSpPr/>
          <p:nvPr/>
        </p:nvGrpSpPr>
        <p:grpSpPr>
          <a:xfrm>
            <a:off x="3485003" y="4245997"/>
            <a:ext cx="3469022" cy="2071459"/>
            <a:chOff x="4692930" y="4245998"/>
            <a:chExt cx="3469022" cy="2071459"/>
          </a:xfrm>
        </p:grpSpPr>
        <p:pic>
          <p:nvPicPr>
            <p:cNvPr id="19" name="Grafik 1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32811" y="4265266"/>
              <a:ext cx="3029141" cy="1701610"/>
            </a:xfrm>
            <a:prstGeom prst="rect">
              <a:avLst/>
            </a:prstGeom>
          </p:spPr>
        </p:pic>
        <p:pic>
          <p:nvPicPr>
            <p:cNvPr id="25" name="Grafik 2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92930" y="4245998"/>
              <a:ext cx="310657" cy="1517981"/>
            </a:xfrm>
            <a:prstGeom prst="rect">
              <a:avLst/>
            </a:prstGeom>
          </p:spPr>
        </p:pic>
        <p:pic>
          <p:nvPicPr>
            <p:cNvPr id="26" name="Grafik 2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024531" y="6058383"/>
              <a:ext cx="1727164" cy="2590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119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5" name="Text Box 23"/>
          <p:cNvSpPr txBox="1">
            <a:spLocks noChangeArrowheads="1"/>
          </p:cNvSpPr>
          <p:nvPr/>
        </p:nvSpPr>
        <p:spPr bwMode="auto">
          <a:xfrm>
            <a:off x="698500" y="153988"/>
            <a:ext cx="775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embedding ion and atoms in hybrid trap </a:t>
            </a:r>
          </a:p>
        </p:txBody>
      </p:sp>
      <p:pic>
        <p:nvPicPr>
          <p:cNvPr id="55306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8" name="Picture 30" descr="Kopie (4_blue) von Laseraufbau_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561" y="1513988"/>
            <a:ext cx="6291617" cy="376765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2" y="2531650"/>
            <a:ext cx="2347163" cy="1316850"/>
          </a:xfrm>
          <a:prstGeom prst="rect">
            <a:avLst/>
          </a:prstGeom>
        </p:spPr>
      </p:pic>
      <p:sp>
        <p:nvSpPr>
          <p:cNvPr id="9" name="Untertitel 2"/>
          <p:cNvSpPr txBox="1"/>
          <p:nvPr/>
        </p:nvSpPr>
        <p:spPr>
          <a:xfrm>
            <a:off x="894556" y="4830477"/>
            <a:ext cx="8020844" cy="15893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0803" tIns="50401" rIns="100803" bIns="50401" anchor="ctr" anchorCtr="0" compatLnSpc="0">
            <a:spAutoFit/>
          </a:bodyPr>
          <a:lstStyle/>
          <a:p>
            <a:pPr eaLnBrk="1" fontAlgn="auto" hangingPunct="1">
              <a:spcBef>
                <a:spcPts val="800"/>
              </a:spcBef>
              <a:spcAft>
                <a:spcPts val="0"/>
              </a:spcAft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000" kern="0" dirty="0" smtClean="0">
              <a:ea typeface="Noto Sans CJK SC" pitchFamily="2"/>
              <a:cs typeface="Arial" panose="020B0604020202020204" pitchFamily="34" charset="0"/>
            </a:endParaRPr>
          </a:p>
          <a:p>
            <a:pPr eaLnBrk="1" fontAlgn="auto" hangingPunct="1">
              <a:spcBef>
                <a:spcPts val="800"/>
              </a:spcBef>
              <a:spcAft>
                <a:spcPts val="0"/>
              </a:spcAft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- k</a:t>
            </a:r>
            <a:r>
              <a:rPr lang="en-US" sz="2000" kern="0" baseline="-25000" dirty="0" smtClean="0">
                <a:ea typeface="Noto Sans CJK SC" pitchFamily="2"/>
                <a:cs typeface="Arial" panose="020B0604020202020204" pitchFamily="34" charset="0"/>
              </a:rPr>
              <a:t>3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=7.8(8)</a:t>
            </a:r>
            <a:r>
              <a:rPr lang="en-US" sz="2000" kern="0" baseline="-25000" dirty="0" smtClean="0">
                <a:ea typeface="Noto Sans CJK SC" pitchFamily="2"/>
                <a:cs typeface="Arial" panose="020B0604020202020204" pitchFamily="34" charset="0"/>
              </a:rPr>
              <a:t>stat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(11)</a:t>
            </a:r>
            <a:r>
              <a:rPr lang="en-US" sz="2000" kern="0" baseline="-25000" dirty="0" smtClean="0">
                <a:ea typeface="Noto Sans CJK SC" pitchFamily="2"/>
                <a:cs typeface="Arial" panose="020B0604020202020204" pitchFamily="34" charset="0"/>
              </a:rPr>
              <a:t>sys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 10</a:t>
            </a:r>
            <a:r>
              <a:rPr lang="en-US" sz="2000" kern="0" baseline="30000" dirty="0" smtClean="0">
                <a:ea typeface="Noto Sans CJK SC" pitchFamily="2"/>
                <a:cs typeface="Arial" panose="020B0604020202020204" pitchFamily="34" charset="0"/>
              </a:rPr>
              <a:t>-25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 cm</a:t>
            </a:r>
            <a:r>
              <a:rPr lang="en-US" sz="2000" kern="0" baseline="30000" dirty="0" smtClean="0">
                <a:ea typeface="Noto Sans CJK SC" pitchFamily="2"/>
                <a:cs typeface="Arial" panose="020B0604020202020204" pitchFamily="34" charset="0"/>
              </a:rPr>
              <a:t>6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/s</a:t>
            </a:r>
          </a:p>
          <a:p>
            <a:pPr eaLnBrk="1" fontAlgn="auto" hangingPunct="1">
              <a:spcBef>
                <a:spcPts val="800"/>
              </a:spcBef>
              <a:spcAft>
                <a:spcPts val="0"/>
              </a:spcAft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- k</a:t>
            </a:r>
            <a:r>
              <a:rPr lang="en-US" sz="2000" kern="0" baseline="-25000" dirty="0" smtClean="0">
                <a:ea typeface="Noto Sans CJK SC" pitchFamily="2"/>
                <a:cs typeface="Arial" panose="020B0604020202020204" pitchFamily="34" charset="0"/>
              </a:rPr>
              <a:t>2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=0</a:t>
            </a:r>
          </a:p>
          <a:p>
            <a:pPr eaLnBrk="1" fontAlgn="auto" hangingPunct="1">
              <a:spcBef>
                <a:spcPts val="800"/>
              </a:spcBef>
              <a:spcAft>
                <a:spcPts val="0"/>
              </a:spcAft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three body recombination (&gt; 99%) - molecular ions – “</a:t>
            </a:r>
            <a:r>
              <a:rPr lang="en-US" sz="2000" b="1" kern="0" dirty="0" smtClean="0">
                <a:ea typeface="Noto Sans CJK SC" pitchFamily="2"/>
                <a:cs typeface="Arial" panose="020B0604020202020204" pitchFamily="34" charset="0"/>
              </a:rPr>
              <a:t>despite Pauli”</a:t>
            </a:r>
          </a:p>
        </p:txBody>
      </p:sp>
      <p:sp>
        <p:nvSpPr>
          <p:cNvPr id="4" name="Rechteck 3"/>
          <p:cNvSpPr/>
          <p:nvPr/>
        </p:nvSpPr>
        <p:spPr>
          <a:xfrm>
            <a:off x="5364162" y="6568380"/>
            <a:ext cx="37480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800"/>
              </a:spcBef>
              <a:spcAft>
                <a:spcPts val="0"/>
              </a:spcAft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400" kern="0" dirty="0" smtClean="0">
                <a:solidFill>
                  <a:schemeClr val="bg1"/>
                </a:solidFill>
                <a:ea typeface="Noto Sans CJK SC" pitchFamily="2"/>
                <a:cs typeface="Arial" panose="020B0604020202020204" pitchFamily="34" charset="0"/>
              </a:rPr>
              <a:t>Pérez-Ríos</a:t>
            </a:r>
            <a:r>
              <a:rPr lang="de-DE" sz="1400" kern="0" dirty="0">
                <a:solidFill>
                  <a:schemeClr val="bg1"/>
                </a:solidFill>
                <a:ea typeface="Noto Sans CJK SC" pitchFamily="2"/>
                <a:cs typeface="Arial" panose="020B0604020202020204" pitchFamily="34" charset="0"/>
              </a:rPr>
              <a:t>, Jesús.  arXiv:2011.03963 (2020</a:t>
            </a:r>
            <a:r>
              <a:rPr lang="de-DE" sz="1400" kern="0" dirty="0" smtClean="0">
                <a:solidFill>
                  <a:schemeClr val="bg1"/>
                </a:solidFill>
                <a:ea typeface="Noto Sans CJK SC" pitchFamily="2"/>
                <a:cs typeface="Arial" panose="020B0604020202020204" pitchFamily="34" charset="0"/>
              </a:rPr>
              <a:t>)</a:t>
            </a:r>
            <a:endParaRPr lang="de-DE" sz="1400" kern="0" dirty="0">
              <a:solidFill>
                <a:schemeClr val="bg1"/>
              </a:solidFill>
              <a:ea typeface="Noto Sans CJK SC" pitchFamily="2"/>
              <a:cs typeface="Arial" panose="020B0604020202020204" pitchFamily="34" charset="0"/>
            </a:endParaRPr>
          </a:p>
        </p:txBody>
      </p:sp>
      <p:grpSp>
        <p:nvGrpSpPr>
          <p:cNvPr id="15" name="Gruppieren 14"/>
          <p:cNvGrpSpPr/>
          <p:nvPr/>
        </p:nvGrpSpPr>
        <p:grpSpPr>
          <a:xfrm>
            <a:off x="238127" y="1258453"/>
            <a:ext cx="3504486" cy="1622860"/>
            <a:chOff x="238127" y="1258453"/>
            <a:chExt cx="3504486" cy="1622860"/>
          </a:xfrm>
        </p:grpSpPr>
        <p:sp>
          <p:nvSpPr>
            <p:cNvPr id="5" name="Textfeld 4"/>
            <p:cNvSpPr txBox="1"/>
            <p:nvPr/>
          </p:nvSpPr>
          <p:spPr>
            <a:xfrm>
              <a:off x="238127" y="1258453"/>
              <a:ext cx="35044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dirty="0" smtClean="0"/>
                <a:t>on loss (atomic density)</a:t>
              </a:r>
              <a:endParaRPr lang="en-US" dirty="0"/>
            </a:p>
          </p:txBody>
        </p:sp>
        <p:cxnSp>
          <p:nvCxnSpPr>
            <p:cNvPr id="7" name="Gerade Verbindung mit Pfeil 6"/>
            <p:cNvCxnSpPr/>
            <p:nvPr/>
          </p:nvCxnSpPr>
          <p:spPr bwMode="auto">
            <a:xfrm>
              <a:off x="1119986" y="1739168"/>
              <a:ext cx="0" cy="1142145"/>
            </a:xfrm>
            <a:prstGeom prst="straightConnector1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" name="Textfeld 7"/>
          <p:cNvSpPr txBox="1"/>
          <p:nvPr/>
        </p:nvSpPr>
        <p:spPr>
          <a:xfrm>
            <a:off x="549029" y="4161510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296.34G</a:t>
            </a:r>
            <a:endParaRPr lang="en-US" sz="2000" dirty="0"/>
          </a:p>
        </p:txBody>
      </p:sp>
      <p:cxnSp>
        <p:nvCxnSpPr>
          <p:cNvPr id="16" name="Gerade Verbindung mit Pfeil 15"/>
          <p:cNvCxnSpPr/>
          <p:nvPr/>
        </p:nvCxnSpPr>
        <p:spPr bwMode="auto">
          <a:xfrm flipV="1">
            <a:off x="1114427" y="3692845"/>
            <a:ext cx="5559" cy="581025"/>
          </a:xfrm>
          <a:prstGeom prst="straightConnector1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7" name="Gruppieren 16"/>
          <p:cNvGrpSpPr/>
          <p:nvPr/>
        </p:nvGrpSpPr>
        <p:grpSpPr>
          <a:xfrm>
            <a:off x="4605311" y="1280417"/>
            <a:ext cx="4504759" cy="1319908"/>
            <a:chOff x="4605311" y="1280417"/>
            <a:chExt cx="4504759" cy="1319908"/>
          </a:xfrm>
        </p:grpSpPr>
        <p:sp>
          <p:nvSpPr>
            <p:cNvPr id="18" name="Textfeld 17"/>
            <p:cNvSpPr txBox="1"/>
            <p:nvPr/>
          </p:nvSpPr>
          <p:spPr>
            <a:xfrm>
              <a:off x="4605311" y="1280417"/>
              <a:ext cx="45047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</a:t>
              </a:r>
              <a:r>
                <a:rPr lang="en-US" sz="2000" dirty="0" smtClean="0"/>
                <a:t>ne ion + two atoms (atomic density</a:t>
              </a:r>
              <a:r>
                <a:rPr lang="en-US" sz="2000" baseline="30000" dirty="0" smtClean="0"/>
                <a:t>2</a:t>
              </a:r>
              <a:r>
                <a:rPr lang="en-US" sz="2000" dirty="0" smtClean="0"/>
                <a:t>)</a:t>
              </a:r>
              <a:endParaRPr lang="en-US" sz="2000" dirty="0"/>
            </a:p>
          </p:txBody>
        </p:sp>
        <p:cxnSp>
          <p:nvCxnSpPr>
            <p:cNvPr id="19" name="Gerade Verbindung mit Pfeil 18"/>
            <p:cNvCxnSpPr/>
            <p:nvPr/>
          </p:nvCxnSpPr>
          <p:spPr bwMode="auto">
            <a:xfrm flipH="1">
              <a:off x="5267336" y="1609090"/>
              <a:ext cx="853602" cy="991235"/>
            </a:xfrm>
            <a:prstGeom prst="straightConnector1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" name="Rechteck 12"/>
          <p:cNvSpPr/>
          <p:nvPr/>
        </p:nvSpPr>
        <p:spPr bwMode="auto">
          <a:xfrm>
            <a:off x="648496" y="3264694"/>
            <a:ext cx="410369" cy="13312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1374777" y="3475353"/>
            <a:ext cx="410369" cy="13312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86" y="2406830"/>
            <a:ext cx="283289" cy="1384249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855" y="3901751"/>
            <a:ext cx="1545210" cy="231781"/>
          </a:xfrm>
          <a:prstGeom prst="rect">
            <a:avLst/>
          </a:prstGeom>
        </p:spPr>
      </p:pic>
      <p:sp>
        <p:nvSpPr>
          <p:cNvPr id="14" name="Rechteck 13"/>
          <p:cNvSpPr/>
          <p:nvPr/>
        </p:nvSpPr>
        <p:spPr bwMode="auto">
          <a:xfrm>
            <a:off x="727788" y="6024567"/>
            <a:ext cx="8344389" cy="433383"/>
          </a:xfrm>
          <a:prstGeom prst="rect">
            <a:avLst/>
          </a:prstGeom>
          <a:noFill/>
          <a:ln w="57150" cap="flat" cmpd="sng" algn="ctr">
            <a:solidFill>
              <a:srgbClr val="0146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1" name="Gruppieren 20"/>
          <p:cNvGrpSpPr/>
          <p:nvPr/>
        </p:nvGrpSpPr>
        <p:grpSpPr>
          <a:xfrm>
            <a:off x="3900487" y="1739168"/>
            <a:ext cx="1628776" cy="2026330"/>
            <a:chOff x="3900487" y="1739168"/>
            <a:chExt cx="1628776" cy="2026330"/>
          </a:xfrm>
        </p:grpSpPr>
        <p:sp>
          <p:nvSpPr>
            <p:cNvPr id="20" name="Parallelogramm 19"/>
            <p:cNvSpPr/>
            <p:nvPr/>
          </p:nvSpPr>
          <p:spPr bwMode="auto">
            <a:xfrm>
              <a:off x="3900487" y="1739168"/>
              <a:ext cx="1628776" cy="1770795"/>
            </a:xfrm>
            <a:prstGeom prst="parallelogram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Parallelogramm 28"/>
            <p:cNvSpPr/>
            <p:nvPr/>
          </p:nvSpPr>
          <p:spPr bwMode="auto">
            <a:xfrm>
              <a:off x="3900488" y="2951378"/>
              <a:ext cx="704824" cy="814120"/>
            </a:xfrm>
            <a:prstGeom prst="parallelogram">
              <a:avLst>
                <a:gd name="adj" fmla="val 3019"/>
              </a:avLst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" name="Gruppieren 30"/>
          <p:cNvGrpSpPr/>
          <p:nvPr/>
        </p:nvGrpSpPr>
        <p:grpSpPr>
          <a:xfrm>
            <a:off x="6582666" y="5280035"/>
            <a:ext cx="2471690" cy="689317"/>
            <a:chOff x="6582666" y="5280035"/>
            <a:chExt cx="2471690" cy="689317"/>
          </a:xfrm>
        </p:grpSpPr>
        <p:pic>
          <p:nvPicPr>
            <p:cNvPr id="25" name="Grafik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82666" y="5392073"/>
              <a:ext cx="717452" cy="545123"/>
            </a:xfrm>
            <a:prstGeom prst="rect">
              <a:avLst/>
            </a:prstGeom>
          </p:spPr>
        </p:pic>
        <p:pic>
          <p:nvPicPr>
            <p:cNvPr id="26" name="Grafik 2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54024" y="5280035"/>
              <a:ext cx="900332" cy="689317"/>
            </a:xfrm>
            <a:prstGeom prst="rect">
              <a:avLst/>
            </a:prstGeom>
          </p:spPr>
        </p:pic>
        <p:sp>
          <p:nvSpPr>
            <p:cNvPr id="30" name="Textfeld 29"/>
            <p:cNvSpPr txBox="1"/>
            <p:nvPr/>
          </p:nvSpPr>
          <p:spPr>
            <a:xfrm>
              <a:off x="7214343" y="5443941"/>
              <a:ext cx="9396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versus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3376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5" name="Text Box 23"/>
          <p:cNvSpPr txBox="1">
            <a:spLocks noChangeArrowheads="1"/>
          </p:cNvSpPr>
          <p:nvPr/>
        </p:nvSpPr>
        <p:spPr bwMode="auto">
          <a:xfrm>
            <a:off x="698500" y="153988"/>
            <a:ext cx="775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>
                <a:solidFill>
                  <a:schemeClr val="bg1"/>
                </a:solidFill>
                <a:latin typeface="Arial" panose="020B0604020202020204" pitchFamily="34" charset="0"/>
              </a:rPr>
              <a:t>embedding ion and atoms in hybrid trap </a:t>
            </a:r>
          </a:p>
        </p:txBody>
      </p:sp>
      <p:pic>
        <p:nvPicPr>
          <p:cNvPr id="55308" name="Picture 30" descr="Kopie (4_blue) von Laseraufbau_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69" y="1502122"/>
            <a:ext cx="3676208" cy="4693032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860783" y="1265848"/>
            <a:ext cx="34996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 smtClean="0"/>
              <a:t>loss feature (in hybrid trap)</a:t>
            </a:r>
            <a:endParaRPr lang="en-US" sz="2000" b="1" u="sng" dirty="0"/>
          </a:p>
        </p:txBody>
      </p:sp>
      <p:sp>
        <p:nvSpPr>
          <p:cNvPr id="14" name="Textfeld 13"/>
          <p:cNvSpPr txBox="1"/>
          <p:nvPr/>
        </p:nvSpPr>
        <p:spPr>
          <a:xfrm>
            <a:off x="2215902" y="5971686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296.34G</a:t>
            </a:r>
            <a:endParaRPr lang="en-US" sz="2000" dirty="0"/>
          </a:p>
        </p:txBody>
      </p:sp>
      <p:cxnSp>
        <p:nvCxnSpPr>
          <p:cNvPr id="15" name="Gerade Verbindung mit Pfeil 14"/>
          <p:cNvCxnSpPr/>
          <p:nvPr/>
        </p:nvCxnSpPr>
        <p:spPr bwMode="auto">
          <a:xfrm flipV="1">
            <a:off x="2700338" y="5571196"/>
            <a:ext cx="0" cy="229528"/>
          </a:xfrm>
          <a:prstGeom prst="straightConnector1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Rechteck 7"/>
          <p:cNvSpPr/>
          <p:nvPr/>
        </p:nvSpPr>
        <p:spPr>
          <a:xfrm>
            <a:off x="4086577" y="1765796"/>
            <a:ext cx="4929555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 hangingPunct="1">
              <a:spcBef>
                <a:spcPts val="800"/>
              </a:spcBef>
              <a:spcAft>
                <a:spcPts val="0"/>
              </a:spcAft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>
                <a:ea typeface="Noto Sans CJK SC" pitchFamily="2"/>
                <a:cs typeface="Arial" panose="020B0604020202020204" pitchFamily="34" charset="0"/>
              </a:rPr>
              <a:t>	 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    </a:t>
            </a:r>
            <a:r>
              <a:rPr lang="en-US" sz="2000" b="1" kern="0" dirty="0" smtClean="0">
                <a:ea typeface="Noto Sans CJK SC" pitchFamily="2"/>
                <a:cs typeface="Arial" panose="020B0604020202020204" pitchFamily="34" charset="0"/>
              </a:rPr>
              <a:t>see before:</a:t>
            </a:r>
          </a:p>
          <a:p>
            <a:pPr marL="457200" lvl="0" indent="-457200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atomic </a:t>
            </a:r>
            <a:r>
              <a:rPr lang="en-US" sz="2000" kern="0" dirty="0">
                <a:ea typeface="Noto Sans CJK SC" pitchFamily="2"/>
                <a:cs typeface="Arial" panose="020B0604020202020204" pitchFamily="34" charset="0"/>
              </a:rPr>
              <a:t>peak 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density	~ 1.3 (3)10</a:t>
            </a:r>
            <a:r>
              <a:rPr lang="en-US" sz="2000" kern="0" baseline="30000" dirty="0" smtClean="0">
                <a:ea typeface="Noto Sans CJK SC" pitchFamily="2"/>
                <a:cs typeface="Arial" panose="020B0604020202020204" pitchFamily="34" charset="0"/>
              </a:rPr>
              <a:t>12 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cm</a:t>
            </a:r>
            <a:r>
              <a:rPr lang="en-US" sz="2000" kern="0" baseline="30000" dirty="0" smtClean="0">
                <a:ea typeface="Noto Sans CJK SC" pitchFamily="2"/>
                <a:cs typeface="Arial" panose="020B0604020202020204" pitchFamily="34" charset="0"/>
              </a:rPr>
              <a:t>-3</a:t>
            </a:r>
          </a:p>
          <a:p>
            <a:pPr marL="457200" indent="-457200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>
                <a:ea typeface="Noto Sans CJK SC" pitchFamily="2"/>
                <a:cs typeface="Arial" panose="020B0604020202020204" pitchFamily="34" charset="0"/>
              </a:rPr>
              <a:t>interaction 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duration	~ 300 </a:t>
            </a:r>
            <a:r>
              <a:rPr lang="en-US" sz="2000" kern="0" dirty="0" err="1">
                <a:ea typeface="Noto Sans CJK SC" pitchFamily="2"/>
                <a:cs typeface="Arial" panose="020B0604020202020204" pitchFamily="34" charset="0"/>
              </a:rPr>
              <a:t>ms</a:t>
            </a:r>
            <a:endParaRPr lang="en-US" sz="2000" kern="0" dirty="0">
              <a:ea typeface="Noto Sans CJK SC" pitchFamily="2"/>
              <a:cs typeface="Arial" panose="020B0604020202020204" pitchFamily="34" charset="0"/>
            </a:endParaRPr>
          </a:p>
          <a:p>
            <a:pPr marL="457200" lvl="0" indent="-457200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kern="0" dirty="0">
              <a:ea typeface="Noto Sans CJK SC" pitchFamily="2"/>
              <a:cs typeface="Arial" panose="020B0604020202020204" pitchFamily="34" charset="0"/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4086577" y="3748463"/>
            <a:ext cx="5170005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atomic </a:t>
            </a:r>
            <a:r>
              <a:rPr lang="en-US" sz="2000" kern="0" dirty="0">
                <a:ea typeface="Noto Sans CJK SC" pitchFamily="2"/>
                <a:cs typeface="Arial" panose="020B0604020202020204" pitchFamily="34" charset="0"/>
              </a:rPr>
              <a:t>peak density ~ 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6.1(1.2) 10</a:t>
            </a:r>
            <a:r>
              <a:rPr lang="en-US" sz="2000" kern="0" baseline="30000" dirty="0" smtClean="0">
                <a:ea typeface="Noto Sans CJK SC" pitchFamily="2"/>
                <a:cs typeface="Arial" panose="020B0604020202020204" pitchFamily="34" charset="0"/>
              </a:rPr>
              <a:t>11 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cm</a:t>
            </a:r>
            <a:r>
              <a:rPr lang="en-US" sz="2000" kern="0" baseline="30000" dirty="0" smtClean="0">
                <a:ea typeface="Noto Sans CJK SC" pitchFamily="2"/>
                <a:cs typeface="Arial" panose="020B0604020202020204" pitchFamily="34" charset="0"/>
              </a:rPr>
              <a:t>-3</a:t>
            </a:r>
          </a:p>
          <a:p>
            <a:pPr marL="457200" lvl="0" indent="-457200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>
                <a:ea typeface="Noto Sans CJK SC" pitchFamily="2"/>
                <a:cs typeface="Arial" panose="020B0604020202020204" pitchFamily="34" charset="0"/>
              </a:rPr>
              <a:t>i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nteraction duration  ~ 150 </a:t>
            </a:r>
            <a:r>
              <a:rPr lang="en-US" sz="2000" kern="0" dirty="0" err="1" smtClean="0">
                <a:ea typeface="Noto Sans CJK SC" pitchFamily="2"/>
                <a:cs typeface="Arial" panose="020B0604020202020204" pitchFamily="34" charset="0"/>
              </a:rPr>
              <a:t>ms</a:t>
            </a:r>
            <a:endParaRPr lang="en-US" sz="2000" kern="0" dirty="0" smtClean="0">
              <a:ea typeface="Noto Sans CJK SC" pitchFamily="2"/>
              <a:cs typeface="Arial" panose="020B0604020202020204" pitchFamily="34" charset="0"/>
            </a:endParaRPr>
          </a:p>
          <a:p>
            <a:pPr marL="457200" lvl="0" indent="-457200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(ion survival ~ 96% )</a:t>
            </a:r>
          </a:p>
          <a:p>
            <a:pPr marL="457200" lvl="0" indent="-457200" fontAlgn="auto" hangingPunct="1"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kern="0" dirty="0">
                <a:ea typeface="Noto Sans CJK SC" pitchFamily="2"/>
                <a:cs typeface="Arial" panose="020B0604020202020204" pitchFamily="34" charset="0"/>
              </a:rPr>
              <a:t>s</a:t>
            </a:r>
            <a:r>
              <a:rPr lang="en-US" sz="2000" kern="0" dirty="0" smtClean="0">
                <a:ea typeface="Noto Sans CJK SC" pitchFamily="2"/>
                <a:cs typeface="Arial" panose="020B0604020202020204" pitchFamily="34" charset="0"/>
              </a:rPr>
              <a:t>peed up of cooling</a:t>
            </a:r>
            <a:endParaRPr lang="en-US" sz="2000" kern="0" dirty="0">
              <a:ea typeface="Noto Sans CJK SC" pitchFamily="2"/>
              <a:cs typeface="Arial" panose="020B0604020202020204" pitchFamily="34" charset="0"/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4023969" y="3392835"/>
            <a:ext cx="5213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</a:t>
            </a:r>
            <a:r>
              <a:rPr lang="en-US" sz="2000" b="1" dirty="0" smtClean="0"/>
              <a:t>nhanced cooling (measured in VIS ODT)</a:t>
            </a:r>
            <a:endParaRPr lang="en-US" sz="2000" b="1" dirty="0"/>
          </a:p>
        </p:txBody>
      </p:sp>
      <p:grpSp>
        <p:nvGrpSpPr>
          <p:cNvPr id="16" name="Gruppieren 15"/>
          <p:cNvGrpSpPr/>
          <p:nvPr/>
        </p:nvGrpSpPr>
        <p:grpSpPr>
          <a:xfrm rot="21021637">
            <a:off x="4206243" y="4039822"/>
            <a:ext cx="4395755" cy="1052141"/>
            <a:chOff x="3586162" y="5352916"/>
            <a:chExt cx="4395755" cy="1052141"/>
          </a:xfrm>
        </p:grpSpPr>
        <p:sp>
          <p:nvSpPr>
            <p:cNvPr id="10" name="Rechteck 9"/>
            <p:cNvSpPr/>
            <p:nvPr/>
          </p:nvSpPr>
          <p:spPr bwMode="auto">
            <a:xfrm>
              <a:off x="3609975" y="5374411"/>
              <a:ext cx="4295775" cy="1030646"/>
            </a:xfrm>
            <a:prstGeom prst="rect">
              <a:avLst/>
            </a:prstGeom>
            <a:solidFill>
              <a:schemeClr val="bg1"/>
            </a:solidFill>
            <a:ln w="57150" cap="flat" cmpd="sng" algn="ctr">
              <a:solidFill>
                <a:srgbClr val="01469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3586162" y="5352916"/>
              <a:ext cx="439575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</a:t>
              </a:r>
              <a:r>
                <a:rPr lang="en-US" sz="2000" dirty="0" smtClean="0"/>
                <a:t>ontrolling</a:t>
              </a:r>
              <a:br>
                <a:rPr lang="en-US" sz="2000" dirty="0" smtClean="0"/>
              </a:br>
              <a:r>
                <a:rPr lang="en-US" sz="2000" dirty="0" smtClean="0"/>
                <a:t>two-</a:t>
              </a:r>
              <a:r>
                <a:rPr lang="en-US" sz="2000" dirty="0"/>
                <a:t> </a:t>
              </a:r>
              <a:r>
                <a:rPr lang="en-US" sz="2000" dirty="0" smtClean="0"/>
                <a:t>     versus three-body interaction</a:t>
              </a:r>
            </a:p>
            <a:p>
              <a:r>
                <a:rPr lang="en-US" sz="2000" dirty="0" smtClean="0"/>
                <a:t>cooling versus loss</a:t>
              </a:r>
              <a:endParaRPr lang="en-US" sz="2000" dirty="0"/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410369" y="3150327"/>
            <a:ext cx="8733631" cy="3258578"/>
            <a:chOff x="410369" y="3113218"/>
            <a:chExt cx="8733631" cy="3258578"/>
          </a:xfrm>
        </p:grpSpPr>
        <p:sp>
          <p:nvSpPr>
            <p:cNvPr id="17" name="Rechteck 16"/>
            <p:cNvSpPr/>
            <p:nvPr/>
          </p:nvSpPr>
          <p:spPr bwMode="auto">
            <a:xfrm>
              <a:off x="410369" y="3627824"/>
              <a:ext cx="8733631" cy="27439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hteck 25"/>
            <p:cNvSpPr/>
            <p:nvPr/>
          </p:nvSpPr>
          <p:spPr bwMode="auto">
            <a:xfrm>
              <a:off x="4086577" y="3113218"/>
              <a:ext cx="5019323" cy="135688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55306" name="Picture 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175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5" name="Text Box 23"/>
          <p:cNvSpPr txBox="1">
            <a:spLocks noChangeArrowheads="1"/>
          </p:cNvSpPr>
          <p:nvPr/>
        </p:nvSpPr>
        <p:spPr bwMode="auto">
          <a:xfrm>
            <a:off x="1679583" y="153988"/>
            <a:ext cx="5711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dirty="0">
                <a:solidFill>
                  <a:schemeClr val="bg1"/>
                </a:solidFill>
                <a:latin typeface="Arial" panose="020B0604020202020204" pitchFamily="34" charset="0"/>
              </a:rPr>
              <a:t>s</a:t>
            </a:r>
            <a:r>
              <a:rPr lang="en-US" altLang="de-DE" dirty="0" smtClean="0">
                <a:solidFill>
                  <a:schemeClr val="bg1"/>
                </a:solidFill>
                <a:latin typeface="Arial" panose="020B0604020202020204" pitchFamily="34" charset="0"/>
              </a:rPr>
              <a:t>et of resonances in </a:t>
            </a:r>
            <a:r>
              <a:rPr lang="en-US" altLang="de-DE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BaLiLaB</a:t>
            </a:r>
            <a:endParaRPr lang="en-US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55308" name="Picture 30" descr="Kopie (4_blue) von Laseraufbau_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68" y="1567638"/>
            <a:ext cx="8882642" cy="4523624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 bwMode="auto">
          <a:xfrm>
            <a:off x="81187" y="3167068"/>
            <a:ext cx="8794526" cy="291941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76" y="3271489"/>
            <a:ext cx="8580176" cy="2854692"/>
          </a:xfrm>
          <a:prstGeom prst="rect">
            <a:avLst/>
          </a:prstGeom>
        </p:spPr>
      </p:pic>
      <p:pic>
        <p:nvPicPr>
          <p:cNvPr id="55306" name="Picture 2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hteck 14"/>
          <p:cNvSpPr/>
          <p:nvPr/>
        </p:nvSpPr>
        <p:spPr bwMode="auto">
          <a:xfrm>
            <a:off x="229055" y="1631316"/>
            <a:ext cx="8868136" cy="137893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482462" y="2958931"/>
            <a:ext cx="874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Close collaboration with theory: Michal </a:t>
            </a:r>
            <a:r>
              <a:rPr lang="en-US" sz="1400" dirty="0" err="1" smtClean="0"/>
              <a:t>Tomza</a:t>
            </a:r>
            <a:r>
              <a:rPr lang="en-US" sz="1400" dirty="0" smtClean="0"/>
              <a:t>, </a:t>
            </a:r>
            <a:r>
              <a:rPr lang="en-US" sz="1400" dirty="0" err="1" smtClean="0"/>
              <a:t>Dariusz</a:t>
            </a:r>
            <a:r>
              <a:rPr lang="en-US" sz="1400" dirty="0" smtClean="0"/>
              <a:t> </a:t>
            </a:r>
            <a:r>
              <a:rPr lang="en-US" sz="1400" dirty="0" err="1" smtClean="0"/>
              <a:t>Wiater</a:t>
            </a:r>
            <a:r>
              <a:rPr lang="en-US" sz="1400" dirty="0" smtClean="0"/>
              <a:t>, Krzysztof </a:t>
            </a:r>
            <a:r>
              <a:rPr lang="en-US" sz="1400" dirty="0" err="1" smtClean="0"/>
              <a:t>Jachymski</a:t>
            </a:r>
            <a:r>
              <a:rPr lang="en-US" sz="1400" dirty="0" smtClean="0"/>
              <a:t>, </a:t>
            </a:r>
            <a:r>
              <a:rPr lang="en-US" sz="1400" dirty="0"/>
              <a:t>Agatha </a:t>
            </a:r>
            <a:r>
              <a:rPr lang="en-US" sz="1400" dirty="0" err="1"/>
              <a:t>Wojciechowska</a:t>
            </a:r>
            <a:endParaRPr lang="en-US" sz="1400" dirty="0"/>
          </a:p>
        </p:txBody>
      </p:sp>
      <p:sp>
        <p:nvSpPr>
          <p:cNvPr id="7" name="Textfeld 6"/>
          <p:cNvSpPr txBox="1"/>
          <p:nvPr/>
        </p:nvSpPr>
        <p:spPr>
          <a:xfrm>
            <a:off x="1800108" y="1101192"/>
            <a:ext cx="6107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urrently: interaction even/still in hybrid trap</a:t>
            </a:r>
            <a:endParaRPr lang="en-US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965852">
            <a:off x="1467545" y="2686171"/>
            <a:ext cx="2964494" cy="809704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</p:pic>
      <p:sp>
        <p:nvSpPr>
          <p:cNvPr id="16" name="Textfeld 15"/>
          <p:cNvSpPr txBox="1"/>
          <p:nvPr/>
        </p:nvSpPr>
        <p:spPr>
          <a:xfrm>
            <a:off x="7051299" y="6047727"/>
            <a:ext cx="18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hat’s next?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4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" grpId="0"/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Schätz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100"/>
            <a:ext cx="9144000" cy="540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0" y="5229225"/>
            <a:ext cx="9144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18039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4762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0" y="-9525"/>
            <a:ext cx="91440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8038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5800725"/>
            <a:ext cx="9144000" cy="1057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55750" y="481013"/>
            <a:ext cx="5268913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4800">
                <a:solidFill>
                  <a:srgbClr val="FFFFFF"/>
                </a:solidFill>
                <a:latin typeface="Arial" panose="020B0604020202020204" pitchFamily="34" charset="0"/>
              </a:rPr>
              <a:t>TIAMO - Summary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27000" y="173038"/>
            <a:ext cx="662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400" dirty="0">
                <a:solidFill>
                  <a:srgbClr val="FFFFFF"/>
                </a:solidFill>
                <a:latin typeface="Arial" panose="020B0604020202020204" pitchFamily="34" charset="0"/>
              </a:rPr>
              <a:t>Trapping Ions in Atoms and Molecules Optically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3406" y="1129884"/>
            <a:ext cx="911542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de-DE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dipole trap for an ion (optical 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lattice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	</a:t>
            </a:r>
            <a:b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			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- 3s</a:t>
            </a: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: comparable to atoms – heating 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“&lt;”</a:t>
            </a: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/>
            </a:r>
            <a:b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			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- coherence </a:t>
            </a: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times &gt;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100ms</a:t>
            </a:r>
            <a:endParaRPr lang="en-US" altLang="de-DE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 Coulomb crystals in a dipole 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trap</a:t>
            </a: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/>
            </a:r>
            <a:b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			+ phonons available</a:t>
            </a:r>
            <a:b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			(2D crystals without </a:t>
            </a:r>
            <a:r>
              <a:rPr lang="en-US" altLang="de-DE" sz="2400" b="1" dirty="0" err="1">
                <a:solidFill>
                  <a:srgbClr val="FFFFFF"/>
                </a:solidFill>
                <a:latin typeface="Arial" panose="020B0604020202020204" pitchFamily="34" charset="0"/>
              </a:rPr>
              <a:t>rf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>
                <a:solidFill>
                  <a:srgbClr val="FFFFFF"/>
                </a:solidFill>
                <a:latin typeface="Arial" panose="020B0604020202020204" pitchFamily="34" charset="0"/>
              </a:rPr>
              <a:t> c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ontrolling atom-ion interaction by </a:t>
            </a:r>
            <a:r>
              <a:rPr lang="en-US" altLang="de-DE" sz="24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Feshbach</a:t>
            </a: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resonances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endParaRPr lang="en-US" altLang="de-DE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è"/>
            </a:pPr>
            <a:r>
              <a:rPr lang="en-US" altLang="de-DE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onset of sympathetic cooling in pure ODT</a:t>
            </a:r>
            <a:endParaRPr lang="en-US" altLang="de-DE" sz="2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endParaRPr lang="en-US" altLang="de-DE" sz="2400" b="1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1" hangingPunct="1">
              <a:spcBef>
                <a:spcPct val="0"/>
              </a:spcBef>
              <a:buFont typeface="Wingdings" panose="05000000000000000000" pitchFamily="2" charset="2"/>
              <a:buChar char="è"/>
              <a:defRPr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Whither TIAMO/</a:t>
            </a:r>
            <a:r>
              <a:rPr lang="en-US" altLang="de-DE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BaLiLaB</a:t>
            </a: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 ions</a:t>
            </a:r>
            <a:b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	- towards ultra-cold interaction/chemistry</a:t>
            </a:r>
          </a:p>
          <a:p>
            <a:pPr lvl="0" eaLnBrk="1" hangingPunct="1">
              <a:spcBef>
                <a:spcPct val="0"/>
              </a:spcBef>
              <a:buNone/>
              <a:defRPr/>
            </a:pPr>
            <a:r>
              <a:rPr lang="en-US" altLang="de-DE" sz="2400" b="1" dirty="0">
                <a:solidFill>
                  <a:schemeClr val="bg1"/>
                </a:solidFill>
                <a:latin typeface="Arial" panose="020B0604020202020204" pitchFamily="34" charset="0"/>
              </a:rPr>
              <a:t>	- towards quantum phase </a:t>
            </a:r>
            <a:r>
              <a:rPr lang="en-US" altLang="de-DE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transitions</a:t>
            </a:r>
            <a:endParaRPr lang="en-US" altLang="de-DE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6261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1279525" y="134938"/>
            <a:ext cx="7143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dirty="0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r>
              <a:rPr lang="en-US" altLang="de-DE" dirty="0" smtClean="0">
                <a:solidFill>
                  <a:srgbClr val="FFFFFF"/>
                </a:solidFill>
                <a:latin typeface="Arial" panose="020B0604020202020204" pitchFamily="34" charset="0"/>
              </a:rPr>
              <a:t>i-chromatic trap for atoms + ion(s)</a:t>
            </a:r>
            <a:endParaRPr lang="en-US" altLang="de-DE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350" y="3664843"/>
            <a:ext cx="1460500" cy="90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24878" y="2112957"/>
            <a:ext cx="783900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400" b="1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400" b="1" u="sng" baseline="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138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Ba</a:t>
            </a:r>
            <a:r>
              <a:rPr lang="en-US" altLang="de-DE" sz="2400" b="1" u="sng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 in </a:t>
            </a:r>
            <a:r>
              <a:rPr lang="en-US" altLang="de-DE" sz="2400" b="1" u="sng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6,7</a:t>
            </a:r>
            <a:r>
              <a:rPr lang="en-US" altLang="de-DE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Li (Fermion/Boson of m</a:t>
            </a:r>
            <a:r>
              <a:rPr lang="en-US" altLang="de-DE" sz="2400" b="1" u="sng" baseline="-25000" dirty="0" smtClean="0">
                <a:solidFill>
                  <a:srgbClr val="000000"/>
                </a:solidFill>
                <a:latin typeface="Arial" panose="020B0604020202020204" pitchFamily="34" charset="0"/>
              </a:rPr>
              <a:t>&lt;&lt;</a:t>
            </a:r>
            <a:r>
              <a:rPr lang="en-US" altLang="de-DE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and </a:t>
            </a:r>
            <a:r>
              <a:rPr lang="en-US" altLang="de-DE" sz="2400" b="1" u="sng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87</a:t>
            </a:r>
            <a:r>
              <a:rPr lang="en-US" altLang="de-DE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Rb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de-DE" sz="2400" b="1" u="sng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de-DE" sz="20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Feshbach</a:t>
            </a: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 resonances (ion/atom) </a:t>
            </a:r>
          </a:p>
          <a:p>
            <a:pPr>
              <a:spcBef>
                <a:spcPct val="0"/>
              </a:spcBef>
              <a:buNone/>
            </a:pP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evaporative/sympathetic cooling </a:t>
            </a: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(deep in s-wave regime)</a:t>
            </a:r>
            <a:endParaRPr lang="en-US" altLang="de-DE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	- 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characterizing Ba</a:t>
            </a:r>
            <a:r>
              <a:rPr lang="en-US" altLang="de-DE" sz="20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 Li (</a:t>
            </a:r>
            <a:r>
              <a:rPr lang="en-US" altLang="de-DE" sz="20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Li or </a:t>
            </a:r>
            <a:r>
              <a:rPr lang="en-US" altLang="de-DE" sz="20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Li,</a:t>
            </a:r>
            <a:r>
              <a:rPr lang="en-US" altLang="de-DE" sz="20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Li</a:t>
            </a:r>
            <a:r>
              <a:rPr lang="en-US" altLang="de-DE" sz="20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	many-body 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interaction (mesoscopic clusters?)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“impurity” 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in BEC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endParaRPr lang="en-US" altLang="de-DE" sz="20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ultra-cold chemistry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de-DE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embedding </a:t>
            </a:r>
            <a:r>
              <a:rPr lang="en-US" alt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product (hybrid-box)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de-DE" sz="20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de-DE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3017" name="Group 9"/>
          <p:cNvGrpSpPr>
            <a:grpSpLocks/>
          </p:cNvGrpSpPr>
          <p:nvPr/>
        </p:nvGrpSpPr>
        <p:grpSpPr bwMode="auto">
          <a:xfrm>
            <a:off x="6819900" y="5138837"/>
            <a:ext cx="1876425" cy="758825"/>
            <a:chOff x="4434" y="3564"/>
            <a:chExt cx="1182" cy="478"/>
          </a:xfrm>
        </p:grpSpPr>
        <p:pic>
          <p:nvPicPr>
            <p:cNvPr id="43040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5" y="3699"/>
              <a:ext cx="554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3041" name="Freeform 11"/>
            <p:cNvSpPr>
              <a:spLocks/>
            </p:cNvSpPr>
            <p:nvPr/>
          </p:nvSpPr>
          <p:spPr bwMode="auto">
            <a:xfrm>
              <a:off x="4434" y="3564"/>
              <a:ext cx="1182" cy="402"/>
            </a:xfrm>
            <a:custGeom>
              <a:avLst/>
              <a:gdLst>
                <a:gd name="T0" fmla="*/ 0 w 1182"/>
                <a:gd name="T1" fmla="*/ 0 h 486"/>
                <a:gd name="T2" fmla="*/ 222 w 1182"/>
                <a:gd name="T3" fmla="*/ 0 h 486"/>
                <a:gd name="T4" fmla="*/ 288 w 1182"/>
                <a:gd name="T5" fmla="*/ 333 h 486"/>
                <a:gd name="T6" fmla="*/ 996 w 1182"/>
                <a:gd name="T7" fmla="*/ 333 h 486"/>
                <a:gd name="T8" fmla="*/ 1038 w 1182"/>
                <a:gd name="T9" fmla="*/ 4 h 486"/>
                <a:gd name="T10" fmla="*/ 1182 w 1182"/>
                <a:gd name="T11" fmla="*/ 4 h 4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82" h="486">
                  <a:moveTo>
                    <a:pt x="0" y="0"/>
                  </a:moveTo>
                  <a:lnTo>
                    <a:pt x="222" y="0"/>
                  </a:lnTo>
                  <a:lnTo>
                    <a:pt x="288" y="486"/>
                  </a:lnTo>
                  <a:lnTo>
                    <a:pt x="996" y="486"/>
                  </a:lnTo>
                  <a:lnTo>
                    <a:pt x="1038" y="6"/>
                  </a:lnTo>
                  <a:lnTo>
                    <a:pt x="1182" y="6"/>
                  </a:ln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3031" name="Text Box 28"/>
          <p:cNvSpPr txBox="1">
            <a:spLocks noChangeArrowheads="1"/>
          </p:cNvSpPr>
          <p:nvPr/>
        </p:nvSpPr>
        <p:spPr bwMode="auto">
          <a:xfrm>
            <a:off x="1426368" y="1243815"/>
            <a:ext cx="4867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bi-chromatic dipole </a:t>
            </a:r>
            <a:r>
              <a:rPr lang="en-US" altLang="de-DE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trap (lattice)</a:t>
            </a:r>
            <a:endParaRPr lang="en-US" altLang="de-DE" sz="2400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032" name="AutoShape 29"/>
          <p:cNvSpPr>
            <a:spLocks noChangeArrowheads="1"/>
          </p:cNvSpPr>
          <p:nvPr/>
        </p:nvSpPr>
        <p:spPr bwMode="auto">
          <a:xfrm>
            <a:off x="561180" y="4356894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033" name="AutoShape 30"/>
          <p:cNvSpPr>
            <a:spLocks noChangeArrowheads="1"/>
          </p:cNvSpPr>
          <p:nvPr/>
        </p:nvSpPr>
        <p:spPr bwMode="auto">
          <a:xfrm>
            <a:off x="561180" y="4989212"/>
            <a:ext cx="519112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3034" name="Picture 32" descr="Kopie (5) von Laseraufbau_ro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27" y="1175552"/>
            <a:ext cx="8096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35" name="Picture 33" descr="Kopie (3) von Laseraufbau_c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827" y="1161265"/>
            <a:ext cx="83502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36" name="Text Box 34"/>
          <p:cNvSpPr txBox="1">
            <a:spLocks noChangeArrowheads="1"/>
          </p:cNvSpPr>
          <p:nvPr/>
        </p:nvSpPr>
        <p:spPr bwMode="auto">
          <a:xfrm>
            <a:off x="6954677" y="1196190"/>
            <a:ext cx="36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4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4" name="AutoShape 29"/>
          <p:cNvSpPr>
            <a:spLocks noChangeArrowheads="1"/>
          </p:cNvSpPr>
          <p:nvPr/>
        </p:nvSpPr>
        <p:spPr bwMode="auto">
          <a:xfrm>
            <a:off x="561181" y="4083471"/>
            <a:ext cx="519113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AutoShape 30"/>
          <p:cNvSpPr>
            <a:spLocks noChangeArrowheads="1"/>
          </p:cNvSpPr>
          <p:nvPr/>
        </p:nvSpPr>
        <p:spPr bwMode="auto">
          <a:xfrm>
            <a:off x="561180" y="5294266"/>
            <a:ext cx="519112" cy="152400"/>
          </a:xfrm>
          <a:prstGeom prst="rightArrow">
            <a:avLst>
              <a:gd name="adj1" fmla="val 50000"/>
              <a:gd name="adj2" fmla="val 85156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46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8313"/>
            <a:ext cx="82073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6538"/>
            <a:ext cx="914400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2" name="Picture 51" descr="optical_latt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1116013"/>
            <a:ext cx="2676525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3" name="Text Box 42"/>
          <p:cNvSpPr txBox="1">
            <a:spLocks noChangeArrowheads="1"/>
          </p:cNvSpPr>
          <p:nvPr/>
        </p:nvSpPr>
        <p:spPr bwMode="auto">
          <a:xfrm rot="-5400000">
            <a:off x="3017838" y="1697038"/>
            <a:ext cx="3070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>
                <a:solidFill>
                  <a:srgbClr val="000000"/>
                </a:solidFill>
                <a:latin typeface="Arial" panose="020B0604020202020204" pitchFamily="34" charset="0"/>
              </a:rPr>
              <a:t>complete not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2000" b="1">
                <a:solidFill>
                  <a:srgbClr val="000000"/>
                </a:solidFill>
                <a:latin typeface="Arial" panose="020B0604020202020204" pitchFamily="34" charset="0"/>
              </a:rPr>
              <a:t>compete </a:t>
            </a:r>
          </a:p>
        </p:txBody>
      </p:sp>
      <p:sp>
        <p:nvSpPr>
          <p:cNvPr id="45064" name="Line 8"/>
          <p:cNvSpPr>
            <a:spLocks noChangeShapeType="1"/>
          </p:cNvSpPr>
          <p:nvPr/>
        </p:nvSpPr>
        <p:spPr bwMode="auto">
          <a:xfrm>
            <a:off x="4572000" y="1085850"/>
            <a:ext cx="0" cy="18192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5" name="Text Box 60"/>
          <p:cNvSpPr txBox="1">
            <a:spLocks noChangeArrowheads="1"/>
          </p:cNvSpPr>
          <p:nvPr/>
        </p:nvSpPr>
        <p:spPr bwMode="auto">
          <a:xfrm>
            <a:off x="7470775" y="3038475"/>
            <a:ext cx="14366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200" i="1">
                <a:solidFill>
                  <a:srgbClr val="000000"/>
                </a:solidFill>
                <a:latin typeface="Arial" panose="020B0604020202020204" pitchFamily="34" charset="0"/>
              </a:rPr>
              <a:t>courtesy of I.Bloch</a:t>
            </a:r>
          </a:p>
        </p:txBody>
      </p:sp>
      <p:pic>
        <p:nvPicPr>
          <p:cNvPr id="45066" name="Picture 2" descr="Schätz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236663"/>
            <a:ext cx="2646363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7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350" y="3892550"/>
            <a:ext cx="207962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8" name="Text Box 42"/>
          <p:cNvSpPr txBox="1">
            <a:spLocks noChangeArrowheads="1"/>
          </p:cNvSpPr>
          <p:nvPr/>
        </p:nvSpPr>
        <p:spPr bwMode="auto">
          <a:xfrm>
            <a:off x="2463800" y="3048000"/>
            <a:ext cx="40608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u="sng">
                <a:solidFill>
                  <a:srgbClr val="000000"/>
                </a:solidFill>
                <a:latin typeface="Arial" panose="020B0604020202020204" pitchFamily="34" charset="0"/>
              </a:rPr>
              <a:t>extended perspectives:</a:t>
            </a:r>
            <a:endParaRPr lang="en-US" altLang="de-DE" sz="2000" b="1" u="sng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5069" name="Group 13"/>
          <p:cNvGrpSpPr>
            <a:grpSpLocks/>
          </p:cNvGrpSpPr>
          <p:nvPr/>
        </p:nvGrpSpPr>
        <p:grpSpPr bwMode="auto">
          <a:xfrm>
            <a:off x="214313" y="3754438"/>
            <a:ext cx="5040312" cy="1069975"/>
            <a:chOff x="495" y="3163"/>
            <a:chExt cx="3175" cy="674"/>
          </a:xfrm>
        </p:grpSpPr>
        <p:pic>
          <p:nvPicPr>
            <p:cNvPr id="45134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" y="3163"/>
              <a:ext cx="3175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5135" name="Rectangle 15"/>
            <p:cNvSpPr>
              <a:spLocks noChangeArrowheads="1"/>
            </p:cNvSpPr>
            <p:nvPr/>
          </p:nvSpPr>
          <p:spPr bwMode="auto">
            <a:xfrm>
              <a:off x="2165" y="3179"/>
              <a:ext cx="318" cy="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36" name="Rectangle 16"/>
            <p:cNvSpPr>
              <a:spLocks noChangeArrowheads="1"/>
            </p:cNvSpPr>
            <p:nvPr/>
          </p:nvSpPr>
          <p:spPr bwMode="auto">
            <a:xfrm>
              <a:off x="562" y="3166"/>
              <a:ext cx="318" cy="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5070" name="Rectangle 17"/>
          <p:cNvSpPr>
            <a:spLocks noChangeArrowheads="1"/>
          </p:cNvSpPr>
          <p:nvPr/>
        </p:nvSpPr>
        <p:spPr bwMode="auto">
          <a:xfrm>
            <a:off x="1447800" y="3486150"/>
            <a:ext cx="504825" cy="371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rgbClr val="000000"/>
                </a:solidFill>
                <a:latin typeface="Arial" panose="020B0604020202020204" pitchFamily="34" charset="0"/>
              </a:rPr>
              <a:t>ions</a:t>
            </a:r>
          </a:p>
        </p:txBody>
      </p:sp>
      <p:sp>
        <p:nvSpPr>
          <p:cNvPr id="45071" name="Rectangle 18"/>
          <p:cNvSpPr>
            <a:spLocks noChangeArrowheads="1"/>
          </p:cNvSpPr>
          <p:nvPr/>
        </p:nvSpPr>
        <p:spPr bwMode="auto">
          <a:xfrm>
            <a:off x="3219450" y="3427413"/>
            <a:ext cx="1400175" cy="487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rgbClr val="000000"/>
                </a:solidFill>
                <a:latin typeface="Arial" panose="020B0604020202020204" pitchFamily="34" charset="0"/>
              </a:rPr>
              <a:t>atoms &amp; ions </a:t>
            </a:r>
          </a:p>
        </p:txBody>
      </p:sp>
      <p:sp>
        <p:nvSpPr>
          <p:cNvPr id="45072" name="Rectangle 19"/>
          <p:cNvSpPr>
            <a:spLocks noChangeArrowheads="1"/>
          </p:cNvSpPr>
          <p:nvPr/>
        </p:nvSpPr>
        <p:spPr bwMode="auto">
          <a:xfrm>
            <a:off x="6942138" y="3397250"/>
            <a:ext cx="1400175" cy="4873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rgbClr val="000000"/>
                </a:solidFill>
                <a:latin typeface="Arial" panose="020B0604020202020204" pitchFamily="34" charset="0"/>
              </a:rPr>
              <a:t>atom(s!) &amp; ion(s!)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rgbClr val="000000"/>
                </a:solidFill>
                <a:latin typeface="Arial" panose="020B0604020202020204" pitchFamily="34" charset="0"/>
              </a:rPr>
              <a:t>clusters/molecules </a:t>
            </a:r>
          </a:p>
        </p:txBody>
      </p:sp>
      <p:sp>
        <p:nvSpPr>
          <p:cNvPr id="45073" name="AutoShape 20"/>
          <p:cNvSpPr>
            <a:spLocks noChangeArrowheads="1"/>
          </p:cNvSpPr>
          <p:nvPr/>
        </p:nvSpPr>
        <p:spPr bwMode="auto">
          <a:xfrm>
            <a:off x="213448" y="3768571"/>
            <a:ext cx="5257800" cy="1076325"/>
          </a:xfrm>
          <a:prstGeom prst="bracketPair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074" name="Line 21"/>
          <p:cNvSpPr>
            <a:spLocks noChangeShapeType="1"/>
          </p:cNvSpPr>
          <p:nvPr/>
        </p:nvSpPr>
        <p:spPr bwMode="auto">
          <a:xfrm>
            <a:off x="801688" y="2971800"/>
            <a:ext cx="3159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5" name="Text Box 22"/>
          <p:cNvSpPr txBox="1">
            <a:spLocks noChangeArrowheads="1"/>
          </p:cNvSpPr>
          <p:nvPr/>
        </p:nvSpPr>
        <p:spPr bwMode="auto">
          <a:xfrm>
            <a:off x="703263" y="2962275"/>
            <a:ext cx="5032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1000">
                <a:solidFill>
                  <a:srgbClr val="FFFFFF"/>
                </a:solidFill>
                <a:latin typeface="Arial" panose="020B0604020202020204" pitchFamily="34" charset="0"/>
              </a:rPr>
              <a:t>10</a:t>
            </a:r>
            <a:r>
              <a:rPr lang="en-US" altLang="de-DE" sz="1000">
                <a:solidFill>
                  <a:srgbClr val="FFFFFF"/>
                </a:solidFill>
                <a:latin typeface="Symbol" panose="05050102010706020507" pitchFamily="18" charset="2"/>
              </a:rPr>
              <a:t>m</a:t>
            </a:r>
            <a:r>
              <a:rPr lang="en-US" altLang="de-DE" sz="1000">
                <a:solidFill>
                  <a:srgbClr val="FFFFFF"/>
                </a:solidFill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45076" name="Line 23"/>
          <p:cNvSpPr>
            <a:spLocks noChangeShapeType="1"/>
          </p:cNvSpPr>
          <p:nvPr/>
        </p:nvSpPr>
        <p:spPr bwMode="auto">
          <a:xfrm>
            <a:off x="5638800" y="2822575"/>
            <a:ext cx="325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7" name="Text Box 24"/>
          <p:cNvSpPr txBox="1">
            <a:spLocks noChangeArrowheads="1"/>
          </p:cNvSpPr>
          <p:nvPr/>
        </p:nvSpPr>
        <p:spPr bwMode="auto">
          <a:xfrm>
            <a:off x="5540375" y="2813050"/>
            <a:ext cx="5381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  <a:r>
              <a:rPr lang="en-US" altLang="de-DE" sz="1000">
                <a:solidFill>
                  <a:srgbClr val="000000"/>
                </a:solidFill>
                <a:latin typeface="Symbol" panose="05050102010706020507" pitchFamily="18" charset="2"/>
              </a:rPr>
              <a:t>m</a:t>
            </a:r>
            <a:r>
              <a:rPr lang="en-US" altLang="de-DE" sz="100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</a:p>
        </p:txBody>
      </p:sp>
      <p:pic>
        <p:nvPicPr>
          <p:cNvPr id="45078" name="Picture 25" descr="Kopie (4_blue) von Laseraufbau_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23825"/>
            <a:ext cx="8556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079" name="Group 26"/>
          <p:cNvGrpSpPr>
            <a:grpSpLocks/>
          </p:cNvGrpSpPr>
          <p:nvPr/>
        </p:nvGrpSpPr>
        <p:grpSpPr bwMode="auto">
          <a:xfrm>
            <a:off x="7339013" y="4595813"/>
            <a:ext cx="571500" cy="339725"/>
            <a:chOff x="4539" y="3771"/>
            <a:chExt cx="360" cy="214"/>
          </a:xfrm>
        </p:grpSpPr>
        <p:pic>
          <p:nvPicPr>
            <p:cNvPr id="45132" name="Picture 27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8" y="3771"/>
              <a:ext cx="131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133" name="Picture 28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9" y="3776"/>
              <a:ext cx="131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5080" name="Group 29"/>
          <p:cNvGrpSpPr>
            <a:grpSpLocks/>
          </p:cNvGrpSpPr>
          <p:nvPr/>
        </p:nvGrpSpPr>
        <p:grpSpPr bwMode="auto">
          <a:xfrm>
            <a:off x="6138863" y="5448300"/>
            <a:ext cx="2938462" cy="835025"/>
            <a:chOff x="3402" y="3432"/>
            <a:chExt cx="1851" cy="526"/>
          </a:xfrm>
        </p:grpSpPr>
        <p:grpSp>
          <p:nvGrpSpPr>
            <p:cNvPr id="45125" name="Group 30"/>
            <p:cNvGrpSpPr>
              <a:grpSpLocks/>
            </p:cNvGrpSpPr>
            <p:nvPr/>
          </p:nvGrpSpPr>
          <p:grpSpPr bwMode="auto">
            <a:xfrm>
              <a:off x="3402" y="3432"/>
              <a:ext cx="1851" cy="526"/>
              <a:chOff x="1671" y="1301"/>
              <a:chExt cx="2115" cy="604"/>
            </a:xfrm>
          </p:grpSpPr>
          <p:pic>
            <p:nvPicPr>
              <p:cNvPr id="45127" name="Picture 7" descr="Y:\tmp\Manu\Vortrag_JvF\Kink_25_Ionen.png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159976">
                <a:off x="1671" y="1301"/>
                <a:ext cx="2115" cy="6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128" name="Oval 32"/>
              <p:cNvSpPr>
                <a:spLocks noChangeArrowheads="1"/>
              </p:cNvSpPr>
              <p:nvPr/>
            </p:nvSpPr>
            <p:spPr bwMode="auto">
              <a:xfrm>
                <a:off x="2550" y="1500"/>
                <a:ext cx="84" cy="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129" name="Oval 33"/>
              <p:cNvSpPr>
                <a:spLocks noChangeArrowheads="1"/>
              </p:cNvSpPr>
              <p:nvPr/>
            </p:nvSpPr>
            <p:spPr bwMode="auto">
              <a:xfrm>
                <a:off x="2669" y="1499"/>
                <a:ext cx="84" cy="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130" name="Oval 34"/>
              <p:cNvSpPr>
                <a:spLocks noChangeArrowheads="1"/>
              </p:cNvSpPr>
              <p:nvPr/>
            </p:nvSpPr>
            <p:spPr bwMode="auto">
              <a:xfrm>
                <a:off x="2776" y="1498"/>
                <a:ext cx="84" cy="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131" name="Oval 35"/>
              <p:cNvSpPr>
                <a:spLocks noChangeArrowheads="1"/>
              </p:cNvSpPr>
              <p:nvPr/>
            </p:nvSpPr>
            <p:spPr bwMode="auto">
              <a:xfrm>
                <a:off x="2667" y="1623"/>
                <a:ext cx="84" cy="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5126" name="Oval 36" descr="Diagonal weit nach oben"/>
            <p:cNvSpPr>
              <a:spLocks noChangeArrowheads="1"/>
            </p:cNvSpPr>
            <p:nvPr/>
          </p:nvSpPr>
          <p:spPr bwMode="auto">
            <a:xfrm>
              <a:off x="4500" y="3534"/>
              <a:ext cx="540" cy="330"/>
            </a:xfrm>
            <a:prstGeom prst="ellipse">
              <a:avLst/>
            </a:prstGeom>
            <a:blipFill dpi="0" rotWithShape="0">
              <a:blip r:embed="rId11"/>
              <a:srcRect/>
              <a:tile tx="0" ty="0" sx="100000" sy="100000" flip="none" algn="tl"/>
            </a:blip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5081" name="Rectangle 37"/>
          <p:cNvSpPr>
            <a:spLocks noChangeArrowheads="1"/>
          </p:cNvSpPr>
          <p:nvPr/>
        </p:nvSpPr>
        <p:spPr bwMode="auto">
          <a:xfrm>
            <a:off x="711200" y="5540375"/>
            <a:ext cx="3240088" cy="4873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sz="2000" u="sng">
                <a:solidFill>
                  <a:srgbClr val="000000"/>
                </a:solidFill>
                <a:latin typeface="Arial" panose="020B0604020202020204" pitchFamily="34" charset="0"/>
              </a:rPr>
              <a:t>motional ground state (2D)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rgbClr val="000000"/>
                </a:solidFill>
                <a:latin typeface="Arial" panose="020B0604020202020204" pitchFamily="34" charset="0"/>
              </a:rPr>
              <a:t>structural phase transitions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rgbClr val="000000"/>
                </a:solidFill>
                <a:latin typeface="Arial" panose="020B0604020202020204" pitchFamily="34" charset="0"/>
              </a:rPr>
              <a:t>+ coherent superposition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rgbClr val="000000"/>
                </a:solidFill>
                <a:latin typeface="Arial" panose="020B0604020202020204" pitchFamily="34" charset="0"/>
              </a:rPr>
              <a:t>+ state dependent conf.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de-DE" sz="2000">
                <a:solidFill>
                  <a:srgbClr val="000000"/>
                </a:solidFill>
                <a:latin typeface="Arial" panose="020B0604020202020204" pitchFamily="34" charset="0"/>
              </a:rPr>
              <a:t>+ optical lattices </a:t>
            </a:r>
          </a:p>
        </p:txBody>
      </p:sp>
      <p:sp>
        <p:nvSpPr>
          <p:cNvPr id="45084" name="Text Box 43"/>
          <p:cNvSpPr txBox="1">
            <a:spLocks noChangeArrowheads="1"/>
          </p:cNvSpPr>
          <p:nvPr/>
        </p:nvSpPr>
        <p:spPr bwMode="auto">
          <a:xfrm>
            <a:off x="4614355" y="5296554"/>
            <a:ext cx="4732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into</a:t>
            </a:r>
            <a:endParaRPr lang="en-US" altLang="de-DE" sz="1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5102" name="Group 45"/>
          <p:cNvGrpSpPr>
            <a:grpSpLocks/>
          </p:cNvGrpSpPr>
          <p:nvPr/>
        </p:nvGrpSpPr>
        <p:grpSpPr bwMode="auto">
          <a:xfrm>
            <a:off x="5177208" y="5330689"/>
            <a:ext cx="525462" cy="244475"/>
            <a:chOff x="2427" y="3576"/>
            <a:chExt cx="453" cy="202"/>
          </a:xfrm>
        </p:grpSpPr>
        <p:grpSp>
          <p:nvGrpSpPr>
            <p:cNvPr id="45113" name="Group 46"/>
            <p:cNvGrpSpPr>
              <a:grpSpLocks/>
            </p:cNvGrpSpPr>
            <p:nvPr/>
          </p:nvGrpSpPr>
          <p:grpSpPr bwMode="auto">
            <a:xfrm rot="10800000">
              <a:off x="2464" y="3624"/>
              <a:ext cx="331" cy="154"/>
              <a:chOff x="336" y="3203"/>
              <a:chExt cx="403" cy="193"/>
            </a:xfrm>
          </p:grpSpPr>
          <p:sp>
            <p:nvSpPr>
              <p:cNvPr id="1710127" name="Oval 47"/>
              <p:cNvSpPr>
                <a:spLocks noChangeArrowheads="1"/>
              </p:cNvSpPr>
              <p:nvPr/>
            </p:nvSpPr>
            <p:spPr bwMode="auto">
              <a:xfrm>
                <a:off x="339" y="3298"/>
                <a:ext cx="97" cy="94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1710128" name="Oval 48"/>
              <p:cNvSpPr>
                <a:spLocks noChangeArrowheads="1"/>
              </p:cNvSpPr>
              <p:nvPr/>
            </p:nvSpPr>
            <p:spPr bwMode="auto">
              <a:xfrm>
                <a:off x="497" y="3201"/>
                <a:ext cx="97" cy="94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1710129" name="Oval 49"/>
              <p:cNvSpPr>
                <a:spLocks noChangeArrowheads="1"/>
              </p:cNvSpPr>
              <p:nvPr/>
            </p:nvSpPr>
            <p:spPr bwMode="auto">
              <a:xfrm>
                <a:off x="646" y="3298"/>
                <a:ext cx="97" cy="94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114" name="Group 50"/>
            <p:cNvGrpSpPr>
              <a:grpSpLocks/>
            </p:cNvGrpSpPr>
            <p:nvPr/>
          </p:nvGrpSpPr>
          <p:grpSpPr bwMode="auto">
            <a:xfrm>
              <a:off x="2427" y="3576"/>
              <a:ext cx="453" cy="202"/>
              <a:chOff x="2427" y="3576"/>
              <a:chExt cx="453" cy="202"/>
            </a:xfrm>
          </p:grpSpPr>
          <p:sp>
            <p:nvSpPr>
              <p:cNvPr id="45115" name="Line 51"/>
              <p:cNvSpPr>
                <a:spLocks noChangeShapeType="1"/>
              </p:cNvSpPr>
              <p:nvPr/>
            </p:nvSpPr>
            <p:spPr bwMode="auto">
              <a:xfrm>
                <a:off x="2427" y="3592"/>
                <a:ext cx="0" cy="1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45116" name="Group 52"/>
              <p:cNvGrpSpPr>
                <a:grpSpLocks/>
              </p:cNvGrpSpPr>
              <p:nvPr/>
            </p:nvGrpSpPr>
            <p:grpSpPr bwMode="auto">
              <a:xfrm>
                <a:off x="2814" y="3576"/>
                <a:ext cx="66" cy="201"/>
                <a:chOff x="522" y="3204"/>
                <a:chExt cx="66" cy="201"/>
              </a:xfrm>
            </p:grpSpPr>
            <p:sp>
              <p:nvSpPr>
                <p:cNvPr id="45117" name="Line 53"/>
                <p:cNvSpPr>
                  <a:spLocks noChangeShapeType="1"/>
                </p:cNvSpPr>
                <p:nvPr/>
              </p:nvSpPr>
              <p:spPr bwMode="auto">
                <a:xfrm>
                  <a:off x="522" y="3204"/>
                  <a:ext cx="66" cy="10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5118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530" y="3300"/>
                  <a:ext cx="57" cy="10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2" name="Gruppieren 1"/>
          <p:cNvGrpSpPr/>
          <p:nvPr/>
        </p:nvGrpSpPr>
        <p:grpSpPr>
          <a:xfrm>
            <a:off x="4010170" y="5341984"/>
            <a:ext cx="525462" cy="244475"/>
            <a:chOff x="4236669" y="5341984"/>
            <a:chExt cx="525462" cy="244475"/>
          </a:xfrm>
        </p:grpSpPr>
        <p:grpSp>
          <p:nvGrpSpPr>
            <p:cNvPr id="45083" name="Group 39"/>
            <p:cNvGrpSpPr>
              <a:grpSpLocks/>
            </p:cNvGrpSpPr>
            <p:nvPr/>
          </p:nvGrpSpPr>
          <p:grpSpPr bwMode="auto">
            <a:xfrm>
              <a:off x="4287469" y="5420672"/>
              <a:ext cx="400050" cy="107950"/>
              <a:chOff x="555" y="3761"/>
              <a:chExt cx="331" cy="82"/>
            </a:xfrm>
          </p:grpSpPr>
          <p:sp>
            <p:nvSpPr>
              <p:cNvPr id="1710120" name="Oval 40"/>
              <p:cNvSpPr>
                <a:spLocks noChangeArrowheads="1"/>
              </p:cNvSpPr>
              <p:nvPr/>
            </p:nvSpPr>
            <p:spPr bwMode="auto">
              <a:xfrm>
                <a:off x="555" y="3766"/>
                <a:ext cx="79" cy="77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1710121" name="Oval 41"/>
              <p:cNvSpPr>
                <a:spLocks noChangeArrowheads="1"/>
              </p:cNvSpPr>
              <p:nvPr/>
            </p:nvSpPr>
            <p:spPr bwMode="auto">
              <a:xfrm>
                <a:off x="682" y="3761"/>
                <a:ext cx="79" cy="77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1710122" name="Oval 42"/>
              <p:cNvSpPr>
                <a:spLocks noChangeArrowheads="1"/>
              </p:cNvSpPr>
              <p:nvPr/>
            </p:nvSpPr>
            <p:spPr bwMode="auto">
              <a:xfrm>
                <a:off x="807" y="3766"/>
                <a:ext cx="79" cy="77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087" name="Group 66"/>
            <p:cNvGrpSpPr>
              <a:grpSpLocks/>
            </p:cNvGrpSpPr>
            <p:nvPr/>
          </p:nvGrpSpPr>
          <p:grpSpPr bwMode="auto">
            <a:xfrm>
              <a:off x="4236669" y="5341984"/>
              <a:ext cx="525462" cy="244475"/>
              <a:chOff x="2427" y="3576"/>
              <a:chExt cx="453" cy="202"/>
            </a:xfrm>
          </p:grpSpPr>
          <p:sp>
            <p:nvSpPr>
              <p:cNvPr id="45098" name="Line 67"/>
              <p:cNvSpPr>
                <a:spLocks noChangeShapeType="1"/>
              </p:cNvSpPr>
              <p:nvPr/>
            </p:nvSpPr>
            <p:spPr bwMode="auto">
              <a:xfrm>
                <a:off x="2427" y="3592"/>
                <a:ext cx="0" cy="1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45099" name="Group 68"/>
              <p:cNvGrpSpPr>
                <a:grpSpLocks/>
              </p:cNvGrpSpPr>
              <p:nvPr/>
            </p:nvGrpSpPr>
            <p:grpSpPr bwMode="auto">
              <a:xfrm>
                <a:off x="2814" y="3576"/>
                <a:ext cx="66" cy="201"/>
                <a:chOff x="522" y="3204"/>
                <a:chExt cx="66" cy="201"/>
              </a:xfrm>
            </p:grpSpPr>
            <p:sp>
              <p:nvSpPr>
                <p:cNvPr id="45100" name="Line 69"/>
                <p:cNvSpPr>
                  <a:spLocks noChangeShapeType="1"/>
                </p:cNvSpPr>
                <p:nvPr/>
              </p:nvSpPr>
              <p:spPr bwMode="auto">
                <a:xfrm>
                  <a:off x="522" y="3204"/>
                  <a:ext cx="66" cy="10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5101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530" y="3300"/>
                  <a:ext cx="57" cy="10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4" name="Gruppieren 3"/>
          <p:cNvGrpSpPr/>
          <p:nvPr/>
        </p:nvGrpSpPr>
        <p:grpSpPr>
          <a:xfrm>
            <a:off x="4785441" y="5562644"/>
            <a:ext cx="1306512" cy="396875"/>
            <a:chOff x="4785441" y="5562644"/>
            <a:chExt cx="1306512" cy="396875"/>
          </a:xfrm>
        </p:grpSpPr>
        <p:sp>
          <p:nvSpPr>
            <p:cNvPr id="83" name="Text Box 43"/>
            <p:cNvSpPr txBox="1">
              <a:spLocks noChangeArrowheads="1"/>
            </p:cNvSpPr>
            <p:nvPr/>
          </p:nvSpPr>
          <p:spPr bwMode="auto">
            <a:xfrm>
              <a:off x="5254317" y="5562644"/>
              <a:ext cx="3317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grpSp>
          <p:nvGrpSpPr>
            <p:cNvPr id="84" name="Group 44"/>
            <p:cNvGrpSpPr>
              <a:grpSpLocks/>
            </p:cNvGrpSpPr>
            <p:nvPr/>
          </p:nvGrpSpPr>
          <p:grpSpPr bwMode="auto">
            <a:xfrm>
              <a:off x="4785441" y="5627732"/>
              <a:ext cx="1306512" cy="257175"/>
              <a:chOff x="2427" y="3560"/>
              <a:chExt cx="823" cy="162"/>
            </a:xfrm>
          </p:grpSpPr>
          <p:grpSp>
            <p:nvGrpSpPr>
              <p:cNvPr id="101" name="Group 45"/>
              <p:cNvGrpSpPr>
                <a:grpSpLocks/>
              </p:cNvGrpSpPr>
              <p:nvPr/>
            </p:nvGrpSpPr>
            <p:grpSpPr bwMode="auto">
              <a:xfrm>
                <a:off x="2427" y="3568"/>
                <a:ext cx="331" cy="154"/>
                <a:chOff x="2427" y="3576"/>
                <a:chExt cx="453" cy="202"/>
              </a:xfrm>
            </p:grpSpPr>
            <p:grpSp>
              <p:nvGrpSpPr>
                <p:cNvPr id="112" name="Group 46"/>
                <p:cNvGrpSpPr>
                  <a:grpSpLocks/>
                </p:cNvGrpSpPr>
                <p:nvPr/>
              </p:nvGrpSpPr>
              <p:grpSpPr bwMode="auto">
                <a:xfrm rot="10800000">
                  <a:off x="2464" y="3624"/>
                  <a:ext cx="331" cy="154"/>
                  <a:chOff x="336" y="3203"/>
                  <a:chExt cx="403" cy="193"/>
                </a:xfrm>
              </p:grpSpPr>
              <p:sp>
                <p:nvSpPr>
                  <p:cNvPr id="118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339" y="3298"/>
                    <a:ext cx="97" cy="94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de-DE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9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97" y="3201"/>
                    <a:ext cx="97" cy="94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de-DE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20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646" y="3298"/>
                    <a:ext cx="97" cy="94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de-DE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113" name="Group 50"/>
                <p:cNvGrpSpPr>
                  <a:grpSpLocks/>
                </p:cNvGrpSpPr>
                <p:nvPr/>
              </p:nvGrpSpPr>
              <p:grpSpPr bwMode="auto">
                <a:xfrm>
                  <a:off x="2427" y="3576"/>
                  <a:ext cx="453" cy="202"/>
                  <a:chOff x="2427" y="3576"/>
                  <a:chExt cx="453" cy="202"/>
                </a:xfrm>
              </p:grpSpPr>
              <p:sp>
                <p:nvSpPr>
                  <p:cNvPr id="114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2427" y="3592"/>
                    <a:ext cx="0" cy="18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115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2814" y="3576"/>
                    <a:ext cx="66" cy="201"/>
                    <a:chOff x="522" y="3204"/>
                    <a:chExt cx="66" cy="201"/>
                  </a:xfrm>
                </p:grpSpPr>
                <p:sp>
                  <p:nvSpPr>
                    <p:cNvPr id="116" name="Line 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2" y="3204"/>
                      <a:ext cx="66" cy="10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17" name="Line 5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30" y="3300"/>
                      <a:ext cx="57" cy="10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102" name="Group 55"/>
              <p:cNvGrpSpPr>
                <a:grpSpLocks/>
              </p:cNvGrpSpPr>
              <p:nvPr/>
            </p:nvGrpSpPr>
            <p:grpSpPr bwMode="auto">
              <a:xfrm>
                <a:off x="2919" y="3560"/>
                <a:ext cx="331" cy="153"/>
                <a:chOff x="2914" y="3565"/>
                <a:chExt cx="331" cy="153"/>
              </a:xfrm>
            </p:grpSpPr>
            <p:grpSp>
              <p:nvGrpSpPr>
                <p:cNvPr id="103" name="Group 56"/>
                <p:cNvGrpSpPr>
                  <a:grpSpLocks/>
                </p:cNvGrpSpPr>
                <p:nvPr/>
              </p:nvGrpSpPr>
              <p:grpSpPr bwMode="auto">
                <a:xfrm>
                  <a:off x="2947" y="3586"/>
                  <a:ext cx="241" cy="117"/>
                  <a:chOff x="336" y="3203"/>
                  <a:chExt cx="403" cy="193"/>
                </a:xfrm>
              </p:grpSpPr>
              <p:sp>
                <p:nvSpPr>
                  <p:cNvPr id="109" name="Oval 57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3300"/>
                    <a:ext cx="95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de-DE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" name="Oval 58"/>
                  <p:cNvSpPr>
                    <a:spLocks noChangeArrowheads="1"/>
                  </p:cNvSpPr>
                  <p:nvPr/>
                </p:nvSpPr>
                <p:spPr bwMode="auto">
                  <a:xfrm>
                    <a:off x="493" y="3203"/>
                    <a:ext cx="97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de-DE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644" y="3300"/>
                    <a:ext cx="95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de-DE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104" name="Group 60"/>
                <p:cNvGrpSpPr>
                  <a:grpSpLocks/>
                </p:cNvGrpSpPr>
                <p:nvPr/>
              </p:nvGrpSpPr>
              <p:grpSpPr bwMode="auto">
                <a:xfrm>
                  <a:off x="2914" y="3565"/>
                  <a:ext cx="331" cy="153"/>
                  <a:chOff x="2427" y="3576"/>
                  <a:chExt cx="453" cy="202"/>
                </a:xfrm>
              </p:grpSpPr>
              <p:sp>
                <p:nvSpPr>
                  <p:cNvPr id="105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427" y="3592"/>
                    <a:ext cx="0" cy="18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106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2814" y="3576"/>
                    <a:ext cx="66" cy="201"/>
                    <a:chOff x="522" y="3204"/>
                    <a:chExt cx="66" cy="201"/>
                  </a:xfrm>
                </p:grpSpPr>
                <p:sp>
                  <p:nvSpPr>
                    <p:cNvPr id="107" name="Line 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2" y="3204"/>
                      <a:ext cx="66" cy="10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8" name="Line 6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30" y="3300"/>
                      <a:ext cx="57" cy="10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</p:grpSp>
      </p:grpSp>
      <p:grpSp>
        <p:nvGrpSpPr>
          <p:cNvPr id="7" name="Gruppieren 6"/>
          <p:cNvGrpSpPr/>
          <p:nvPr/>
        </p:nvGrpSpPr>
        <p:grpSpPr>
          <a:xfrm>
            <a:off x="4003107" y="5891140"/>
            <a:ext cx="2092366" cy="404929"/>
            <a:chOff x="4003107" y="5891140"/>
            <a:chExt cx="2092366" cy="404929"/>
          </a:xfrm>
        </p:grpSpPr>
        <p:grpSp>
          <p:nvGrpSpPr>
            <p:cNvPr id="86" name="Group 66"/>
            <p:cNvGrpSpPr>
              <a:grpSpLocks/>
            </p:cNvGrpSpPr>
            <p:nvPr/>
          </p:nvGrpSpPr>
          <p:grpSpPr bwMode="auto">
            <a:xfrm>
              <a:off x="4003107" y="5976982"/>
              <a:ext cx="525462" cy="244475"/>
              <a:chOff x="2427" y="3576"/>
              <a:chExt cx="453" cy="202"/>
            </a:xfrm>
          </p:grpSpPr>
          <p:sp>
            <p:nvSpPr>
              <p:cNvPr id="97" name="Line 67"/>
              <p:cNvSpPr>
                <a:spLocks noChangeShapeType="1"/>
              </p:cNvSpPr>
              <p:nvPr/>
            </p:nvSpPr>
            <p:spPr bwMode="auto">
              <a:xfrm>
                <a:off x="2427" y="3592"/>
                <a:ext cx="0" cy="1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98" name="Group 68"/>
              <p:cNvGrpSpPr>
                <a:grpSpLocks/>
              </p:cNvGrpSpPr>
              <p:nvPr/>
            </p:nvGrpSpPr>
            <p:grpSpPr bwMode="auto">
              <a:xfrm>
                <a:off x="2814" y="3576"/>
                <a:ext cx="66" cy="201"/>
                <a:chOff x="522" y="3204"/>
                <a:chExt cx="66" cy="201"/>
              </a:xfrm>
            </p:grpSpPr>
            <p:sp>
              <p:nvSpPr>
                <p:cNvPr id="99" name="Line 69"/>
                <p:cNvSpPr>
                  <a:spLocks noChangeShapeType="1"/>
                </p:cNvSpPr>
                <p:nvPr/>
              </p:nvSpPr>
              <p:spPr bwMode="auto">
                <a:xfrm>
                  <a:off x="522" y="3204"/>
                  <a:ext cx="66" cy="10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0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530" y="3300"/>
                  <a:ext cx="57" cy="10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45086" name="Text Box 65"/>
            <p:cNvSpPr txBox="1">
              <a:spLocks noChangeArrowheads="1"/>
            </p:cNvSpPr>
            <p:nvPr/>
          </p:nvSpPr>
          <p:spPr bwMode="auto">
            <a:xfrm>
              <a:off x="5267233" y="5891140"/>
              <a:ext cx="3317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grpSp>
          <p:nvGrpSpPr>
            <p:cNvPr id="45088" name="Group 71"/>
            <p:cNvGrpSpPr>
              <a:grpSpLocks/>
            </p:cNvGrpSpPr>
            <p:nvPr/>
          </p:nvGrpSpPr>
          <p:grpSpPr bwMode="auto">
            <a:xfrm flipV="1">
              <a:off x="5570011" y="5972651"/>
              <a:ext cx="525462" cy="247017"/>
              <a:chOff x="2914" y="3565"/>
              <a:chExt cx="331" cy="153"/>
            </a:xfrm>
          </p:grpSpPr>
          <p:grpSp>
            <p:nvGrpSpPr>
              <p:cNvPr id="45089" name="Group 72"/>
              <p:cNvGrpSpPr>
                <a:grpSpLocks/>
              </p:cNvGrpSpPr>
              <p:nvPr/>
            </p:nvGrpSpPr>
            <p:grpSpPr bwMode="auto">
              <a:xfrm>
                <a:off x="2947" y="3586"/>
                <a:ext cx="241" cy="117"/>
                <a:chOff x="336" y="3203"/>
                <a:chExt cx="403" cy="193"/>
              </a:xfrm>
            </p:grpSpPr>
            <p:sp>
              <p:nvSpPr>
                <p:cNvPr id="1710153" name="Oval 73"/>
                <p:cNvSpPr>
                  <a:spLocks noChangeArrowheads="1"/>
                </p:cNvSpPr>
                <p:nvPr/>
              </p:nvSpPr>
              <p:spPr bwMode="auto">
                <a:xfrm>
                  <a:off x="336" y="3300"/>
                  <a:ext cx="95" cy="9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5096" name="Oval 74"/>
                <p:cNvSpPr>
                  <a:spLocks noChangeArrowheads="1"/>
                </p:cNvSpPr>
                <p:nvPr/>
              </p:nvSpPr>
              <p:spPr bwMode="auto">
                <a:xfrm>
                  <a:off x="494" y="3203"/>
                  <a:ext cx="96" cy="96"/>
                </a:xfrm>
                <a:prstGeom prst="ellipse">
                  <a:avLst/>
                </a:prstGeom>
                <a:blipFill dpi="0" rotWithShape="0">
                  <a:blip r:embed="rId12"/>
                  <a:srcRect/>
                  <a:tile tx="0" ty="0" sx="100000" sy="100000" flip="none" algn="tl"/>
                </a:blipFill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10155" name="Oval 75"/>
                <p:cNvSpPr>
                  <a:spLocks noChangeArrowheads="1"/>
                </p:cNvSpPr>
                <p:nvPr/>
              </p:nvSpPr>
              <p:spPr bwMode="auto">
                <a:xfrm>
                  <a:off x="644" y="3300"/>
                  <a:ext cx="95" cy="9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de-DE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45090" name="Group 76"/>
              <p:cNvGrpSpPr>
                <a:grpSpLocks/>
              </p:cNvGrpSpPr>
              <p:nvPr/>
            </p:nvGrpSpPr>
            <p:grpSpPr bwMode="auto">
              <a:xfrm>
                <a:off x="2914" y="3565"/>
                <a:ext cx="331" cy="153"/>
                <a:chOff x="2427" y="3576"/>
                <a:chExt cx="453" cy="202"/>
              </a:xfrm>
            </p:grpSpPr>
            <p:sp>
              <p:nvSpPr>
                <p:cNvPr id="45091" name="Line 77"/>
                <p:cNvSpPr>
                  <a:spLocks noChangeShapeType="1"/>
                </p:cNvSpPr>
                <p:nvPr/>
              </p:nvSpPr>
              <p:spPr bwMode="auto">
                <a:xfrm>
                  <a:off x="2427" y="3592"/>
                  <a:ext cx="0" cy="18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45092" name="Group 78"/>
                <p:cNvGrpSpPr>
                  <a:grpSpLocks/>
                </p:cNvGrpSpPr>
                <p:nvPr/>
              </p:nvGrpSpPr>
              <p:grpSpPr bwMode="auto">
                <a:xfrm>
                  <a:off x="2814" y="3576"/>
                  <a:ext cx="66" cy="201"/>
                  <a:chOff x="522" y="3204"/>
                  <a:chExt cx="66" cy="201"/>
                </a:xfrm>
              </p:grpSpPr>
              <p:sp>
                <p:nvSpPr>
                  <p:cNvPr id="45093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522" y="3204"/>
                    <a:ext cx="66" cy="10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45094" name="Line 8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0" y="3300"/>
                    <a:ext cx="57" cy="10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82" name="Group 39"/>
            <p:cNvGrpSpPr>
              <a:grpSpLocks/>
            </p:cNvGrpSpPr>
            <p:nvPr/>
          </p:nvGrpSpPr>
          <p:grpSpPr bwMode="auto">
            <a:xfrm>
              <a:off x="4053907" y="6038894"/>
              <a:ext cx="400050" cy="107950"/>
              <a:chOff x="555" y="3761"/>
              <a:chExt cx="331" cy="82"/>
            </a:xfrm>
          </p:grpSpPr>
          <p:sp>
            <p:nvSpPr>
              <p:cNvPr id="121" name="Oval 40"/>
              <p:cNvSpPr>
                <a:spLocks noChangeArrowheads="1"/>
              </p:cNvSpPr>
              <p:nvPr/>
            </p:nvSpPr>
            <p:spPr bwMode="auto">
              <a:xfrm>
                <a:off x="555" y="3766"/>
                <a:ext cx="79" cy="77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122" name="Oval 41"/>
              <p:cNvSpPr>
                <a:spLocks noChangeArrowheads="1"/>
              </p:cNvSpPr>
              <p:nvPr/>
            </p:nvSpPr>
            <p:spPr bwMode="auto">
              <a:xfrm>
                <a:off x="682" y="3761"/>
                <a:ext cx="79" cy="77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123" name="Oval 42"/>
              <p:cNvSpPr>
                <a:spLocks noChangeArrowheads="1"/>
              </p:cNvSpPr>
              <p:nvPr/>
            </p:nvSpPr>
            <p:spPr bwMode="auto">
              <a:xfrm>
                <a:off x="807" y="3766"/>
                <a:ext cx="79" cy="77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5" name="Text Box 65"/>
            <p:cNvSpPr txBox="1">
              <a:spLocks noChangeArrowheads="1"/>
            </p:cNvSpPr>
            <p:nvPr/>
          </p:nvSpPr>
          <p:spPr bwMode="auto">
            <a:xfrm>
              <a:off x="4476182" y="5899194"/>
              <a:ext cx="3317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rect">
                      <a:fillToRect r="100000" b="10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grpSp>
          <p:nvGrpSpPr>
            <p:cNvPr id="87" name="Group 71"/>
            <p:cNvGrpSpPr>
              <a:grpSpLocks/>
            </p:cNvGrpSpPr>
            <p:nvPr/>
          </p:nvGrpSpPr>
          <p:grpSpPr bwMode="auto">
            <a:xfrm>
              <a:off x="4784157" y="5964282"/>
              <a:ext cx="525462" cy="242888"/>
              <a:chOff x="2914" y="3565"/>
              <a:chExt cx="331" cy="153"/>
            </a:xfrm>
          </p:grpSpPr>
          <p:grpSp>
            <p:nvGrpSpPr>
              <p:cNvPr id="88" name="Group 72"/>
              <p:cNvGrpSpPr>
                <a:grpSpLocks/>
              </p:cNvGrpSpPr>
              <p:nvPr/>
            </p:nvGrpSpPr>
            <p:grpSpPr bwMode="auto">
              <a:xfrm>
                <a:off x="2947" y="3586"/>
                <a:ext cx="241" cy="117"/>
                <a:chOff x="336" y="3203"/>
                <a:chExt cx="403" cy="193"/>
              </a:xfrm>
            </p:grpSpPr>
            <p:sp>
              <p:nvSpPr>
                <p:cNvPr id="94" name="Oval 73"/>
                <p:cNvSpPr>
                  <a:spLocks noChangeArrowheads="1"/>
                </p:cNvSpPr>
                <p:nvPr/>
              </p:nvSpPr>
              <p:spPr bwMode="auto">
                <a:xfrm>
                  <a:off x="336" y="3300"/>
                  <a:ext cx="95" cy="9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5" name="Oval 74"/>
                <p:cNvSpPr>
                  <a:spLocks noChangeArrowheads="1"/>
                </p:cNvSpPr>
                <p:nvPr/>
              </p:nvSpPr>
              <p:spPr bwMode="auto">
                <a:xfrm>
                  <a:off x="494" y="3203"/>
                  <a:ext cx="96" cy="96"/>
                </a:xfrm>
                <a:prstGeom prst="ellipse">
                  <a:avLst/>
                </a:prstGeom>
                <a:blipFill dpi="0" rotWithShape="0">
                  <a:blip r:embed="rId12"/>
                  <a:srcRect/>
                  <a:tile tx="0" ty="0" sx="100000" sy="100000" flip="none" algn="tl"/>
                </a:blipFill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6" name="Oval 75"/>
                <p:cNvSpPr>
                  <a:spLocks noChangeArrowheads="1"/>
                </p:cNvSpPr>
                <p:nvPr/>
              </p:nvSpPr>
              <p:spPr bwMode="auto">
                <a:xfrm>
                  <a:off x="644" y="3300"/>
                  <a:ext cx="95" cy="9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de-DE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89" name="Group 76"/>
              <p:cNvGrpSpPr>
                <a:grpSpLocks/>
              </p:cNvGrpSpPr>
              <p:nvPr/>
            </p:nvGrpSpPr>
            <p:grpSpPr bwMode="auto">
              <a:xfrm>
                <a:off x="2914" y="3565"/>
                <a:ext cx="331" cy="153"/>
                <a:chOff x="2427" y="3576"/>
                <a:chExt cx="453" cy="202"/>
              </a:xfrm>
            </p:grpSpPr>
            <p:sp>
              <p:nvSpPr>
                <p:cNvPr id="90" name="Line 77"/>
                <p:cNvSpPr>
                  <a:spLocks noChangeShapeType="1"/>
                </p:cNvSpPr>
                <p:nvPr/>
              </p:nvSpPr>
              <p:spPr bwMode="auto">
                <a:xfrm>
                  <a:off x="2427" y="3592"/>
                  <a:ext cx="0" cy="18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91" name="Group 78"/>
                <p:cNvGrpSpPr>
                  <a:grpSpLocks/>
                </p:cNvGrpSpPr>
                <p:nvPr/>
              </p:nvGrpSpPr>
              <p:grpSpPr bwMode="auto">
                <a:xfrm>
                  <a:off x="2814" y="3576"/>
                  <a:ext cx="66" cy="201"/>
                  <a:chOff x="522" y="3204"/>
                  <a:chExt cx="66" cy="201"/>
                </a:xfrm>
              </p:grpSpPr>
              <p:sp>
                <p:nvSpPr>
                  <p:cNvPr id="92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522" y="3204"/>
                    <a:ext cx="66" cy="10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93" name="Line 8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0" y="3300"/>
                    <a:ext cx="57" cy="10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</p:grpSp>
      <p:pic>
        <p:nvPicPr>
          <p:cNvPr id="3" name="Grafik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98076">
            <a:off x="5539702" y="1447756"/>
            <a:ext cx="3086100" cy="1485900"/>
          </a:xfrm>
          <a:prstGeom prst="rect">
            <a:avLst/>
          </a:prstGeom>
          <a:ln w="57150">
            <a:solidFill>
              <a:schemeClr val="accent2"/>
            </a:solidFill>
          </a:ln>
        </p:spPr>
      </p:pic>
      <p:sp>
        <p:nvSpPr>
          <p:cNvPr id="124" name="Text Box 23"/>
          <p:cNvSpPr txBox="1">
            <a:spLocks noChangeArrowheads="1"/>
          </p:cNvSpPr>
          <p:nvPr/>
        </p:nvSpPr>
        <p:spPr bwMode="auto">
          <a:xfrm>
            <a:off x="686964" y="172364"/>
            <a:ext cx="69389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de-DE" dirty="0" smtClean="0">
                <a:solidFill>
                  <a:schemeClr val="bg1"/>
                </a:solidFill>
                <a:latin typeface="Arial" panose="020B0604020202020204" pitchFamily="34" charset="0"/>
              </a:rPr>
              <a:t>structural quantum phase-transition</a:t>
            </a:r>
            <a:endParaRPr lang="en-US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eader-ERC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1209675"/>
            <a:ext cx="165735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083" name="Group 3"/>
          <p:cNvGrpSpPr>
            <a:grpSpLocks/>
          </p:cNvGrpSpPr>
          <p:nvPr/>
        </p:nvGrpSpPr>
        <p:grpSpPr bwMode="auto">
          <a:xfrm>
            <a:off x="1268413" y="1916113"/>
            <a:ext cx="6256337" cy="4191000"/>
            <a:chOff x="912" y="240"/>
            <a:chExt cx="3936" cy="2640"/>
          </a:xfrm>
        </p:grpSpPr>
        <p:pic>
          <p:nvPicPr>
            <p:cNvPr id="46189" name="Picture 4" descr="foto-8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288"/>
              <a:ext cx="3840" cy="2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190" name="Rectangle 5"/>
            <p:cNvSpPr>
              <a:spLocks noChangeArrowheads="1"/>
            </p:cNvSpPr>
            <p:nvPr/>
          </p:nvSpPr>
          <p:spPr bwMode="auto">
            <a:xfrm>
              <a:off x="912" y="240"/>
              <a:ext cx="720" cy="2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191" name="Rectangle 6"/>
            <p:cNvSpPr>
              <a:spLocks noChangeArrowheads="1"/>
            </p:cNvSpPr>
            <p:nvPr/>
          </p:nvSpPr>
          <p:spPr bwMode="auto">
            <a:xfrm>
              <a:off x="4080" y="240"/>
              <a:ext cx="768" cy="2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6084" name="Line 7"/>
          <p:cNvSpPr>
            <a:spLocks noChangeShapeType="1"/>
          </p:cNvSpPr>
          <p:nvPr/>
        </p:nvSpPr>
        <p:spPr bwMode="auto">
          <a:xfrm>
            <a:off x="0" y="762000"/>
            <a:ext cx="88392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5" name="Rectangle 8"/>
          <p:cNvSpPr>
            <a:spLocks noChangeArrowheads="1"/>
          </p:cNvSpPr>
          <p:nvPr/>
        </p:nvSpPr>
        <p:spPr bwMode="auto">
          <a:xfrm>
            <a:off x="304800" y="949325"/>
            <a:ext cx="8228013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2000" b="1">
                <a:solidFill>
                  <a:srgbClr val="000000"/>
                </a:solidFill>
              </a:rPr>
              <a:t/>
            </a:r>
            <a:br>
              <a:rPr lang="en-US" altLang="de-DE" sz="2000" b="1">
                <a:solidFill>
                  <a:srgbClr val="000000"/>
                </a:solidFill>
              </a:rPr>
            </a:br>
            <a:endParaRPr lang="en-US" altLang="de-DE" b="1">
              <a:solidFill>
                <a:srgbClr val="000000"/>
              </a:solidFill>
            </a:endParaRPr>
          </a:p>
        </p:txBody>
      </p:sp>
      <p:grpSp>
        <p:nvGrpSpPr>
          <p:cNvPr id="46086" name="Group 9"/>
          <p:cNvGrpSpPr>
            <a:grpSpLocks/>
          </p:cNvGrpSpPr>
          <p:nvPr/>
        </p:nvGrpSpPr>
        <p:grpSpPr bwMode="auto">
          <a:xfrm>
            <a:off x="1447800" y="228600"/>
            <a:ext cx="6072188" cy="395288"/>
            <a:chOff x="867" y="1757"/>
            <a:chExt cx="3825" cy="249"/>
          </a:xfrm>
        </p:grpSpPr>
        <p:sp>
          <p:nvSpPr>
            <p:cNvPr id="46160" name="Freeform 10"/>
            <p:cNvSpPr>
              <a:spLocks/>
            </p:cNvSpPr>
            <p:nvPr/>
          </p:nvSpPr>
          <p:spPr bwMode="auto">
            <a:xfrm>
              <a:off x="1883" y="1757"/>
              <a:ext cx="303" cy="136"/>
            </a:xfrm>
            <a:custGeom>
              <a:avLst/>
              <a:gdLst>
                <a:gd name="T0" fmla="*/ 0 w 684"/>
                <a:gd name="T1" fmla="*/ 37 h 286"/>
                <a:gd name="T2" fmla="*/ 20 w 684"/>
                <a:gd name="T3" fmla="*/ 6 h 286"/>
                <a:gd name="T4" fmla="*/ 43 w 684"/>
                <a:gd name="T5" fmla="*/ 63 h 286"/>
                <a:gd name="T6" fmla="*/ 67 w 684"/>
                <a:gd name="T7" fmla="*/ 0 h 286"/>
                <a:gd name="T8" fmla="*/ 91 w 684"/>
                <a:gd name="T9" fmla="*/ 64 h 286"/>
                <a:gd name="T10" fmla="*/ 113 w 684"/>
                <a:gd name="T11" fmla="*/ 4 h 286"/>
                <a:gd name="T12" fmla="*/ 134 w 684"/>
                <a:gd name="T13" fmla="*/ 42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161" name="Freeform 11"/>
            <p:cNvSpPr>
              <a:spLocks/>
            </p:cNvSpPr>
            <p:nvPr/>
          </p:nvSpPr>
          <p:spPr bwMode="auto">
            <a:xfrm>
              <a:off x="1350" y="1772"/>
              <a:ext cx="333" cy="121"/>
            </a:xfrm>
            <a:custGeom>
              <a:avLst/>
              <a:gdLst>
                <a:gd name="T0" fmla="*/ 0 w 684"/>
                <a:gd name="T1" fmla="*/ 29 h 286"/>
                <a:gd name="T2" fmla="*/ 24 w 684"/>
                <a:gd name="T3" fmla="*/ 5 h 286"/>
                <a:gd name="T4" fmla="*/ 51 w 684"/>
                <a:gd name="T5" fmla="*/ 50 h 286"/>
                <a:gd name="T6" fmla="*/ 81 w 684"/>
                <a:gd name="T7" fmla="*/ 0 h 286"/>
                <a:gd name="T8" fmla="*/ 110 w 684"/>
                <a:gd name="T9" fmla="*/ 51 h 286"/>
                <a:gd name="T10" fmla="*/ 136 w 684"/>
                <a:gd name="T11" fmla="*/ 3 h 286"/>
                <a:gd name="T12" fmla="*/ 162 w 684"/>
                <a:gd name="T13" fmla="*/ 33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6162" name="Group 12"/>
            <p:cNvGrpSpPr>
              <a:grpSpLocks/>
            </p:cNvGrpSpPr>
            <p:nvPr/>
          </p:nvGrpSpPr>
          <p:grpSpPr bwMode="auto">
            <a:xfrm>
              <a:off x="1205" y="1772"/>
              <a:ext cx="121" cy="214"/>
              <a:chOff x="1785" y="3516"/>
              <a:chExt cx="240" cy="432"/>
            </a:xfrm>
          </p:grpSpPr>
          <p:sp>
            <p:nvSpPr>
              <p:cNvPr id="1652749" name="AutoShape 13"/>
              <p:cNvSpPr>
                <a:spLocks noChangeArrowheads="1"/>
              </p:cNvSpPr>
              <p:nvPr/>
            </p:nvSpPr>
            <p:spPr bwMode="auto">
              <a:xfrm flipV="1">
                <a:off x="1825" y="3516"/>
                <a:ext cx="143" cy="432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1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6188" name="Oval 14"/>
              <p:cNvSpPr>
                <a:spLocks noChangeArrowheads="1"/>
              </p:cNvSpPr>
              <p:nvPr/>
            </p:nvSpPr>
            <p:spPr bwMode="auto">
              <a:xfrm flipV="1">
                <a:off x="1785" y="3564"/>
                <a:ext cx="240" cy="240"/>
              </a:xfrm>
              <a:prstGeom prst="ellipse">
                <a:avLst/>
              </a:prstGeom>
              <a:gradFill rotWithShape="1">
                <a:gsLst>
                  <a:gs pos="0">
                    <a:srgbClr val="0066FF"/>
                  </a:gs>
                  <a:gs pos="100000">
                    <a:srgbClr val="002F7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163" name="Group 15"/>
            <p:cNvGrpSpPr>
              <a:grpSpLocks/>
            </p:cNvGrpSpPr>
            <p:nvPr/>
          </p:nvGrpSpPr>
          <p:grpSpPr bwMode="auto">
            <a:xfrm>
              <a:off x="2221" y="1772"/>
              <a:ext cx="121" cy="214"/>
              <a:chOff x="1785" y="3516"/>
              <a:chExt cx="240" cy="432"/>
            </a:xfrm>
          </p:grpSpPr>
          <p:sp>
            <p:nvSpPr>
              <p:cNvPr id="1652752" name="AutoShape 16"/>
              <p:cNvSpPr>
                <a:spLocks noChangeArrowheads="1"/>
              </p:cNvSpPr>
              <p:nvPr/>
            </p:nvSpPr>
            <p:spPr bwMode="auto">
              <a:xfrm flipV="1">
                <a:off x="1825" y="3516"/>
                <a:ext cx="143" cy="432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1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6186" name="Oval 17"/>
              <p:cNvSpPr>
                <a:spLocks noChangeArrowheads="1"/>
              </p:cNvSpPr>
              <p:nvPr/>
            </p:nvSpPr>
            <p:spPr bwMode="auto">
              <a:xfrm flipV="1">
                <a:off x="1785" y="3564"/>
                <a:ext cx="240" cy="240"/>
              </a:xfrm>
              <a:prstGeom prst="ellipse">
                <a:avLst/>
              </a:prstGeom>
              <a:gradFill rotWithShape="1">
                <a:gsLst>
                  <a:gs pos="0">
                    <a:srgbClr val="0066FF"/>
                  </a:gs>
                  <a:gs pos="100000">
                    <a:srgbClr val="002F7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164" name="Freeform 18"/>
            <p:cNvSpPr>
              <a:spLocks/>
            </p:cNvSpPr>
            <p:nvPr/>
          </p:nvSpPr>
          <p:spPr bwMode="auto">
            <a:xfrm>
              <a:off x="867" y="1772"/>
              <a:ext cx="303" cy="136"/>
            </a:xfrm>
            <a:custGeom>
              <a:avLst/>
              <a:gdLst>
                <a:gd name="T0" fmla="*/ 0 w 684"/>
                <a:gd name="T1" fmla="*/ 37 h 286"/>
                <a:gd name="T2" fmla="*/ 20 w 684"/>
                <a:gd name="T3" fmla="*/ 6 h 286"/>
                <a:gd name="T4" fmla="*/ 43 w 684"/>
                <a:gd name="T5" fmla="*/ 63 h 286"/>
                <a:gd name="T6" fmla="*/ 67 w 684"/>
                <a:gd name="T7" fmla="*/ 0 h 286"/>
                <a:gd name="T8" fmla="*/ 91 w 684"/>
                <a:gd name="T9" fmla="*/ 64 h 286"/>
                <a:gd name="T10" fmla="*/ 113 w 684"/>
                <a:gd name="T11" fmla="*/ 4 h 286"/>
                <a:gd name="T12" fmla="*/ 134 w 684"/>
                <a:gd name="T13" fmla="*/ 42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165" name="Freeform 19"/>
            <p:cNvSpPr>
              <a:spLocks/>
            </p:cNvSpPr>
            <p:nvPr/>
          </p:nvSpPr>
          <p:spPr bwMode="auto">
            <a:xfrm>
              <a:off x="3889" y="1783"/>
              <a:ext cx="303" cy="136"/>
            </a:xfrm>
            <a:custGeom>
              <a:avLst/>
              <a:gdLst>
                <a:gd name="T0" fmla="*/ 0 w 684"/>
                <a:gd name="T1" fmla="*/ 37 h 286"/>
                <a:gd name="T2" fmla="*/ 20 w 684"/>
                <a:gd name="T3" fmla="*/ 6 h 286"/>
                <a:gd name="T4" fmla="*/ 43 w 684"/>
                <a:gd name="T5" fmla="*/ 63 h 286"/>
                <a:gd name="T6" fmla="*/ 67 w 684"/>
                <a:gd name="T7" fmla="*/ 0 h 286"/>
                <a:gd name="T8" fmla="*/ 91 w 684"/>
                <a:gd name="T9" fmla="*/ 64 h 286"/>
                <a:gd name="T10" fmla="*/ 113 w 684"/>
                <a:gd name="T11" fmla="*/ 4 h 286"/>
                <a:gd name="T12" fmla="*/ 134 w 684"/>
                <a:gd name="T13" fmla="*/ 42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6166" name="Group 20"/>
            <p:cNvGrpSpPr>
              <a:grpSpLocks/>
            </p:cNvGrpSpPr>
            <p:nvPr/>
          </p:nvGrpSpPr>
          <p:grpSpPr bwMode="auto">
            <a:xfrm>
              <a:off x="1722" y="1774"/>
              <a:ext cx="121" cy="214"/>
              <a:chOff x="1785" y="3516"/>
              <a:chExt cx="240" cy="432"/>
            </a:xfrm>
          </p:grpSpPr>
          <p:sp>
            <p:nvSpPr>
              <p:cNvPr id="1652757" name="AutoShape 21"/>
              <p:cNvSpPr>
                <a:spLocks noChangeArrowheads="1"/>
              </p:cNvSpPr>
              <p:nvPr/>
            </p:nvSpPr>
            <p:spPr bwMode="auto">
              <a:xfrm flipV="1">
                <a:off x="1825" y="3516"/>
                <a:ext cx="143" cy="432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1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6184" name="Oval 22"/>
              <p:cNvSpPr>
                <a:spLocks noChangeArrowheads="1"/>
              </p:cNvSpPr>
              <p:nvPr/>
            </p:nvSpPr>
            <p:spPr bwMode="auto">
              <a:xfrm flipV="1">
                <a:off x="1785" y="3564"/>
                <a:ext cx="240" cy="240"/>
              </a:xfrm>
              <a:prstGeom prst="ellipse">
                <a:avLst/>
              </a:prstGeom>
              <a:gradFill rotWithShape="1">
                <a:gsLst>
                  <a:gs pos="0">
                    <a:srgbClr val="0066FF"/>
                  </a:gs>
                  <a:gs pos="100000">
                    <a:srgbClr val="002F7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167" name="Freeform 23"/>
            <p:cNvSpPr>
              <a:spLocks/>
            </p:cNvSpPr>
            <p:nvPr/>
          </p:nvSpPr>
          <p:spPr bwMode="auto">
            <a:xfrm>
              <a:off x="3394" y="1775"/>
              <a:ext cx="303" cy="136"/>
            </a:xfrm>
            <a:custGeom>
              <a:avLst/>
              <a:gdLst>
                <a:gd name="T0" fmla="*/ 0 w 684"/>
                <a:gd name="T1" fmla="*/ 37 h 286"/>
                <a:gd name="T2" fmla="*/ 20 w 684"/>
                <a:gd name="T3" fmla="*/ 6 h 286"/>
                <a:gd name="T4" fmla="*/ 43 w 684"/>
                <a:gd name="T5" fmla="*/ 63 h 286"/>
                <a:gd name="T6" fmla="*/ 67 w 684"/>
                <a:gd name="T7" fmla="*/ 0 h 286"/>
                <a:gd name="T8" fmla="*/ 91 w 684"/>
                <a:gd name="T9" fmla="*/ 64 h 286"/>
                <a:gd name="T10" fmla="*/ 113 w 684"/>
                <a:gd name="T11" fmla="*/ 4 h 286"/>
                <a:gd name="T12" fmla="*/ 134 w 684"/>
                <a:gd name="T13" fmla="*/ 42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168" name="Freeform 24"/>
            <p:cNvSpPr>
              <a:spLocks/>
            </p:cNvSpPr>
            <p:nvPr/>
          </p:nvSpPr>
          <p:spPr bwMode="auto">
            <a:xfrm>
              <a:off x="2861" y="1790"/>
              <a:ext cx="333" cy="121"/>
            </a:xfrm>
            <a:custGeom>
              <a:avLst/>
              <a:gdLst>
                <a:gd name="T0" fmla="*/ 0 w 684"/>
                <a:gd name="T1" fmla="*/ 29 h 286"/>
                <a:gd name="T2" fmla="*/ 24 w 684"/>
                <a:gd name="T3" fmla="*/ 5 h 286"/>
                <a:gd name="T4" fmla="*/ 51 w 684"/>
                <a:gd name="T5" fmla="*/ 50 h 286"/>
                <a:gd name="T6" fmla="*/ 81 w 684"/>
                <a:gd name="T7" fmla="*/ 0 h 286"/>
                <a:gd name="T8" fmla="*/ 110 w 684"/>
                <a:gd name="T9" fmla="*/ 51 h 286"/>
                <a:gd name="T10" fmla="*/ 136 w 684"/>
                <a:gd name="T11" fmla="*/ 3 h 286"/>
                <a:gd name="T12" fmla="*/ 162 w 684"/>
                <a:gd name="T13" fmla="*/ 33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6169" name="Group 25"/>
            <p:cNvGrpSpPr>
              <a:grpSpLocks/>
            </p:cNvGrpSpPr>
            <p:nvPr/>
          </p:nvGrpSpPr>
          <p:grpSpPr bwMode="auto">
            <a:xfrm>
              <a:off x="2716" y="1790"/>
              <a:ext cx="121" cy="214"/>
              <a:chOff x="1785" y="3516"/>
              <a:chExt cx="240" cy="432"/>
            </a:xfrm>
          </p:grpSpPr>
          <p:sp>
            <p:nvSpPr>
              <p:cNvPr id="1652762" name="AutoShape 26"/>
              <p:cNvSpPr>
                <a:spLocks noChangeArrowheads="1"/>
              </p:cNvSpPr>
              <p:nvPr/>
            </p:nvSpPr>
            <p:spPr bwMode="auto">
              <a:xfrm flipV="1">
                <a:off x="1825" y="3516"/>
                <a:ext cx="143" cy="432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1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6182" name="Oval 27"/>
              <p:cNvSpPr>
                <a:spLocks noChangeArrowheads="1"/>
              </p:cNvSpPr>
              <p:nvPr/>
            </p:nvSpPr>
            <p:spPr bwMode="auto">
              <a:xfrm flipV="1">
                <a:off x="1785" y="3564"/>
                <a:ext cx="240" cy="240"/>
              </a:xfrm>
              <a:prstGeom prst="ellipse">
                <a:avLst/>
              </a:prstGeom>
              <a:gradFill rotWithShape="1">
                <a:gsLst>
                  <a:gs pos="0">
                    <a:srgbClr val="0066FF"/>
                  </a:gs>
                  <a:gs pos="100000">
                    <a:srgbClr val="002F7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170" name="Group 28"/>
            <p:cNvGrpSpPr>
              <a:grpSpLocks/>
            </p:cNvGrpSpPr>
            <p:nvPr/>
          </p:nvGrpSpPr>
          <p:grpSpPr bwMode="auto">
            <a:xfrm>
              <a:off x="3732" y="1790"/>
              <a:ext cx="121" cy="214"/>
              <a:chOff x="1785" y="3516"/>
              <a:chExt cx="240" cy="432"/>
            </a:xfrm>
          </p:grpSpPr>
          <p:sp>
            <p:nvSpPr>
              <p:cNvPr id="1652765" name="AutoShape 29"/>
              <p:cNvSpPr>
                <a:spLocks noChangeArrowheads="1"/>
              </p:cNvSpPr>
              <p:nvPr/>
            </p:nvSpPr>
            <p:spPr bwMode="auto">
              <a:xfrm flipV="1">
                <a:off x="1825" y="3516"/>
                <a:ext cx="143" cy="432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1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6180" name="Oval 30"/>
              <p:cNvSpPr>
                <a:spLocks noChangeArrowheads="1"/>
              </p:cNvSpPr>
              <p:nvPr/>
            </p:nvSpPr>
            <p:spPr bwMode="auto">
              <a:xfrm flipV="1">
                <a:off x="1785" y="3564"/>
                <a:ext cx="240" cy="240"/>
              </a:xfrm>
              <a:prstGeom prst="ellipse">
                <a:avLst/>
              </a:prstGeom>
              <a:gradFill rotWithShape="1">
                <a:gsLst>
                  <a:gs pos="0">
                    <a:srgbClr val="0066FF"/>
                  </a:gs>
                  <a:gs pos="100000">
                    <a:srgbClr val="002F7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171" name="Freeform 31"/>
            <p:cNvSpPr>
              <a:spLocks/>
            </p:cNvSpPr>
            <p:nvPr/>
          </p:nvSpPr>
          <p:spPr bwMode="auto">
            <a:xfrm>
              <a:off x="2378" y="1790"/>
              <a:ext cx="303" cy="136"/>
            </a:xfrm>
            <a:custGeom>
              <a:avLst/>
              <a:gdLst>
                <a:gd name="T0" fmla="*/ 0 w 684"/>
                <a:gd name="T1" fmla="*/ 37 h 286"/>
                <a:gd name="T2" fmla="*/ 20 w 684"/>
                <a:gd name="T3" fmla="*/ 6 h 286"/>
                <a:gd name="T4" fmla="*/ 43 w 684"/>
                <a:gd name="T5" fmla="*/ 63 h 286"/>
                <a:gd name="T6" fmla="*/ 67 w 684"/>
                <a:gd name="T7" fmla="*/ 0 h 286"/>
                <a:gd name="T8" fmla="*/ 91 w 684"/>
                <a:gd name="T9" fmla="*/ 64 h 286"/>
                <a:gd name="T10" fmla="*/ 113 w 684"/>
                <a:gd name="T11" fmla="*/ 4 h 286"/>
                <a:gd name="T12" fmla="*/ 134 w 684"/>
                <a:gd name="T13" fmla="*/ 42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6172" name="Group 32"/>
            <p:cNvGrpSpPr>
              <a:grpSpLocks/>
            </p:cNvGrpSpPr>
            <p:nvPr/>
          </p:nvGrpSpPr>
          <p:grpSpPr bwMode="auto">
            <a:xfrm>
              <a:off x="3233" y="1792"/>
              <a:ext cx="121" cy="214"/>
              <a:chOff x="1785" y="3516"/>
              <a:chExt cx="240" cy="432"/>
            </a:xfrm>
          </p:grpSpPr>
          <p:sp>
            <p:nvSpPr>
              <p:cNvPr id="1652769" name="AutoShape 33"/>
              <p:cNvSpPr>
                <a:spLocks noChangeArrowheads="1"/>
              </p:cNvSpPr>
              <p:nvPr/>
            </p:nvSpPr>
            <p:spPr bwMode="auto">
              <a:xfrm flipV="1">
                <a:off x="1825" y="3516"/>
                <a:ext cx="143" cy="432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1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6178" name="Oval 34"/>
              <p:cNvSpPr>
                <a:spLocks noChangeArrowheads="1"/>
              </p:cNvSpPr>
              <p:nvPr/>
            </p:nvSpPr>
            <p:spPr bwMode="auto">
              <a:xfrm flipV="1">
                <a:off x="1785" y="3564"/>
                <a:ext cx="240" cy="240"/>
              </a:xfrm>
              <a:prstGeom prst="ellipse">
                <a:avLst/>
              </a:prstGeom>
              <a:gradFill rotWithShape="1">
                <a:gsLst>
                  <a:gs pos="0">
                    <a:srgbClr val="0066FF"/>
                  </a:gs>
                  <a:gs pos="100000">
                    <a:srgbClr val="002F7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173" name="Freeform 35"/>
            <p:cNvSpPr>
              <a:spLocks/>
            </p:cNvSpPr>
            <p:nvPr/>
          </p:nvSpPr>
          <p:spPr bwMode="auto">
            <a:xfrm>
              <a:off x="4389" y="1775"/>
              <a:ext cx="303" cy="136"/>
            </a:xfrm>
            <a:custGeom>
              <a:avLst/>
              <a:gdLst>
                <a:gd name="T0" fmla="*/ 0 w 684"/>
                <a:gd name="T1" fmla="*/ 37 h 286"/>
                <a:gd name="T2" fmla="*/ 20 w 684"/>
                <a:gd name="T3" fmla="*/ 6 h 286"/>
                <a:gd name="T4" fmla="*/ 43 w 684"/>
                <a:gd name="T5" fmla="*/ 63 h 286"/>
                <a:gd name="T6" fmla="*/ 67 w 684"/>
                <a:gd name="T7" fmla="*/ 0 h 286"/>
                <a:gd name="T8" fmla="*/ 91 w 684"/>
                <a:gd name="T9" fmla="*/ 64 h 286"/>
                <a:gd name="T10" fmla="*/ 113 w 684"/>
                <a:gd name="T11" fmla="*/ 4 h 286"/>
                <a:gd name="T12" fmla="*/ 134 w 684"/>
                <a:gd name="T13" fmla="*/ 42 h 2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4" h="286">
                  <a:moveTo>
                    <a:pt x="0" y="163"/>
                  </a:moveTo>
                  <a:cubicBezTo>
                    <a:pt x="17" y="140"/>
                    <a:pt x="66" y="6"/>
                    <a:pt x="102" y="25"/>
                  </a:cubicBezTo>
                  <a:cubicBezTo>
                    <a:pt x="138" y="44"/>
                    <a:pt x="176" y="281"/>
                    <a:pt x="216" y="277"/>
                  </a:cubicBezTo>
                  <a:cubicBezTo>
                    <a:pt x="256" y="273"/>
                    <a:pt x="301" y="0"/>
                    <a:pt x="342" y="1"/>
                  </a:cubicBezTo>
                  <a:cubicBezTo>
                    <a:pt x="383" y="2"/>
                    <a:pt x="423" y="280"/>
                    <a:pt x="462" y="283"/>
                  </a:cubicBezTo>
                  <a:cubicBezTo>
                    <a:pt x="501" y="286"/>
                    <a:pt x="539" y="35"/>
                    <a:pt x="576" y="19"/>
                  </a:cubicBezTo>
                  <a:cubicBezTo>
                    <a:pt x="613" y="3"/>
                    <a:pt x="662" y="152"/>
                    <a:pt x="684" y="187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6174" name="Group 36"/>
            <p:cNvGrpSpPr>
              <a:grpSpLocks/>
            </p:cNvGrpSpPr>
            <p:nvPr/>
          </p:nvGrpSpPr>
          <p:grpSpPr bwMode="auto">
            <a:xfrm>
              <a:off x="4232" y="1782"/>
              <a:ext cx="121" cy="214"/>
              <a:chOff x="1785" y="3516"/>
              <a:chExt cx="240" cy="432"/>
            </a:xfrm>
          </p:grpSpPr>
          <p:sp>
            <p:nvSpPr>
              <p:cNvPr id="1652773" name="AutoShape 37"/>
              <p:cNvSpPr>
                <a:spLocks noChangeArrowheads="1"/>
              </p:cNvSpPr>
              <p:nvPr/>
            </p:nvSpPr>
            <p:spPr bwMode="auto">
              <a:xfrm flipV="1">
                <a:off x="1825" y="3516"/>
                <a:ext cx="143" cy="432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1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6176" name="Oval 38"/>
              <p:cNvSpPr>
                <a:spLocks noChangeArrowheads="1"/>
              </p:cNvSpPr>
              <p:nvPr/>
            </p:nvSpPr>
            <p:spPr bwMode="auto">
              <a:xfrm flipV="1">
                <a:off x="1785" y="3564"/>
                <a:ext cx="240" cy="240"/>
              </a:xfrm>
              <a:prstGeom prst="ellipse">
                <a:avLst/>
              </a:prstGeom>
              <a:gradFill rotWithShape="1">
                <a:gsLst>
                  <a:gs pos="0">
                    <a:srgbClr val="0066FF"/>
                  </a:gs>
                  <a:gs pos="100000">
                    <a:srgbClr val="002F7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46087" name="Picture 39" descr="dfg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1260475"/>
            <a:ext cx="108585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0" name="Text Box 46"/>
          <p:cNvSpPr txBox="1">
            <a:spLocks noChangeArrowheads="1"/>
          </p:cNvSpPr>
          <p:nvPr/>
        </p:nvSpPr>
        <p:spPr bwMode="auto">
          <a:xfrm>
            <a:off x="673100" y="4108177"/>
            <a:ext cx="10017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u="sng" dirty="0" err="1">
                <a:solidFill>
                  <a:srgbClr val="000000"/>
                </a:solidFill>
                <a:latin typeface="Arial" panose="020B0604020202020204" pitchFamily="34" charset="0"/>
              </a:rPr>
              <a:t>Kinks</a:t>
            </a:r>
            <a:endParaRPr lang="de-DE" altLang="de-DE" sz="2000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u="sng" dirty="0">
                <a:solidFill>
                  <a:srgbClr val="000000"/>
                </a:solidFill>
                <a:latin typeface="Arial" panose="020B0604020202020204" pitchFamily="34" charset="0"/>
              </a:rPr>
              <a:t>TIAMO</a:t>
            </a:r>
          </a:p>
        </p:txBody>
      </p:sp>
      <p:pic>
        <p:nvPicPr>
          <p:cNvPr id="46091" name="Picture 47" descr="TIaMoQSim plaka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5" y="5414963"/>
            <a:ext cx="4030663" cy="143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48" descr="picc logo ruby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035175"/>
            <a:ext cx="1028700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3" name="Text Box 50"/>
          <p:cNvSpPr txBox="1">
            <a:spLocks noChangeArrowheads="1"/>
          </p:cNvSpPr>
          <p:nvPr/>
        </p:nvSpPr>
        <p:spPr bwMode="auto">
          <a:xfrm>
            <a:off x="6407150" y="3038475"/>
            <a:ext cx="27368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u="sng" dirty="0" err="1">
                <a:solidFill>
                  <a:srgbClr val="000000"/>
                </a:solidFill>
                <a:latin typeface="Arial" panose="020B0604020202020204" pitchFamily="34" charset="0"/>
              </a:rPr>
              <a:t>QSim</a:t>
            </a:r>
            <a:endParaRPr lang="de-DE" altLang="de-DE" sz="2000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400" dirty="0">
                <a:solidFill>
                  <a:srgbClr val="000000"/>
                </a:solidFill>
                <a:latin typeface="Arial" panose="020B0604020202020204" pitchFamily="34" charset="0"/>
              </a:rPr>
              <a:t>Quantum </a:t>
            </a:r>
            <a:r>
              <a:rPr lang="de-DE" altLang="de-DE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Simulations</a:t>
            </a:r>
            <a:r>
              <a:rPr lang="de-DE" altLang="de-DE" sz="1400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de-DE" altLang="de-DE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with</a:t>
            </a:r>
            <a:r>
              <a:rPr lang="de-DE" altLang="de-DE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ions</a:t>
            </a:r>
            <a:r>
              <a:rPr lang="de-DE" altLang="de-DE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46094" name="Group 51"/>
          <p:cNvGrpSpPr>
            <a:grpSpLocks/>
          </p:cNvGrpSpPr>
          <p:nvPr/>
        </p:nvGrpSpPr>
        <p:grpSpPr bwMode="auto">
          <a:xfrm>
            <a:off x="6696075" y="6153150"/>
            <a:ext cx="1981200" cy="533400"/>
            <a:chOff x="1200" y="3120"/>
            <a:chExt cx="1872" cy="624"/>
          </a:xfrm>
        </p:grpSpPr>
        <p:grpSp>
          <p:nvGrpSpPr>
            <p:cNvPr id="46120" name="Group 52"/>
            <p:cNvGrpSpPr>
              <a:grpSpLocks/>
            </p:cNvGrpSpPr>
            <p:nvPr/>
          </p:nvGrpSpPr>
          <p:grpSpPr bwMode="auto">
            <a:xfrm>
              <a:off x="1200" y="3120"/>
              <a:ext cx="1872" cy="624"/>
              <a:chOff x="432" y="1056"/>
              <a:chExt cx="1488" cy="480"/>
            </a:xfrm>
          </p:grpSpPr>
          <p:sp>
            <p:nvSpPr>
              <p:cNvPr id="46151" name="Line 53"/>
              <p:cNvSpPr>
                <a:spLocks noChangeShapeType="1"/>
              </p:cNvSpPr>
              <p:nvPr/>
            </p:nvSpPr>
            <p:spPr bwMode="auto">
              <a:xfrm>
                <a:off x="864" y="1152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52" name="Line 54"/>
              <p:cNvSpPr>
                <a:spLocks noChangeShapeType="1"/>
              </p:cNvSpPr>
              <p:nvPr/>
            </p:nvSpPr>
            <p:spPr bwMode="auto">
              <a:xfrm>
                <a:off x="768" y="124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53" name="Line 55"/>
              <p:cNvSpPr>
                <a:spLocks noChangeShapeType="1"/>
              </p:cNvSpPr>
              <p:nvPr/>
            </p:nvSpPr>
            <p:spPr bwMode="auto">
              <a:xfrm>
                <a:off x="624" y="1344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54" name="Line 56"/>
              <p:cNvSpPr>
                <a:spLocks noChangeShapeType="1"/>
              </p:cNvSpPr>
              <p:nvPr/>
            </p:nvSpPr>
            <p:spPr bwMode="auto">
              <a:xfrm>
                <a:off x="480" y="1440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55" name="Line 57"/>
              <p:cNvSpPr>
                <a:spLocks noChangeShapeType="1"/>
              </p:cNvSpPr>
              <p:nvPr/>
            </p:nvSpPr>
            <p:spPr bwMode="auto">
              <a:xfrm flipV="1">
                <a:off x="624" y="1056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56" name="Line 58"/>
              <p:cNvSpPr>
                <a:spLocks noChangeShapeType="1"/>
              </p:cNvSpPr>
              <p:nvPr/>
            </p:nvSpPr>
            <p:spPr bwMode="auto">
              <a:xfrm flipV="1">
                <a:off x="816" y="1056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57" name="Line 59"/>
              <p:cNvSpPr>
                <a:spLocks noChangeShapeType="1"/>
              </p:cNvSpPr>
              <p:nvPr/>
            </p:nvSpPr>
            <p:spPr bwMode="auto">
              <a:xfrm flipV="1">
                <a:off x="1008" y="1056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58" name="Line 60"/>
              <p:cNvSpPr>
                <a:spLocks noChangeShapeType="1"/>
              </p:cNvSpPr>
              <p:nvPr/>
            </p:nvSpPr>
            <p:spPr bwMode="auto">
              <a:xfrm flipV="1">
                <a:off x="1200" y="1056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59" name="Line 61"/>
              <p:cNvSpPr>
                <a:spLocks noChangeShapeType="1"/>
              </p:cNvSpPr>
              <p:nvPr/>
            </p:nvSpPr>
            <p:spPr bwMode="auto">
              <a:xfrm flipV="1">
                <a:off x="432" y="1056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6121" name="Group 62"/>
            <p:cNvGrpSpPr>
              <a:grpSpLocks/>
            </p:cNvGrpSpPr>
            <p:nvPr/>
          </p:nvGrpSpPr>
          <p:grpSpPr bwMode="auto">
            <a:xfrm>
              <a:off x="1304" y="3521"/>
              <a:ext cx="106" cy="178"/>
              <a:chOff x="1304" y="3521"/>
              <a:chExt cx="106" cy="178"/>
            </a:xfrm>
          </p:grpSpPr>
          <p:sp>
            <p:nvSpPr>
              <p:cNvPr id="46149" name="Line 63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52800" name="Oval 64"/>
              <p:cNvSpPr>
                <a:spLocks noChangeArrowheads="1"/>
              </p:cNvSpPr>
              <p:nvPr/>
            </p:nvSpPr>
            <p:spPr bwMode="auto">
              <a:xfrm>
                <a:off x="1304" y="3577"/>
                <a:ext cx="106" cy="95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22" name="Group 65"/>
            <p:cNvGrpSpPr>
              <a:grpSpLocks/>
            </p:cNvGrpSpPr>
            <p:nvPr/>
          </p:nvGrpSpPr>
          <p:grpSpPr bwMode="auto">
            <a:xfrm>
              <a:off x="1814" y="3518"/>
              <a:ext cx="106" cy="178"/>
              <a:chOff x="1304" y="3521"/>
              <a:chExt cx="106" cy="178"/>
            </a:xfrm>
          </p:grpSpPr>
          <p:sp>
            <p:nvSpPr>
              <p:cNvPr id="46147" name="Line 66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52803" name="Oval 67"/>
              <p:cNvSpPr>
                <a:spLocks noChangeArrowheads="1"/>
              </p:cNvSpPr>
              <p:nvPr/>
            </p:nvSpPr>
            <p:spPr bwMode="auto">
              <a:xfrm>
                <a:off x="1304" y="3576"/>
                <a:ext cx="106" cy="95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23" name="Group 68"/>
            <p:cNvGrpSpPr>
              <a:grpSpLocks/>
            </p:cNvGrpSpPr>
            <p:nvPr/>
          </p:nvGrpSpPr>
          <p:grpSpPr bwMode="auto">
            <a:xfrm>
              <a:off x="2294" y="3518"/>
              <a:ext cx="106" cy="178"/>
              <a:chOff x="1304" y="3521"/>
              <a:chExt cx="106" cy="178"/>
            </a:xfrm>
          </p:grpSpPr>
          <p:sp>
            <p:nvSpPr>
              <p:cNvPr id="46145" name="Line 69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52806" name="Oval 70"/>
              <p:cNvSpPr>
                <a:spLocks noChangeArrowheads="1"/>
              </p:cNvSpPr>
              <p:nvPr/>
            </p:nvSpPr>
            <p:spPr bwMode="auto">
              <a:xfrm>
                <a:off x="1304" y="3576"/>
                <a:ext cx="106" cy="95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24" name="Group 71"/>
            <p:cNvGrpSpPr>
              <a:grpSpLocks/>
            </p:cNvGrpSpPr>
            <p:nvPr/>
          </p:nvGrpSpPr>
          <p:grpSpPr bwMode="auto">
            <a:xfrm>
              <a:off x="1650" y="3267"/>
              <a:ext cx="106" cy="178"/>
              <a:chOff x="1304" y="3521"/>
              <a:chExt cx="106" cy="178"/>
            </a:xfrm>
          </p:grpSpPr>
          <p:sp>
            <p:nvSpPr>
              <p:cNvPr id="46143" name="Line 72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52809" name="Oval 73"/>
              <p:cNvSpPr>
                <a:spLocks noChangeArrowheads="1"/>
              </p:cNvSpPr>
              <p:nvPr/>
            </p:nvSpPr>
            <p:spPr bwMode="auto">
              <a:xfrm>
                <a:off x="1304" y="3576"/>
                <a:ext cx="108" cy="95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25" name="Group 74"/>
            <p:cNvGrpSpPr>
              <a:grpSpLocks/>
            </p:cNvGrpSpPr>
            <p:nvPr/>
          </p:nvGrpSpPr>
          <p:grpSpPr bwMode="auto">
            <a:xfrm>
              <a:off x="2160" y="3264"/>
              <a:ext cx="106" cy="178"/>
              <a:chOff x="1304" y="3521"/>
              <a:chExt cx="106" cy="178"/>
            </a:xfrm>
          </p:grpSpPr>
          <p:sp>
            <p:nvSpPr>
              <p:cNvPr id="46141" name="Line 75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52812" name="Oval 76"/>
              <p:cNvSpPr>
                <a:spLocks noChangeArrowheads="1"/>
              </p:cNvSpPr>
              <p:nvPr/>
            </p:nvSpPr>
            <p:spPr bwMode="auto">
              <a:xfrm>
                <a:off x="1304" y="3578"/>
                <a:ext cx="108" cy="93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26" name="Group 77"/>
            <p:cNvGrpSpPr>
              <a:grpSpLocks/>
            </p:cNvGrpSpPr>
            <p:nvPr/>
          </p:nvGrpSpPr>
          <p:grpSpPr bwMode="auto">
            <a:xfrm>
              <a:off x="2640" y="3264"/>
              <a:ext cx="106" cy="178"/>
              <a:chOff x="1304" y="3521"/>
              <a:chExt cx="106" cy="178"/>
            </a:xfrm>
          </p:grpSpPr>
          <p:sp>
            <p:nvSpPr>
              <p:cNvPr id="46139" name="Line 78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52815" name="Oval 79"/>
              <p:cNvSpPr>
                <a:spLocks noChangeArrowheads="1"/>
              </p:cNvSpPr>
              <p:nvPr/>
            </p:nvSpPr>
            <p:spPr bwMode="auto">
              <a:xfrm>
                <a:off x="1304" y="3578"/>
                <a:ext cx="108" cy="93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de-DE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27" name="Group 80"/>
            <p:cNvGrpSpPr>
              <a:grpSpLocks/>
            </p:cNvGrpSpPr>
            <p:nvPr/>
          </p:nvGrpSpPr>
          <p:grpSpPr bwMode="auto">
            <a:xfrm flipV="1">
              <a:off x="1728" y="3408"/>
              <a:ext cx="106" cy="178"/>
              <a:chOff x="1304" y="3521"/>
              <a:chExt cx="106" cy="178"/>
            </a:xfrm>
          </p:grpSpPr>
          <p:sp>
            <p:nvSpPr>
              <p:cNvPr id="46137" name="Line 81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38" name="Oval 82"/>
              <p:cNvSpPr>
                <a:spLocks noChangeArrowheads="1"/>
              </p:cNvSpPr>
              <p:nvPr/>
            </p:nvSpPr>
            <p:spPr bwMode="auto">
              <a:xfrm flipH="1" flipV="1">
                <a:off x="1304" y="3577"/>
                <a:ext cx="106" cy="9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128" name="Group 83"/>
            <p:cNvGrpSpPr>
              <a:grpSpLocks/>
            </p:cNvGrpSpPr>
            <p:nvPr/>
          </p:nvGrpSpPr>
          <p:grpSpPr bwMode="auto">
            <a:xfrm flipV="1">
              <a:off x="2208" y="3408"/>
              <a:ext cx="106" cy="178"/>
              <a:chOff x="1304" y="3521"/>
              <a:chExt cx="106" cy="178"/>
            </a:xfrm>
          </p:grpSpPr>
          <p:sp>
            <p:nvSpPr>
              <p:cNvPr id="46135" name="Line 84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36" name="Oval 85"/>
              <p:cNvSpPr>
                <a:spLocks noChangeArrowheads="1"/>
              </p:cNvSpPr>
              <p:nvPr/>
            </p:nvSpPr>
            <p:spPr bwMode="auto">
              <a:xfrm flipH="1" flipV="1">
                <a:off x="1304" y="3577"/>
                <a:ext cx="106" cy="9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129" name="Group 86"/>
            <p:cNvGrpSpPr>
              <a:grpSpLocks/>
            </p:cNvGrpSpPr>
            <p:nvPr/>
          </p:nvGrpSpPr>
          <p:grpSpPr bwMode="auto">
            <a:xfrm flipV="1">
              <a:off x="2064" y="3168"/>
              <a:ext cx="106" cy="178"/>
              <a:chOff x="1304" y="3521"/>
              <a:chExt cx="106" cy="178"/>
            </a:xfrm>
          </p:grpSpPr>
          <p:sp>
            <p:nvSpPr>
              <p:cNvPr id="46133" name="Line 87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34" name="Oval 88"/>
              <p:cNvSpPr>
                <a:spLocks noChangeArrowheads="1"/>
              </p:cNvSpPr>
              <p:nvPr/>
            </p:nvSpPr>
            <p:spPr bwMode="auto">
              <a:xfrm flipH="1" flipV="1">
                <a:off x="1304" y="3577"/>
                <a:ext cx="106" cy="9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130" name="Group 89"/>
            <p:cNvGrpSpPr>
              <a:grpSpLocks/>
            </p:cNvGrpSpPr>
            <p:nvPr/>
          </p:nvGrpSpPr>
          <p:grpSpPr bwMode="auto">
            <a:xfrm flipV="1">
              <a:off x="2544" y="3168"/>
              <a:ext cx="106" cy="178"/>
              <a:chOff x="1304" y="3521"/>
              <a:chExt cx="106" cy="178"/>
            </a:xfrm>
          </p:grpSpPr>
          <p:sp>
            <p:nvSpPr>
              <p:cNvPr id="46131" name="Line 90"/>
              <p:cNvSpPr>
                <a:spLocks noChangeShapeType="1"/>
              </p:cNvSpPr>
              <p:nvPr/>
            </p:nvSpPr>
            <p:spPr bwMode="auto">
              <a:xfrm flipV="1">
                <a:off x="1356" y="3521"/>
                <a:ext cx="0" cy="1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32" name="Oval 91"/>
              <p:cNvSpPr>
                <a:spLocks noChangeArrowheads="1"/>
              </p:cNvSpPr>
              <p:nvPr/>
            </p:nvSpPr>
            <p:spPr bwMode="auto">
              <a:xfrm flipH="1" flipV="1">
                <a:off x="1304" y="3577"/>
                <a:ext cx="106" cy="9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6095" name="Text Box 92"/>
          <p:cNvSpPr txBox="1">
            <a:spLocks noChangeArrowheads="1"/>
          </p:cNvSpPr>
          <p:nvPr/>
        </p:nvSpPr>
        <p:spPr bwMode="auto">
          <a:xfrm>
            <a:off x="6415088" y="3886200"/>
            <a:ext cx="2657475" cy="26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400" u="sng">
                <a:solidFill>
                  <a:srgbClr val="000000"/>
                </a:solidFill>
                <a:latin typeface="Arial" panose="020B0604020202020204" pitchFamily="34" charset="0"/>
              </a:rPr>
              <a:t>scaling QSim in rf-surface traps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400" u="sng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6096" name="Group 93"/>
          <p:cNvGrpSpPr>
            <a:grpSpLocks/>
          </p:cNvGrpSpPr>
          <p:nvPr/>
        </p:nvGrpSpPr>
        <p:grpSpPr bwMode="auto">
          <a:xfrm>
            <a:off x="7117095" y="4200525"/>
            <a:ext cx="1123950" cy="1106488"/>
            <a:chOff x="2200" y="391"/>
            <a:chExt cx="1920" cy="1927"/>
          </a:xfrm>
        </p:grpSpPr>
        <p:pic>
          <p:nvPicPr>
            <p:cNvPr id="46107" name="Picture 94" descr="example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391"/>
              <a:ext cx="1920" cy="1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6108" name="Group 95"/>
            <p:cNvGrpSpPr>
              <a:grpSpLocks/>
            </p:cNvGrpSpPr>
            <p:nvPr/>
          </p:nvGrpSpPr>
          <p:grpSpPr bwMode="auto">
            <a:xfrm>
              <a:off x="3016" y="981"/>
              <a:ext cx="272" cy="272"/>
              <a:chOff x="748" y="1661"/>
              <a:chExt cx="1406" cy="1361"/>
            </a:xfrm>
          </p:grpSpPr>
          <p:sp>
            <p:nvSpPr>
              <p:cNvPr id="46117" name="Oval 96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118" name="Oval 97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119" name="Oval 98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109" name="Group 99"/>
            <p:cNvGrpSpPr>
              <a:grpSpLocks/>
            </p:cNvGrpSpPr>
            <p:nvPr/>
          </p:nvGrpSpPr>
          <p:grpSpPr bwMode="auto">
            <a:xfrm>
              <a:off x="3198" y="1278"/>
              <a:ext cx="272" cy="272"/>
              <a:chOff x="748" y="1661"/>
              <a:chExt cx="1406" cy="1361"/>
            </a:xfrm>
          </p:grpSpPr>
          <p:sp>
            <p:nvSpPr>
              <p:cNvPr id="46114" name="Oval 100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115" name="Oval 101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116" name="Oval 102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110" name="Group 103"/>
            <p:cNvGrpSpPr>
              <a:grpSpLocks/>
            </p:cNvGrpSpPr>
            <p:nvPr/>
          </p:nvGrpSpPr>
          <p:grpSpPr bwMode="auto">
            <a:xfrm>
              <a:off x="2835" y="1263"/>
              <a:ext cx="272" cy="272"/>
              <a:chOff x="748" y="1661"/>
              <a:chExt cx="1406" cy="1361"/>
            </a:xfrm>
          </p:grpSpPr>
          <p:sp>
            <p:nvSpPr>
              <p:cNvPr id="46111" name="Oval 104"/>
              <p:cNvSpPr>
                <a:spLocks noChangeArrowheads="1"/>
              </p:cNvSpPr>
              <p:nvPr/>
            </p:nvSpPr>
            <p:spPr bwMode="auto">
              <a:xfrm>
                <a:off x="748" y="1661"/>
                <a:ext cx="1406" cy="1361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112" name="Oval 105"/>
              <p:cNvSpPr>
                <a:spLocks noChangeArrowheads="1"/>
              </p:cNvSpPr>
              <p:nvPr/>
            </p:nvSpPr>
            <p:spPr bwMode="auto">
              <a:xfrm>
                <a:off x="1054" y="1978"/>
                <a:ext cx="787" cy="75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113" name="Oval 106"/>
              <p:cNvSpPr>
                <a:spLocks noChangeArrowheads="1"/>
              </p:cNvSpPr>
              <p:nvPr/>
            </p:nvSpPr>
            <p:spPr bwMode="auto">
              <a:xfrm>
                <a:off x="1220" y="2132"/>
                <a:ext cx="450" cy="43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6098" name="Rectangle 108"/>
          <p:cNvSpPr>
            <a:spLocks noChangeArrowheads="1"/>
          </p:cNvSpPr>
          <p:nvPr/>
        </p:nvSpPr>
        <p:spPr bwMode="auto">
          <a:xfrm>
            <a:off x="2411413" y="808038"/>
            <a:ext cx="3889375" cy="2160587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099" name="Text Box 109"/>
          <p:cNvSpPr txBox="1">
            <a:spLocks noChangeArrowheads="1"/>
          </p:cNvSpPr>
          <p:nvPr/>
        </p:nvSpPr>
        <p:spPr bwMode="auto">
          <a:xfrm>
            <a:off x="2265363" y="787400"/>
            <a:ext cx="41783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200" b="1" u="sng" dirty="0" smtClean="0">
                <a:solidFill>
                  <a:srgbClr val="FFFFFF"/>
                </a:solidFill>
                <a:latin typeface="Arial" panose="020B0604020202020204" pitchFamily="34" charset="0"/>
              </a:rPr>
              <a:t>QSIM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2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L.Guth</a:t>
            </a:r>
            <a:r>
              <a:rPr lang="en-US" altLang="de-DE" sz="1200" dirty="0" smtClean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de-DE" sz="12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F.Hasse</a:t>
            </a:r>
            <a:r>
              <a:rPr lang="en-US" altLang="de-DE" sz="1200" dirty="0" smtClean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de-DE" sz="12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D.Palani</a:t>
            </a:r>
            <a:r>
              <a:rPr lang="en-US" altLang="de-DE" sz="1200" dirty="0" smtClean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de-DE" sz="12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A.Das</a:t>
            </a:r>
            <a:endParaRPr lang="en-US" altLang="de-DE" sz="1200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200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U.Warring</a:t>
            </a:r>
            <a:r>
              <a:rPr lang="en-US" altLang="de-DE" sz="1200" dirty="0" smtClean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endParaRPr lang="en-US" altLang="de-DE" sz="1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200" b="1" u="sng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200" b="1" u="sng" dirty="0" smtClean="0">
                <a:solidFill>
                  <a:srgbClr val="FFFFFF"/>
                </a:solidFill>
                <a:latin typeface="Arial" panose="020B0604020202020204" pitchFamily="34" charset="0"/>
              </a:rPr>
              <a:t>TIAMO</a:t>
            </a:r>
            <a:endParaRPr lang="en-US" altLang="de-DE" sz="1200" b="1" u="sng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[J</a:t>
            </a:r>
            <a:r>
              <a:rPr lang="en-US" altLang="de-DE" sz="1200" b="1" dirty="0">
                <a:solidFill>
                  <a:srgbClr val="FFFFFF"/>
                </a:solidFill>
                <a:latin typeface="Arial" panose="020B0604020202020204" pitchFamily="34" charset="0"/>
              </a:rPr>
              <a:t>. Schmidt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,] </a:t>
            </a: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D.Hönig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, </a:t>
            </a:r>
            <a:b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A.Mohammadi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[</a:t>
            </a: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L.Karpa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]</a:t>
            </a:r>
            <a:endParaRPr lang="en-US" altLang="de-DE" sz="12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200" b="1" u="sng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200" b="1" u="sng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BaLi</a:t>
            </a:r>
            <a:endParaRPr lang="en-US" altLang="de-DE" sz="1200" b="1" u="sng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[</a:t>
            </a: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P.Weckesser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,] </a:t>
            </a: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F.Thielemann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, </a:t>
            </a: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J.Welz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, </a:t>
            </a: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W.Wu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[</a:t>
            </a: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M.Debatin</a:t>
            </a:r>
            <a:r>
              <a:rPr lang="en-US" altLang="de-DE" sz="12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,] </a:t>
            </a:r>
            <a:r>
              <a:rPr lang="en-US" altLang="de-DE" sz="1200" b="1" dirty="0" err="1" smtClean="0">
                <a:solidFill>
                  <a:srgbClr val="FFFFFF"/>
                </a:solidFill>
                <a:latin typeface="Arial" panose="020B0604020202020204" pitchFamily="34" charset="0"/>
              </a:rPr>
              <a:t>T.Walker</a:t>
            </a:r>
            <a:endParaRPr lang="en-US" altLang="de-DE" sz="1200" b="1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de-DE" sz="1200" b="1" u="sng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6100" name="Picture 110" descr="gipfelstuermerb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983" y="2860675"/>
            <a:ext cx="3914775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1" name="Picture 111" descr="IRTG Log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413" y="2138363"/>
            <a:ext cx="1141412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02" name="Text Box 112"/>
          <p:cNvSpPr txBox="1">
            <a:spLocks noChangeArrowheads="1"/>
          </p:cNvSpPr>
          <p:nvPr/>
        </p:nvSpPr>
        <p:spPr bwMode="auto">
          <a:xfrm>
            <a:off x="6408738" y="5408613"/>
            <a:ext cx="24796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u="sng">
                <a:solidFill>
                  <a:srgbClr val="000000"/>
                </a:solidFill>
                <a:latin typeface="Arial" panose="020B0604020202020204" pitchFamily="34" charset="0"/>
              </a:rPr>
              <a:t>TIAMO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400">
                <a:solidFill>
                  <a:srgbClr val="000000"/>
                </a:solidFill>
                <a:latin typeface="Arial" panose="020B0604020202020204" pitchFamily="34" charset="0"/>
              </a:rPr>
              <a:t>Trapped Ions And MOlecules</a:t>
            </a:r>
          </a:p>
        </p:txBody>
      </p:sp>
      <p:pic>
        <p:nvPicPr>
          <p:cNvPr id="46103" name="Picture 11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5299075"/>
            <a:ext cx="2201863" cy="143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6752" y="2850938"/>
            <a:ext cx="3914106" cy="260212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1193" y="1152800"/>
            <a:ext cx="1882119" cy="82969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19" y="2074493"/>
            <a:ext cx="2222539" cy="92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100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Schätz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100"/>
            <a:ext cx="9144000" cy="540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0" y="5229225"/>
            <a:ext cx="9144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18039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4762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0" y="-9525"/>
            <a:ext cx="91440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8038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5800725"/>
            <a:ext cx="9144000" cy="1057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953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0000"/>
            </a:gs>
            <a:gs pos="100000">
              <a:srgbClr val="FF0000">
                <a:gamma/>
                <a:shade val="46275"/>
                <a:invGamma/>
              </a:srgbClr>
            </a:gs>
          </a:gsLst>
          <a:path path="rect">
            <a:fillToRect r="100000" b="100000"/>
          </a:path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0000"/>
            </a:gs>
            <a:gs pos="100000">
              <a:srgbClr val="FF0000">
                <a:gamma/>
                <a:shade val="46275"/>
                <a:invGamma/>
              </a:srgbClr>
            </a:gs>
          </a:gsLst>
          <a:path path="rect">
            <a:fillToRect r="100000" b="100000"/>
          </a:path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Microsoft Office PowerPoint</Application>
  <PresentationFormat>Bildschirmpräsentation (4:3)</PresentationFormat>
  <Paragraphs>491</Paragraphs>
  <Slides>38</Slides>
  <Notes>8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38</vt:i4>
      </vt:variant>
    </vt:vector>
  </HeadingPairs>
  <TitlesOfParts>
    <vt:vector size="46" baseType="lpstr">
      <vt:lpstr>Arial</vt:lpstr>
      <vt:lpstr>Calibri</vt:lpstr>
      <vt:lpstr>Noto Sans CJK SC</vt:lpstr>
      <vt:lpstr>Symbol</vt:lpstr>
      <vt:lpstr>Times New Roman</vt:lpstr>
      <vt:lpstr>Wingdings</vt:lpstr>
      <vt:lpstr>Default Design</vt:lpstr>
      <vt:lpstr>Acrobat Document</vt:lpstr>
      <vt:lpstr>PowerPoint-Präsentation</vt:lpstr>
      <vt:lpstr>PowerPoint-Präsentation</vt:lpstr>
      <vt:lpstr>PowerPoint-Präsentation</vt:lpstr>
      <vt:lpstr>PowerPoint-Präsentation</vt:lpstr>
      <vt:lpstr>Werkzeug: die lineare Paul Falle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NIST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Wayne Itano</dc:creator>
  <cp:lastModifiedBy>tobias.schaetz@physik.uni-freiburg.de</cp:lastModifiedBy>
  <cp:revision>1120</cp:revision>
  <dcterms:created xsi:type="dcterms:W3CDTF">2001-09-08T19:57:47Z</dcterms:created>
  <dcterms:modified xsi:type="dcterms:W3CDTF">2022-05-24T07:23:41Z</dcterms:modified>
</cp:coreProperties>
</file>